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3"/>
    <p:sldId id="257" r:id="rId4"/>
    <p:sldId id="272" r:id="rId5"/>
    <p:sldId id="261" r:id="rId6"/>
    <p:sldId id="258" r:id="rId7"/>
    <p:sldId id="259" r:id="rId8"/>
    <p:sldId id="260" r:id="rId9"/>
    <p:sldId id="268" r:id="rId10"/>
    <p:sldId id="262" r:id="rId11"/>
    <p:sldId id="263" r:id="rId12"/>
    <p:sldId id="264" r:id="rId13"/>
    <p:sldId id="265" r:id="rId14"/>
    <p:sldId id="266" r:id="rId15"/>
    <p:sldId id="267" r:id="rId16"/>
    <p:sldId id="270" r:id="rId17"/>
    <p:sldId id="271"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01" autoAdjust="0"/>
    <p:restoredTop sz="82203" autoAdjust="0"/>
  </p:normalViewPr>
  <p:slideViewPr>
    <p:cSldViewPr snapToGrid="0" snapToObjects="1">
      <p:cViewPr varScale="1">
        <p:scale>
          <a:sx n="91" d="100"/>
          <a:sy n="91" d="100"/>
        </p:scale>
        <p:origin x="19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orms, James [DPYUS]" userId="d5b6a6e2-445f-4369-ba10-0344c9f86be3" providerId="ADAL" clId="{5123F6C6-C5B5-493E-9778-14F532A5889F}"/>
    <pc:docChg chg="custSel modSld">
      <pc:chgData name="Storms, James [DPYUS]" userId="d5b6a6e2-445f-4369-ba10-0344c9f86be3" providerId="ADAL" clId="{5123F6C6-C5B5-493E-9778-14F532A5889F}" dt="2025-07-23T17:24:01.292" v="51" actId="478"/>
      <pc:docMkLst>
        <pc:docMk/>
      </pc:docMkLst>
      <pc:sldChg chg="mod modShow">
        <pc:chgData name="Storms, James [DPYUS]" userId="d5b6a6e2-445f-4369-ba10-0344c9f86be3" providerId="ADAL" clId="{5123F6C6-C5B5-493E-9778-14F532A5889F}" dt="2025-07-11T19:40:12.480" v="0" actId="729"/>
        <pc:sldMkLst>
          <pc:docMk/>
          <pc:sldMk cId="0" sldId="261"/>
        </pc:sldMkLst>
      </pc:sldChg>
      <pc:sldChg chg="delSp mod">
        <pc:chgData name="Storms, James [DPYUS]" userId="d5b6a6e2-445f-4369-ba10-0344c9f86be3" providerId="ADAL" clId="{5123F6C6-C5B5-493E-9778-14F532A5889F}" dt="2025-07-23T17:24:01.292" v="51" actId="478"/>
        <pc:sldMkLst>
          <pc:docMk/>
          <pc:sldMk cId="0" sldId="266"/>
        </pc:sldMkLst>
        <pc:picChg chg="del">
          <ac:chgData name="Storms, James [DPYUS]" userId="d5b6a6e2-445f-4369-ba10-0344c9f86be3" providerId="ADAL" clId="{5123F6C6-C5B5-493E-9778-14F532A5889F}" dt="2025-07-23T17:24:01.292" v="51" actId="478"/>
          <ac:picMkLst>
            <pc:docMk/>
            <pc:sldMk cId="0" sldId="266"/>
            <ac:picMk id="8" creationId="{BD275B9C-53CA-3CA8-FB69-777B23E1DE9F}"/>
          </ac:picMkLst>
        </pc:picChg>
      </pc:sldChg>
      <pc:sldChg chg="modNotesTx">
        <pc:chgData name="Storms, James [DPYUS]" userId="d5b6a6e2-445f-4369-ba10-0344c9f86be3" providerId="ADAL" clId="{5123F6C6-C5B5-493E-9778-14F532A5889F}" dt="2025-07-23T17:23:35.227" v="50" actId="20577"/>
        <pc:sldMkLst>
          <pc:docMk/>
          <pc:sldMk cId="951609604" sldId="273"/>
        </pc:sldMkLst>
      </pc:sldChg>
    </pc:docChg>
  </pc:docChgLst>
  <pc:docChgLst>
    <pc:chgData name="Storms, James [DPYUS]" userId="d5b6a6e2-445f-4369-ba10-0344c9f86be3" providerId="ADAL" clId="{C1E2E8CC-A815-4928-8A0E-867E719DA043}"/>
    <pc:docChg chg="undo custSel modSld">
      <pc:chgData name="Storms, James [DPYUS]" userId="d5b6a6e2-445f-4369-ba10-0344c9f86be3" providerId="ADAL" clId="{C1E2E8CC-A815-4928-8A0E-867E719DA043}" dt="2025-05-19T14:56:02.297" v="192" actId="20577"/>
      <pc:docMkLst>
        <pc:docMk/>
      </pc:docMkLst>
      <pc:sldChg chg="addSp delSp modSp mod modNotesTx">
        <pc:chgData name="Storms, James [DPYUS]" userId="d5b6a6e2-445f-4369-ba10-0344c9f86be3" providerId="ADAL" clId="{C1E2E8CC-A815-4928-8A0E-867E719DA043}" dt="2025-05-19T14:56:02.297" v="192" actId="20577"/>
        <pc:sldMkLst>
          <pc:docMk/>
          <pc:sldMk cId="951609604" sldId="273"/>
        </pc:sldMkLst>
        <pc:spChg chg="add del mod">
          <ac:chgData name="Storms, James [DPYUS]" userId="d5b6a6e2-445f-4369-ba10-0344c9f86be3" providerId="ADAL" clId="{C1E2E8CC-A815-4928-8A0E-867E719DA043}" dt="2025-05-19T14:55:39.207" v="149" actId="5793"/>
          <ac:spMkLst>
            <pc:docMk/>
            <pc:sldMk cId="951609604" sldId="273"/>
            <ac:spMk id="2" creationId="{69A511E1-25B8-1C41-C2A4-25D4AA287F54}"/>
          </ac:spMkLst>
        </pc:spChg>
        <pc:spChg chg="mod">
          <ac:chgData name="Storms, James [DPYUS]" userId="d5b6a6e2-445f-4369-ba10-0344c9f86be3" providerId="ADAL" clId="{C1E2E8CC-A815-4928-8A0E-867E719DA043}" dt="2025-05-19T14:55:04.283" v="128" actId="20577"/>
          <ac:spMkLst>
            <pc:docMk/>
            <pc:sldMk cId="951609604" sldId="273"/>
            <ac:spMk id="3" creationId="{625962A4-3300-7A08-F7E8-992ACD0E771F}"/>
          </ac:spMkLst>
        </pc:spChg>
        <pc:spChg chg="mod">
          <ac:chgData name="Storms, James [DPYUS]" userId="d5b6a6e2-445f-4369-ba10-0344c9f86be3" providerId="ADAL" clId="{C1E2E8CC-A815-4928-8A0E-867E719DA043}" dt="2025-05-19T14:55:09.919" v="141" actId="20577"/>
          <ac:spMkLst>
            <pc:docMk/>
            <pc:sldMk cId="951609604" sldId="273"/>
            <ac:spMk id="4" creationId="{49D27CF6-1FBE-09AB-3B23-5307A0D5BE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54BEF9-611C-43A1-8E87-015EF12E0601}" type="datetimeFigureOut">
              <a:rPr lang="en-US" smtClean="0"/>
              <a:t>7/23/2025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5000F-FC2F-4DC5-BEC9-060FAC7234C2}" type="slidenum">
              <a:rPr lang="en-US" smtClean="0"/>
              <a:t>‹#›</a:t>
            </a:fld>
            <a:endParaRPr lang="en-US"/>
          </a:p>
        </p:txBody>
      </p:sp>
    </p:spTree>
    <p:extLst>
      <p:ext uri="{BB962C8B-B14F-4D97-AF65-F5344CB8AC3E}">
        <p14:creationId xmlns:p14="http://schemas.microsoft.com/office/powerpoint/2010/main" val="1027831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adjacent philosophies, to encourage thought on new philosophies</a:t>
            </a:r>
          </a:p>
        </p:txBody>
      </p:sp>
      <p:sp>
        <p:nvSpPr>
          <p:cNvPr id="4" name="Slide Number Placeholder 3"/>
          <p:cNvSpPr>
            <a:spLocks noGrp="1"/>
          </p:cNvSpPr>
          <p:nvPr>
            <p:ph type="sldNum" sz="quarter" idx="5"/>
          </p:nvPr>
        </p:nvSpPr>
        <p:spPr/>
        <p:txBody>
          <a:bodyPr/>
          <a:lstStyle/>
          <a:p>
            <a:fld id="{9085000F-FC2F-4DC5-BEC9-060FAC7234C2}" type="slidenum">
              <a:rPr lang="en-US" smtClean="0"/>
              <a:t>1</a:t>
            </a:fld>
            <a:endParaRPr lang="en-US"/>
          </a:p>
        </p:txBody>
      </p:sp>
    </p:spTree>
    <p:extLst>
      <p:ext uri="{BB962C8B-B14F-4D97-AF65-F5344CB8AC3E}">
        <p14:creationId xmlns:p14="http://schemas.microsoft.com/office/powerpoint/2010/main" val="296432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 points awarded, follow decision tree.</a:t>
            </a:r>
          </a:p>
          <a:p>
            <a:pPr marL="171450" indent="-171450">
              <a:buFont typeface="Arial" panose="020B0604020202020204" pitchFamily="34" charset="0"/>
              <a:buChar char="•"/>
            </a:pPr>
            <a:r>
              <a:rPr lang="en-US" dirty="0"/>
              <a:t>Choice should be documented on profile screen</a:t>
            </a:r>
          </a:p>
        </p:txBody>
      </p:sp>
      <p:sp>
        <p:nvSpPr>
          <p:cNvPr id="4" name="Slide Number Placeholder 3"/>
          <p:cNvSpPr>
            <a:spLocks noGrp="1"/>
          </p:cNvSpPr>
          <p:nvPr>
            <p:ph type="sldNum" sz="quarter" idx="5"/>
          </p:nvPr>
        </p:nvSpPr>
        <p:spPr/>
        <p:txBody>
          <a:bodyPr/>
          <a:lstStyle/>
          <a:p>
            <a:fld id="{9085000F-FC2F-4DC5-BEC9-060FAC7234C2}" type="slidenum">
              <a:rPr lang="en-US" smtClean="0"/>
              <a:t>2</a:t>
            </a:fld>
            <a:endParaRPr lang="en-US"/>
          </a:p>
        </p:txBody>
      </p:sp>
    </p:spTree>
    <p:extLst>
      <p:ext uri="{BB962C8B-B14F-4D97-AF65-F5344CB8AC3E}">
        <p14:creationId xmlns:p14="http://schemas.microsoft.com/office/powerpoint/2010/main" val="1115947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Neutral mechanical alignment (0° HKA) = +2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alignment = +2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Prioritize balanced flexion/extension gaps = +2 FA </a:t>
            </a:r>
            <a:endParaRPr lang="en-US" b="0" i="0" dirty="0">
              <a:effectLst/>
            </a:endParaRPr>
          </a:p>
          <a:p>
            <a:endParaRPr lang="en-US" dirty="0"/>
          </a:p>
          <a:p>
            <a:r>
              <a:rPr lang="en-US" dirty="0"/>
              <a:t>Might not be primary goal, “which of these resonates with you?”</a:t>
            </a:r>
          </a:p>
        </p:txBody>
      </p:sp>
      <p:sp>
        <p:nvSpPr>
          <p:cNvPr id="4" name="Slide Number Placeholder 3"/>
          <p:cNvSpPr>
            <a:spLocks noGrp="1"/>
          </p:cNvSpPr>
          <p:nvPr>
            <p:ph type="sldNum" sz="quarter" idx="5"/>
          </p:nvPr>
        </p:nvSpPr>
        <p:spPr/>
        <p:txBody>
          <a:bodyPr/>
          <a:lstStyle/>
          <a:p>
            <a:fld id="{9085000F-FC2F-4DC5-BEC9-060FAC7234C2}" type="slidenum">
              <a:rPr lang="en-US" smtClean="0"/>
              <a:t>3</a:t>
            </a:fld>
            <a:endParaRPr lang="en-US"/>
          </a:p>
        </p:txBody>
      </p:sp>
    </p:spTree>
    <p:extLst>
      <p:ext uri="{BB962C8B-B14F-4D97-AF65-F5344CB8AC3E}">
        <p14:creationId xmlns:p14="http://schemas.microsoft.com/office/powerpoint/2010/main" val="3799836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+1 KA / +1 </a:t>
            </a:r>
            <a:r>
              <a:rPr lang="en-US" sz="1800" b="0" i="0" dirty="0" err="1">
                <a:effectLst/>
                <a:latin typeface="Aptos" panose="020B0004020202020204" pitchFamily="34" charset="0"/>
              </a:rPr>
              <a:t>iKA</a:t>
            </a:r>
            <a:r>
              <a:rPr lang="en-US" sz="1800" b="0" i="0" dirty="0">
                <a:effectLst/>
                <a:latin typeface="Aptos" panose="020B0004020202020204" pitchFamily="34" charset="0"/>
              </a:rPr>
              <a:t> / +1 FA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+2 MA </a:t>
            </a:r>
            <a:endParaRPr lang="en-US" b="0" i="0" dirty="0">
              <a:effectLst/>
            </a:endParaRPr>
          </a:p>
          <a:p>
            <a:endParaRPr lang="en-US" dirty="0"/>
          </a:p>
          <a:p>
            <a:r>
              <a:rPr lang="en-US" dirty="0"/>
              <a:t>Can we shorten question</a:t>
            </a:r>
          </a:p>
          <a:p>
            <a:r>
              <a:rPr lang="en-US" dirty="0"/>
              <a:t>This question should be, “Do you adjust soft tissues”</a:t>
            </a:r>
          </a:p>
          <a:p>
            <a:endParaRPr lang="en-US" dirty="0"/>
          </a:p>
          <a:p>
            <a:r>
              <a:rPr lang="en-US" dirty="0"/>
              <a:t>If they answer yes, go to slide 6 &amp; 7</a:t>
            </a:r>
          </a:p>
        </p:txBody>
      </p:sp>
      <p:sp>
        <p:nvSpPr>
          <p:cNvPr id="4" name="Slide Number Placeholder 3"/>
          <p:cNvSpPr>
            <a:spLocks noGrp="1"/>
          </p:cNvSpPr>
          <p:nvPr>
            <p:ph type="sldNum" sz="quarter" idx="5"/>
          </p:nvPr>
        </p:nvSpPr>
        <p:spPr/>
        <p:txBody>
          <a:bodyPr/>
          <a:lstStyle/>
          <a:p>
            <a:fld id="{9085000F-FC2F-4DC5-BEC9-060FAC7234C2}" type="slidenum">
              <a:rPr lang="en-US" smtClean="0"/>
              <a:t>5</a:t>
            </a:fld>
            <a:endParaRPr lang="en-US"/>
          </a:p>
        </p:txBody>
      </p:sp>
    </p:spTree>
    <p:extLst>
      <p:ext uri="{BB962C8B-B14F-4D97-AF65-F5344CB8AC3E}">
        <p14:creationId xmlns:p14="http://schemas.microsoft.com/office/powerpoint/2010/main" val="3817422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Balance gaps (adjust within boundaries) </a:t>
            </a:r>
            <a:r>
              <a:rPr lang="en-US" sz="1200" b="0" i="0" dirty="0">
                <a:effectLst/>
                <a:latin typeface="+mn-lt"/>
              </a:rPr>
              <a:t>= </a:t>
            </a:r>
            <a:r>
              <a:rPr lang="en-US" sz="1800" b="0" i="0" dirty="0">
                <a:effectLst/>
                <a:latin typeface="Aptos" panose="020B0004020202020204" pitchFamily="34" charset="0"/>
              </a:rPr>
              <a:t>+1 FA / +1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Perpendicular to mechanical axis </a:t>
            </a:r>
            <a:r>
              <a:rPr lang="en-US" sz="1200" b="0" i="0" dirty="0">
                <a:effectLst/>
                <a:latin typeface="+mn-lt"/>
              </a:rPr>
              <a:t>=</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joint line </a:t>
            </a:r>
            <a:r>
              <a:rPr lang="en-US" sz="1200" b="0" i="0" dirty="0">
                <a:effectLst/>
                <a:latin typeface="+mn-lt"/>
              </a:rPr>
              <a:t>= </a:t>
            </a:r>
            <a:r>
              <a:rPr lang="en-US" sz="1800" b="0" i="0" dirty="0">
                <a:effectLst/>
                <a:latin typeface="Aptos" panose="020B0004020202020204" pitchFamily="34" charset="0"/>
              </a:rPr>
              <a:t>+2 KA </a:t>
            </a:r>
            <a:endParaRPr lang="en-US" b="0" i="0" dirty="0">
              <a:effectLst/>
            </a:endParaRPr>
          </a:p>
          <a:p>
            <a:endParaRPr lang="en-US" dirty="0"/>
          </a:p>
          <a:p>
            <a:r>
              <a:rPr lang="en-US" dirty="0"/>
              <a:t>You may know the answers to these questions depending on how they answer the first two questions</a:t>
            </a:r>
          </a:p>
        </p:txBody>
      </p:sp>
      <p:sp>
        <p:nvSpPr>
          <p:cNvPr id="4" name="Slide Number Placeholder 3"/>
          <p:cNvSpPr>
            <a:spLocks noGrp="1"/>
          </p:cNvSpPr>
          <p:nvPr>
            <p:ph type="sldNum" sz="quarter" idx="5"/>
          </p:nvPr>
        </p:nvSpPr>
        <p:spPr/>
        <p:txBody>
          <a:bodyPr/>
          <a:lstStyle/>
          <a:p>
            <a:fld id="{9085000F-FC2F-4DC5-BEC9-060FAC7234C2}" type="slidenum">
              <a:rPr lang="en-US" smtClean="0"/>
              <a:t>6</a:t>
            </a:fld>
            <a:endParaRPr lang="en-US"/>
          </a:p>
        </p:txBody>
      </p:sp>
    </p:spTree>
    <p:extLst>
      <p:ext uri="{BB962C8B-B14F-4D97-AF65-F5344CB8AC3E}">
        <p14:creationId xmlns:p14="http://schemas.microsoft.com/office/powerpoint/2010/main" val="37225678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Balance gaps (adjust within boundaries) </a:t>
            </a:r>
            <a:r>
              <a:rPr lang="en-US" sz="1200" b="0" i="0" dirty="0">
                <a:effectLst/>
                <a:latin typeface="+mn-lt"/>
              </a:rPr>
              <a:t>= </a:t>
            </a:r>
            <a:r>
              <a:rPr lang="en-US" sz="1800" b="0" i="0" dirty="0">
                <a:effectLst/>
                <a:latin typeface="Aptos" panose="020B0004020202020204" pitchFamily="34" charset="0"/>
              </a:rPr>
              <a:t>+1 FA / +1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Perpendicular to mechanical axis </a:t>
            </a:r>
            <a:r>
              <a:rPr lang="en-US" sz="1200" b="0" i="0" dirty="0">
                <a:effectLst/>
                <a:latin typeface="+mn-lt"/>
              </a:rPr>
              <a:t>= </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native joint line = +2 KA </a:t>
            </a:r>
            <a:endParaRPr lang="en-US" b="0" i="0" dirty="0">
              <a:effectLst/>
            </a:endParaRPr>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7</a:t>
            </a:fld>
            <a:endParaRPr lang="en-US"/>
          </a:p>
        </p:txBody>
      </p:sp>
    </p:spTree>
    <p:extLst>
      <p:ext uri="{BB962C8B-B14F-4D97-AF65-F5344CB8AC3E}">
        <p14:creationId xmlns:p14="http://schemas.microsoft.com/office/powerpoint/2010/main" val="14061855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tibial varus </a:t>
            </a:r>
            <a:r>
              <a:rPr lang="en-US" sz="1200" b="0" i="0" dirty="0">
                <a:effectLst/>
                <a:latin typeface="+mn-lt"/>
              </a:rPr>
              <a:t>= </a:t>
            </a:r>
            <a:r>
              <a:rPr lang="en-US" sz="1800" b="0" i="0" dirty="0">
                <a:effectLst/>
                <a:latin typeface="Aptos" panose="020B0004020202020204" pitchFamily="34" charset="0"/>
              </a:rPr>
              <a:t>+2 MA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Minimize femoral joint line deviation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Evenly distribute changes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pPr marL="0" indent="0">
              <a:buFont typeface="Arial" panose="020B0604020202020204" pitchFamily="34" charset="0"/>
              <a:buNone/>
            </a:pPr>
            <a:endParaRPr lang="en-US" dirty="0"/>
          </a:p>
          <a:p>
            <a:pPr marL="0" indent="0">
              <a:buFont typeface="Arial" panose="020B0604020202020204" pitchFamily="34" charset="0"/>
              <a:buNone/>
            </a:pPr>
            <a:r>
              <a:rPr lang="en-US" dirty="0"/>
              <a:t>Only appears If choosing balance/balance</a:t>
            </a:r>
          </a:p>
        </p:txBody>
      </p:sp>
      <p:sp>
        <p:nvSpPr>
          <p:cNvPr id="4" name="Slide Number Placeholder 3"/>
          <p:cNvSpPr>
            <a:spLocks noGrp="1"/>
          </p:cNvSpPr>
          <p:nvPr>
            <p:ph type="sldNum" sz="quarter" idx="5"/>
          </p:nvPr>
        </p:nvSpPr>
        <p:spPr/>
        <p:txBody>
          <a:bodyPr/>
          <a:lstStyle/>
          <a:p>
            <a:fld id="{9085000F-FC2F-4DC5-BEC9-060FAC7234C2}" type="slidenum">
              <a:rPr lang="en-US" smtClean="0"/>
              <a:t>8</a:t>
            </a:fld>
            <a:endParaRPr lang="en-US"/>
          </a:p>
        </p:txBody>
      </p:sp>
    </p:spTree>
    <p:extLst>
      <p:ext uri="{BB962C8B-B14F-4D97-AF65-F5344CB8AC3E}">
        <p14:creationId xmlns:p14="http://schemas.microsoft.com/office/powerpoint/2010/main" val="1833298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both medial/lateral offsets </a:t>
            </a:r>
            <a:r>
              <a:rPr lang="en-US" sz="1200" b="0" i="0" dirty="0">
                <a:effectLst/>
                <a:latin typeface="+mn-lt"/>
              </a:rPr>
              <a:t>= </a:t>
            </a:r>
            <a:r>
              <a:rPr lang="en-US" sz="1800" b="0" i="0" dirty="0">
                <a:effectLst/>
                <a:latin typeface="Aptos" panose="020B0004020202020204" pitchFamily="34" charset="0"/>
              </a:rPr>
              <a:t>+2 KA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Restore medial offset, lateral used for balance </a:t>
            </a:r>
            <a:r>
              <a:rPr lang="en-US" sz="1200" b="0" i="0" dirty="0">
                <a:effectLst/>
                <a:latin typeface="+mn-lt"/>
              </a:rPr>
              <a:t>= </a:t>
            </a:r>
            <a:r>
              <a:rPr lang="en-US" sz="1800" b="0" i="0" dirty="0">
                <a:effectLst/>
                <a:latin typeface="Aptos" panose="020B0004020202020204" pitchFamily="34" charset="0"/>
              </a:rPr>
              <a:t>+2 </a:t>
            </a:r>
            <a:r>
              <a:rPr lang="en-US" sz="1800" b="0" i="0" dirty="0" err="1">
                <a:effectLst/>
                <a:latin typeface="Aptos" panose="020B0004020202020204" pitchFamily="34" charset="0"/>
              </a:rPr>
              <a:t>iKA</a:t>
            </a:r>
            <a:r>
              <a:rPr lang="en-US" sz="1800" b="0" i="0" dirty="0">
                <a:effectLst/>
                <a:latin typeface="Aptos" panose="020B0004020202020204" pitchFamily="34" charset="0"/>
              </a:rPr>
              <a:t> </a:t>
            </a:r>
            <a:endParaRPr lang="en-US" sz="1200" b="0" i="0" dirty="0">
              <a:effectLst/>
              <a:latin typeface="+mn-l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Both medial and lateral used to balance </a:t>
            </a:r>
            <a:r>
              <a:rPr lang="en-US" sz="1200" b="0" i="0" dirty="0">
                <a:effectLst/>
                <a:latin typeface="+mn-lt"/>
              </a:rPr>
              <a:t>= </a:t>
            </a:r>
            <a:r>
              <a:rPr lang="en-US" sz="1800" b="0" i="0" dirty="0">
                <a:effectLst/>
                <a:latin typeface="Aptos" panose="020B0004020202020204" pitchFamily="34" charset="0"/>
              </a:rPr>
              <a:t>+2 FA </a:t>
            </a:r>
            <a:endParaRPr lang="en-US" b="0" i="0"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this something that should be asked to FA surgeon after alignment philosophy is determined</a:t>
            </a:r>
          </a:p>
          <a:p>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9</a:t>
            </a:fld>
            <a:endParaRPr lang="en-US"/>
          </a:p>
        </p:txBody>
      </p:sp>
    </p:spTree>
    <p:extLst>
      <p:ext uri="{BB962C8B-B14F-4D97-AF65-F5344CB8AC3E}">
        <p14:creationId xmlns:p14="http://schemas.microsoft.com/office/powerpoint/2010/main" val="22443141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Yes </a:t>
            </a:r>
            <a:r>
              <a:rPr lang="en-US" sz="1200" b="0" i="0" dirty="0">
                <a:effectLst/>
                <a:latin typeface="+mn-lt"/>
              </a:rPr>
              <a:t>=</a:t>
            </a:r>
            <a:r>
              <a:rPr lang="en-US" sz="1800" b="0" i="0" dirty="0">
                <a:effectLst/>
                <a:latin typeface="Aptos" panose="020B0004020202020204" pitchFamily="34" charset="0"/>
              </a:rPr>
              <a:t>+1 </a:t>
            </a:r>
            <a:r>
              <a:rPr lang="en-US" sz="1800" b="0" i="0" dirty="0" err="1">
                <a:effectLst/>
                <a:latin typeface="Aptos" panose="020B0004020202020204" pitchFamily="34" charset="0"/>
              </a:rPr>
              <a:t>iKA</a:t>
            </a:r>
            <a:r>
              <a:rPr lang="en-US" sz="1800" b="0" i="0" dirty="0">
                <a:effectLst/>
                <a:latin typeface="Aptos" panose="020B0004020202020204" pitchFamily="34" charset="0"/>
              </a:rPr>
              <a:t> / +1 FA </a:t>
            </a:r>
            <a:endParaRPr lang="en-US" b="0" i="0" dirty="0">
              <a:effectLst/>
            </a:endParaRPr>
          </a:p>
          <a:p>
            <a:pPr marL="285750" indent="-285750" algn="l" rtl="0" fontAlgn="base">
              <a:lnSpc>
                <a:spcPts val="1564"/>
              </a:lnSpc>
              <a:buFont typeface="Arial" panose="020B0604020202020204" pitchFamily="34" charset="0"/>
              <a:buChar char="•"/>
            </a:pPr>
            <a:r>
              <a:rPr lang="en-US" sz="1800" b="0" i="0" dirty="0">
                <a:effectLst/>
                <a:latin typeface="Aptos" panose="020B0004020202020204" pitchFamily="34" charset="0"/>
              </a:rPr>
              <a:t>No </a:t>
            </a:r>
            <a:r>
              <a:rPr lang="en-US" sz="1200" b="0" i="0" dirty="0">
                <a:effectLst/>
                <a:latin typeface="+mn-lt"/>
              </a:rPr>
              <a:t>= </a:t>
            </a:r>
            <a:r>
              <a:rPr lang="en-US" sz="1800" b="0" i="0" dirty="0">
                <a:effectLst/>
                <a:latin typeface="Aptos" panose="020B0004020202020204" pitchFamily="34" charset="0"/>
              </a:rPr>
              <a:t>+2 KA </a:t>
            </a:r>
            <a:endParaRPr lang="en-US" b="0" i="0" dirty="0">
              <a:effectLst/>
            </a:endParaRP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Pop out for on-</a:t>
            </a:r>
            <a:r>
              <a:rPr lang="en-US" dirty="0" err="1"/>
              <a:t>lable</a:t>
            </a:r>
            <a:r>
              <a:rPr lang="en-US" dirty="0"/>
              <a:t> usage of ATTUNE Knee System</a:t>
            </a:r>
          </a:p>
        </p:txBody>
      </p:sp>
      <p:sp>
        <p:nvSpPr>
          <p:cNvPr id="4" name="Slide Number Placeholder 3"/>
          <p:cNvSpPr>
            <a:spLocks noGrp="1"/>
          </p:cNvSpPr>
          <p:nvPr>
            <p:ph type="sldNum" sz="quarter" idx="5"/>
          </p:nvPr>
        </p:nvSpPr>
        <p:spPr/>
        <p:txBody>
          <a:bodyPr/>
          <a:lstStyle/>
          <a:p>
            <a:fld id="{9085000F-FC2F-4DC5-BEC9-060FAC7234C2}" type="slidenum">
              <a:rPr lang="en-US" smtClean="0"/>
              <a:t>10</a:t>
            </a:fld>
            <a:endParaRPr lang="en-US"/>
          </a:p>
        </p:txBody>
      </p:sp>
    </p:spTree>
    <p:extLst>
      <p:ext uri="{BB962C8B-B14F-4D97-AF65-F5344CB8AC3E}">
        <p14:creationId xmlns:p14="http://schemas.microsoft.com/office/powerpoint/2010/main" val="2506005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ACCUBALANCE Graph image</a:t>
            </a:r>
          </a:p>
        </p:txBody>
      </p:sp>
      <p:sp>
        <p:nvSpPr>
          <p:cNvPr id="4" name="Slide Number Placeholder 3"/>
          <p:cNvSpPr>
            <a:spLocks noGrp="1"/>
          </p:cNvSpPr>
          <p:nvPr>
            <p:ph type="sldNum" sz="quarter" idx="5"/>
          </p:nvPr>
        </p:nvSpPr>
        <p:spPr/>
        <p:txBody>
          <a:bodyPr/>
          <a:lstStyle/>
          <a:p>
            <a:fld id="{9085000F-FC2F-4DC5-BEC9-060FAC7234C2}" type="slidenum">
              <a:rPr lang="en-US" smtClean="0"/>
              <a:t>14</a:t>
            </a:fld>
            <a:endParaRPr lang="en-US"/>
          </a:p>
        </p:txBody>
      </p:sp>
    </p:spTree>
    <p:extLst>
      <p:ext uri="{BB962C8B-B14F-4D97-AF65-F5344CB8AC3E}">
        <p14:creationId xmlns:p14="http://schemas.microsoft.com/office/powerpoint/2010/main" val="2211734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&amp; Secondary? Don’t like “hybrid”</a:t>
            </a:r>
          </a:p>
          <a:p>
            <a:endParaRPr lang="en-US" dirty="0"/>
          </a:p>
          <a:p>
            <a:r>
              <a:rPr lang="en-US" dirty="0"/>
              <a:t>Do we want to call this something more poignant? Most of the KOL’s are doing a hybrid kinematic technique</a:t>
            </a:r>
          </a:p>
          <a:p>
            <a:endParaRPr lang="en-US" dirty="0"/>
          </a:p>
          <a:p>
            <a:r>
              <a:rPr lang="en-US" dirty="0"/>
              <a:t>VELYS </a:t>
            </a:r>
            <a:r>
              <a:rPr lang="en-US"/>
              <a:t>Enabled Technique?</a:t>
            </a:r>
            <a:endParaRPr lang="en-US" dirty="0"/>
          </a:p>
        </p:txBody>
      </p:sp>
      <p:sp>
        <p:nvSpPr>
          <p:cNvPr id="4" name="Slide Number Placeholder 3"/>
          <p:cNvSpPr>
            <a:spLocks noGrp="1"/>
          </p:cNvSpPr>
          <p:nvPr>
            <p:ph type="sldNum" sz="quarter" idx="5"/>
          </p:nvPr>
        </p:nvSpPr>
        <p:spPr/>
        <p:txBody>
          <a:bodyPr/>
          <a:lstStyle/>
          <a:p>
            <a:fld id="{9085000F-FC2F-4DC5-BEC9-060FAC7234C2}" type="slidenum">
              <a:rPr lang="en-US" smtClean="0"/>
              <a:t>15</a:t>
            </a:fld>
            <a:endParaRPr lang="en-US"/>
          </a:p>
        </p:txBody>
      </p:sp>
    </p:spTree>
    <p:extLst>
      <p:ext uri="{BB962C8B-B14F-4D97-AF65-F5344CB8AC3E}">
        <p14:creationId xmlns:p14="http://schemas.microsoft.com/office/powerpoint/2010/main" val="1075256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Point Total = Suggested Alignment Philosophy</a:t>
            </a:r>
          </a:p>
          <a:p>
            <a:endParaRPr lang="en-US" dirty="0"/>
          </a:p>
          <a:p>
            <a:r>
              <a:rPr lang="en-US" dirty="0"/>
              <a:t>Tie?: If two philosophies are close (within 2 points), offer “Hybrid or Patient Specific” recommendation</a:t>
            </a:r>
          </a:p>
        </p:txBody>
      </p:sp>
      <p:sp>
        <p:nvSpPr>
          <p:cNvPr id="4" name="Slide Number Placeholder 3"/>
          <p:cNvSpPr>
            <a:spLocks noGrp="1"/>
          </p:cNvSpPr>
          <p:nvPr>
            <p:ph type="sldNum" sz="quarter" idx="5"/>
          </p:nvPr>
        </p:nvSpPr>
        <p:spPr/>
        <p:txBody>
          <a:bodyPr/>
          <a:lstStyle/>
          <a:p>
            <a:fld id="{9085000F-FC2F-4DC5-BEC9-060FAC7234C2}" type="slidenum">
              <a:rPr lang="en-US" smtClean="0"/>
              <a:t>17</a:t>
            </a:fld>
            <a:endParaRPr lang="en-US"/>
          </a:p>
        </p:txBody>
      </p:sp>
    </p:spTree>
    <p:extLst>
      <p:ext uri="{BB962C8B-B14F-4D97-AF65-F5344CB8AC3E}">
        <p14:creationId xmlns:p14="http://schemas.microsoft.com/office/powerpoint/2010/main" val="302322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2053" y="228918"/>
            <a:ext cx="8739893" cy="769441"/>
          </a:xfrm>
          <a:prstGeom prst="rect">
            <a:avLst/>
          </a:prstGeom>
          <a:noFill/>
        </p:spPr>
        <p:txBody>
          <a:bodyPr wrap="none">
            <a:spAutoFit/>
          </a:bodyPr>
          <a:lstStyle/>
          <a:p>
            <a:pPr algn="ctr">
              <a:defRPr sz="3200"/>
            </a:pPr>
            <a:r>
              <a:rPr lang="en-US" sz="4400" b="1" dirty="0">
                <a:latin typeface="Johnson Display" panose="00000500000000000000" pitchFamily="50" charset="0"/>
              </a:rPr>
              <a:t>PATHFINDER Conversation Guide</a:t>
            </a:r>
            <a:endParaRPr sz="4400" b="1" dirty="0">
              <a:latin typeface="Johnson Display" panose="00000500000000000000" pitchFamily="50" charset="0"/>
            </a:endParaRPr>
          </a:p>
        </p:txBody>
      </p:sp>
      <p:sp>
        <p:nvSpPr>
          <p:cNvPr id="4" name="TextBox 3"/>
          <p:cNvSpPr txBox="1"/>
          <p:nvPr/>
        </p:nvSpPr>
        <p:spPr>
          <a:xfrm>
            <a:off x="85835" y="1482820"/>
            <a:ext cx="8972328" cy="2123658"/>
          </a:xfrm>
          <a:prstGeom prst="rect">
            <a:avLst/>
          </a:prstGeom>
          <a:noFill/>
        </p:spPr>
        <p:txBody>
          <a:bodyPr wrap="none">
            <a:spAutoFit/>
          </a:bodyPr>
          <a:lstStyle/>
          <a:p>
            <a:pPr algn="ctr">
              <a:defRPr sz="2400"/>
            </a:pPr>
            <a:r>
              <a:rPr dirty="0">
                <a:latin typeface="Johnson Display" panose="00000500000000000000" pitchFamily="50" charset="0"/>
              </a:rPr>
              <a:t>Welcome! </a:t>
            </a:r>
            <a:endParaRPr lang="en-US" dirty="0">
              <a:latin typeface="Johnson Display" panose="00000500000000000000" pitchFamily="50" charset="0"/>
            </a:endParaRPr>
          </a:p>
          <a:p>
            <a:pPr algn="ctr">
              <a:defRPr sz="2400"/>
            </a:pPr>
            <a:endParaRPr lang="en-US" dirty="0">
              <a:latin typeface="Johnson Display" panose="00000500000000000000" pitchFamily="50" charset="0"/>
            </a:endParaRPr>
          </a:p>
          <a:p>
            <a:pPr algn="ctr">
              <a:defRPr sz="2400"/>
            </a:pPr>
            <a:r>
              <a:rPr dirty="0">
                <a:latin typeface="Johnson Display" panose="00000500000000000000" pitchFamily="50" charset="0"/>
              </a:rPr>
              <a:t>Th</a:t>
            </a:r>
            <a:r>
              <a:rPr lang="en-US" dirty="0">
                <a:latin typeface="Johnson Display" panose="00000500000000000000" pitchFamily="50" charset="0"/>
              </a:rPr>
              <a:t>e Pathfinder Conversation Guide </a:t>
            </a:r>
            <a:r>
              <a:rPr dirty="0">
                <a:latin typeface="Johnson Display" panose="00000500000000000000" pitchFamily="50" charset="0"/>
              </a:rPr>
              <a:t>will help identify your </a:t>
            </a:r>
            <a:endParaRPr lang="en-US" dirty="0">
              <a:latin typeface="Johnson Display" panose="00000500000000000000" pitchFamily="50" charset="0"/>
            </a:endParaRPr>
          </a:p>
          <a:p>
            <a:pPr algn="ctr">
              <a:defRPr sz="2400"/>
            </a:pPr>
            <a:r>
              <a:rPr lang="en-US" dirty="0">
                <a:latin typeface="Johnson Display" panose="00000500000000000000" pitchFamily="50" charset="0"/>
              </a:rPr>
              <a:t>customers </a:t>
            </a:r>
            <a:r>
              <a:rPr dirty="0">
                <a:latin typeface="Johnson Display" panose="00000500000000000000" pitchFamily="50" charset="0"/>
              </a:rPr>
              <a:t>alignment philosophy in </a:t>
            </a:r>
            <a:r>
              <a:rPr lang="en-US" dirty="0">
                <a:latin typeface="Johnson Display" panose="00000500000000000000" pitchFamily="50" charset="0"/>
              </a:rPr>
              <a:t>Total Knee Arthroplasty (</a:t>
            </a:r>
            <a:r>
              <a:rPr dirty="0">
                <a:latin typeface="Johnson Display" panose="00000500000000000000" pitchFamily="50" charset="0"/>
              </a:rPr>
              <a:t>TKA</a:t>
            </a:r>
            <a:r>
              <a:rPr lang="en-US" dirty="0">
                <a:latin typeface="Johnson Display" panose="00000500000000000000" pitchFamily="50" charset="0"/>
              </a:rPr>
              <a:t>)</a:t>
            </a:r>
            <a:r>
              <a:rPr dirty="0">
                <a:latin typeface="Johnson Display" panose="00000500000000000000" pitchFamily="50" charset="0"/>
              </a:rPr>
              <a:t>.</a:t>
            </a:r>
          </a:p>
          <a:p>
            <a:pPr algn="ctr"/>
            <a:endParaRPr lang="en-US" dirty="0">
              <a:latin typeface="Johnson Display" panose="00000500000000000000" pitchFamily="50" charset="0"/>
            </a:endParaRPr>
          </a:p>
          <a:p>
            <a:pPr algn="ctr"/>
            <a:r>
              <a:rPr dirty="0">
                <a:latin typeface="Johnson Display" panose="00000500000000000000" pitchFamily="50" charset="0"/>
              </a:rPr>
              <a:t>Click 'Start' to begin.</a:t>
            </a:r>
          </a:p>
        </p:txBody>
      </p:sp>
      <p:sp>
        <p:nvSpPr>
          <p:cNvPr id="5" name="Rounded Rectangle 4">
            <a:hlinkClick r:id="rId3" action="ppaction://hlinksldjump"/>
          </p:cNvPr>
          <p:cNvSpPr/>
          <p:nvPr/>
        </p:nvSpPr>
        <p:spPr>
          <a:xfrm>
            <a:off x="914400" y="4087368"/>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dirty="0">
                <a:latin typeface="Johnson Display" panose="00000500000000000000" pitchFamily="50" charset="0"/>
              </a:rPr>
              <a:t>Start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511E1-25B8-1C41-C2A4-25D4AA287F54}"/>
              </a:ext>
            </a:extLst>
          </p:cNvPr>
          <p:cNvSpPr>
            <a:spLocks noGrp="1"/>
          </p:cNvSpPr>
          <p:nvPr>
            <p:ph type="title"/>
          </p:nvPr>
        </p:nvSpPr>
        <p:spPr/>
        <p:txBody>
          <a:bodyPr>
            <a:normAutofit/>
          </a:bodyPr>
          <a:lstStyle/>
          <a:p>
            <a:r>
              <a:rPr lang="en-US" dirty="0"/>
              <a:t>Choose one…</a:t>
            </a:r>
          </a:p>
        </p:txBody>
      </p:sp>
      <p:sp>
        <p:nvSpPr>
          <p:cNvPr id="3" name="Rounded Rectangle 4">
            <a:hlinkClick r:id="rId3" action="ppaction://hlinksldjump"/>
            <a:extLst>
              <a:ext uri="{FF2B5EF4-FFF2-40B4-BE49-F238E27FC236}">
                <a16:creationId xmlns:a16="http://schemas.microsoft.com/office/drawing/2014/main" id="{625962A4-3300-7A08-F7E8-992ACD0E771F}"/>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Femur First</a:t>
            </a:r>
            <a:endParaRPr dirty="0">
              <a:latin typeface="Johnson Display" panose="00000500000000000000" pitchFamily="50" charset="0"/>
            </a:endParaRPr>
          </a:p>
        </p:txBody>
      </p:sp>
      <p:sp>
        <p:nvSpPr>
          <p:cNvPr id="4" name="Rounded Rectangle 5">
            <a:hlinkClick r:id="rId3" action="ppaction://hlinksldjump"/>
            <a:extLst>
              <a:ext uri="{FF2B5EF4-FFF2-40B4-BE49-F238E27FC236}">
                <a16:creationId xmlns:a16="http://schemas.microsoft.com/office/drawing/2014/main" id="{49D27CF6-1FBE-09AB-3B23-5307A0D5BE8A}"/>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Tibia First</a:t>
            </a:r>
            <a:endParaRPr dirty="0">
              <a:latin typeface="Johnson Display" panose="00000500000000000000" pitchFamily="50" charset="0"/>
            </a:endParaRPr>
          </a:p>
        </p:txBody>
      </p:sp>
    </p:spTree>
    <p:extLst>
      <p:ext uri="{BB962C8B-B14F-4D97-AF65-F5344CB8AC3E}">
        <p14:creationId xmlns:p14="http://schemas.microsoft.com/office/powerpoint/2010/main" val="9516096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1" y="182880"/>
            <a:ext cx="8403336" cy="1569660"/>
          </a:xfrm>
          <a:prstGeom prst="rect">
            <a:avLst/>
          </a:prstGeom>
          <a:noFill/>
        </p:spPr>
        <p:txBody>
          <a:bodyPr wrap="square">
            <a:spAutoFit/>
          </a:bodyPr>
          <a:lstStyle/>
          <a:p>
            <a:pPr>
              <a:defRPr sz="3200"/>
            </a:pPr>
            <a:r>
              <a:rPr dirty="0">
                <a:latin typeface="Johnson Display" panose="00000500000000000000" pitchFamily="50" charset="0"/>
              </a:rPr>
              <a:t>What </a:t>
            </a:r>
            <a:r>
              <a:rPr lang="en-US" dirty="0">
                <a:latin typeface="Johnson Display" panose="00000500000000000000" pitchFamily="50" charset="0"/>
              </a:rPr>
              <a:t>do you prioritize when performing Total Knee Arthroplasty (TKA)?</a:t>
            </a:r>
          </a:p>
          <a:p>
            <a:pPr>
              <a:defRPr sz="3200"/>
            </a:pPr>
            <a:endParaRPr dirty="0">
              <a:latin typeface="Johnson Display" panose="00000500000000000000" pitchFamily="50" charset="0"/>
            </a:endParaRPr>
          </a:p>
        </p:txBody>
      </p:sp>
      <p:sp>
        <p:nvSpPr>
          <p:cNvPr id="4" name="TextBox 3"/>
          <p:cNvSpPr txBox="1"/>
          <p:nvPr/>
        </p:nvSpPr>
        <p:spPr>
          <a:xfrm>
            <a:off x="457201"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Aiming for a neutral mechanical alignment (0deg HKA)</a:t>
            </a:r>
            <a:endParaRPr dirty="0">
              <a:latin typeface="Johnson Display" panose="00000500000000000000" pitchFamily="50" charset="0"/>
            </a:endParaRP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Restoring the patient’s native alignment</a:t>
            </a:r>
            <a:endParaRPr dirty="0">
              <a:latin typeface="Johnson Display" panose="00000500000000000000" pitchFamily="50" charset="0"/>
            </a:endParaRP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dirty="0">
                <a:latin typeface="Johnson Display" panose="00000500000000000000" pitchFamily="50" charset="0"/>
              </a:rPr>
              <a:t>Prioritizing balanced flexion and extension gaps</a:t>
            </a:r>
            <a:endParaRPr dirty="0">
              <a:latin typeface="Johnson Display" panose="00000500000000000000" pitchFamily="5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A13E0-E786-75A8-EF79-66BBCF4FE541}"/>
              </a:ext>
            </a:extLst>
          </p:cNvPr>
          <p:cNvSpPr>
            <a:spLocks noGrp="1"/>
          </p:cNvSpPr>
          <p:nvPr>
            <p:ph type="title"/>
          </p:nvPr>
        </p:nvSpPr>
        <p:spPr/>
        <p:txBody>
          <a:bodyPr>
            <a:normAutofit fontScale="90000"/>
          </a:bodyPr>
          <a:lstStyle/>
          <a:p>
            <a:r>
              <a:rPr lang="en-US" dirty="0"/>
              <a:t>Do you adjust your resections to balance the soft tissue?</a:t>
            </a:r>
          </a:p>
        </p:txBody>
      </p:sp>
      <p:sp>
        <p:nvSpPr>
          <p:cNvPr id="3" name="Rounded Rectangle 4">
            <a:hlinkClick r:id="rId2" action="ppaction://hlinksldjump"/>
            <a:extLst>
              <a:ext uri="{FF2B5EF4-FFF2-40B4-BE49-F238E27FC236}">
                <a16:creationId xmlns:a16="http://schemas.microsoft.com/office/drawing/2014/main" id="{87E7B9E3-B42B-6475-BB98-5D3DAFD1A08E}"/>
              </a:ext>
            </a:extLst>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4" name="Rounded Rectangle 5">
            <a:hlinkClick r:id="rId2" action="ppaction://hlinksldjump"/>
            <a:extLst>
              <a:ext uri="{FF2B5EF4-FFF2-40B4-BE49-F238E27FC236}">
                <a16:creationId xmlns:a16="http://schemas.microsoft.com/office/drawing/2014/main" id="{83D2F748-59E8-0A4C-412F-7864C2E7783E}"/>
              </a:ext>
            </a:extLst>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extLst>
      <p:ext uri="{BB962C8B-B14F-4D97-AF65-F5344CB8AC3E}">
        <p14:creationId xmlns:p14="http://schemas.microsoft.com/office/powerpoint/2010/main" val="752215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7946136" cy="1077218"/>
          </a:xfrm>
          <a:prstGeom prst="rect">
            <a:avLst/>
          </a:prstGeom>
          <a:noFill/>
        </p:spPr>
        <p:txBody>
          <a:bodyPr wrap="square">
            <a:spAutoFit/>
          </a:bodyPr>
          <a:lstStyle/>
          <a:p>
            <a:pPr>
              <a:defRPr sz="3200"/>
            </a:pPr>
            <a:r>
              <a:rPr dirty="0">
                <a:latin typeface="Johnson Display" panose="00000500000000000000" pitchFamily="50" charset="0"/>
              </a:rPr>
              <a:t>Are you willing to deviate from mechanical axis (0° HKA)?</a:t>
            </a:r>
          </a:p>
        </p:txBody>
      </p:sp>
      <p:sp>
        <p:nvSpPr>
          <p:cNvPr id="4" name="TextBox 3"/>
          <p:cNvSpPr txBox="1"/>
          <p:nvPr/>
        </p:nvSpPr>
        <p:spPr>
          <a:xfrm>
            <a:off x="457200" y="137160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No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6537367" cy="584775"/>
          </a:xfrm>
          <a:prstGeom prst="rect">
            <a:avLst/>
          </a:prstGeom>
          <a:noFill/>
        </p:spPr>
        <p:txBody>
          <a:bodyPr wrap="none">
            <a:spAutoFit/>
          </a:bodyPr>
          <a:lstStyle/>
          <a:p>
            <a:pPr>
              <a:defRPr sz="3200"/>
            </a:pPr>
            <a:r>
              <a:rPr lang="en-US" dirty="0">
                <a:latin typeface="Johnson Display" panose="00000500000000000000" pitchFamily="50" charset="0"/>
              </a:rPr>
              <a:t>The distal femoral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femoral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femoral resection is aligned perpendicular to the femur’s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femoral resection is positioned to restore the joint line to pre-arthritic position.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4961615" cy="584775"/>
          </a:xfrm>
          <a:prstGeom prst="rect">
            <a:avLst/>
          </a:prstGeom>
          <a:noFill/>
        </p:spPr>
        <p:txBody>
          <a:bodyPr wrap="none">
            <a:spAutoFit/>
          </a:bodyPr>
          <a:lstStyle/>
          <a:p>
            <a:pPr>
              <a:defRPr sz="3200"/>
            </a:pPr>
            <a:r>
              <a:rPr lang="en-US" dirty="0">
                <a:latin typeface="Johnson Display" panose="00000500000000000000" pitchFamily="50" charset="0"/>
              </a:rPr>
              <a:t>The tibial resection should:</a:t>
            </a:r>
            <a:endParaRPr dirty="0">
              <a:latin typeface="Johnson Display" panose="00000500000000000000" pitchFamily="50" charset="0"/>
            </a:endParaRPr>
          </a:p>
        </p:txBody>
      </p:sp>
      <p:sp>
        <p:nvSpPr>
          <p:cNvPr id="4" name="TextBox 3"/>
          <p:cNvSpPr txBox="1"/>
          <p:nvPr/>
        </p:nvSpPr>
        <p:spPr>
          <a:xfrm>
            <a:off x="457200" y="1097280"/>
            <a:ext cx="2613216" cy="461665"/>
          </a:xfrm>
          <a:prstGeom prst="rect">
            <a:avLst/>
          </a:prstGeom>
          <a:noFill/>
        </p:spPr>
        <p:txBody>
          <a:bodyPr wrap="none">
            <a:spAutoFit/>
          </a:bodyPr>
          <a:lstStyle/>
          <a:p>
            <a:pPr>
              <a:defRPr sz="2400"/>
            </a:pPr>
            <a:r>
              <a:rPr>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used to balance– adjusts the tibial resection within boundaries to obtain the target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Be perpendicular to mechanical axis- the tibial resection is aligned perpendicular to the tibia’s mechanical axis.</a:t>
            </a:r>
          </a:p>
        </p:txBody>
      </p:sp>
      <p:sp>
        <p:nvSpPr>
          <p:cNvPr id="7" name="Rounded Rectangle 6">
            <a:hlinkClick r:id="rId3" action="ppaction://hlinksldjump"/>
          </p:cNvPr>
          <p:cNvSpPr/>
          <p:nvPr/>
        </p:nvSpPr>
        <p:spPr>
          <a:xfrm>
            <a:off x="457200" y="41148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native joint line obliquity- the tibial resection is positioned to restore the joint line to pre-arthritic position.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8229600" cy="1077218"/>
          </a:xfrm>
          <a:prstGeom prst="rect">
            <a:avLst/>
          </a:prstGeom>
          <a:noFill/>
        </p:spPr>
        <p:txBody>
          <a:bodyPr wrap="square">
            <a:spAutoFit/>
          </a:bodyPr>
          <a:lstStyle/>
          <a:p>
            <a:pPr>
              <a:defRPr sz="3200"/>
            </a:pPr>
            <a:r>
              <a:rPr dirty="0">
                <a:latin typeface="Johnson Display" panose="00000500000000000000" pitchFamily="50" charset="0"/>
              </a:rPr>
              <a:t>When balancing extension gaps, </a:t>
            </a:r>
            <a:r>
              <a:rPr lang="en-US" dirty="0">
                <a:latin typeface="Johnson Display" panose="00000500000000000000" pitchFamily="50" charset="0"/>
              </a:rPr>
              <a:t>the priority is:</a:t>
            </a:r>
            <a:endParaRPr dirty="0">
              <a:latin typeface="Johnson Display" panose="00000500000000000000" pitchFamily="50" charset="0"/>
            </a:endParaRPr>
          </a:p>
        </p:txBody>
      </p:sp>
      <p:sp>
        <p:nvSpPr>
          <p:cNvPr id="4" name="TextBox 3"/>
          <p:cNvSpPr txBox="1"/>
          <p:nvPr/>
        </p:nvSpPr>
        <p:spPr>
          <a:xfrm>
            <a:off x="457200" y="1280160"/>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a:hlinkClick r:id="rId3" action="ppaction://hlinksldjump"/>
          </p:cNvPr>
          <p:cNvSpPr/>
          <p:nvPr/>
        </p:nvSpPr>
        <p:spPr>
          <a:xfrm>
            <a:off x="457200" y="22860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tibial varus -prioritizes neutral tibia, adjusts femur component to balance extension gaps.</a:t>
            </a:r>
          </a:p>
        </p:txBody>
      </p:sp>
      <p:sp>
        <p:nvSpPr>
          <p:cNvPr id="6" name="Rounded Rectangle 5">
            <a:hlinkClick r:id="rId3" action="ppaction://hlinksldjump"/>
          </p:cNvPr>
          <p:cNvSpPr/>
          <p:nvPr/>
        </p:nvSpPr>
        <p:spPr>
          <a:xfrm>
            <a:off x="457200" y="3200400"/>
            <a:ext cx="7315200"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Minimize femoral joint line deviation–prioritizes native femur joint line, adjusts tibia component to balance gaps</a:t>
            </a:r>
          </a:p>
        </p:txBody>
      </p:sp>
      <p:sp>
        <p:nvSpPr>
          <p:cNvPr id="7" name="Rounded Rectangle 6">
            <a:hlinkClick r:id="rId3" action="ppaction://hlinksldjump"/>
          </p:cNvPr>
          <p:cNvSpPr/>
          <p:nvPr/>
        </p:nvSpPr>
        <p:spPr>
          <a:xfrm>
            <a:off x="457200" y="4114800"/>
            <a:ext cx="7315200" cy="923544"/>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Evenly distribute changes to femur/tibia –prioritizes neutral femur and tibia, splits varus/valgus adjustments between both components to balance gaps.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6750F-7355-54C7-9897-B2CC470125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535796-E201-9C35-33F1-0B3D74C0F9A8}"/>
              </a:ext>
            </a:extLst>
          </p:cNvPr>
          <p:cNvSpPr txBox="1"/>
          <p:nvPr/>
        </p:nvSpPr>
        <p:spPr>
          <a:xfrm>
            <a:off x="457200" y="182880"/>
            <a:ext cx="8229600"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3200"/>
            </a:pPr>
            <a:r>
              <a:rPr kumimoji="0" lang="en-US" sz="3200" b="0" i="0" u="none" strike="noStrike" kern="1200" cap="none" spc="0" normalizeH="0" baseline="0" noProof="0" dirty="0">
                <a:ln>
                  <a:noFill/>
                </a:ln>
                <a:solidFill>
                  <a:prstClr val="black"/>
                </a:solidFill>
                <a:effectLst/>
                <a:uLnTx/>
                <a:uFillTx/>
                <a:latin typeface="Johnson Display" panose="00000500000000000000" pitchFamily="50" charset="0"/>
              </a:rPr>
              <a:t>The posterior femoral resection should:</a:t>
            </a:r>
            <a:endParaRPr kumimoji="0" sz="3200" b="0" i="0" u="none" strike="noStrike" kern="1200" cap="none" spc="0" normalizeH="0" baseline="0" noProof="0" dirty="0">
              <a:ln>
                <a:noFill/>
              </a:ln>
              <a:solidFill>
                <a:prstClr val="black"/>
              </a:solidFill>
              <a:effectLst/>
              <a:uLnTx/>
              <a:uFillTx/>
              <a:latin typeface="Johnson Display" panose="00000500000000000000" pitchFamily="50" charset="0"/>
            </a:endParaRPr>
          </a:p>
        </p:txBody>
      </p:sp>
      <p:sp>
        <p:nvSpPr>
          <p:cNvPr id="4" name="TextBox 3">
            <a:extLst>
              <a:ext uri="{FF2B5EF4-FFF2-40B4-BE49-F238E27FC236}">
                <a16:creationId xmlns:a16="http://schemas.microsoft.com/office/drawing/2014/main" id="{B33B7C89-2B27-9AE8-B7F7-8D0AD35435B1}"/>
              </a:ext>
            </a:extLst>
          </p:cNvPr>
          <p:cNvSpPr txBox="1"/>
          <p:nvPr/>
        </p:nvSpPr>
        <p:spPr>
          <a:xfrm>
            <a:off x="457200" y="1280160"/>
            <a:ext cx="2613216" cy="46166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400"/>
            </a:pPr>
            <a:r>
              <a:rPr kumimoji="0" sz="2400" b="0" i="0" u="none" strike="noStrike" kern="1200" cap="none" spc="0" normalizeH="0" baseline="0" noProof="0" dirty="0">
                <a:ln>
                  <a:noFill/>
                </a:ln>
                <a:solidFill>
                  <a:prstClr val="black"/>
                </a:solidFill>
                <a:effectLst/>
                <a:uLnTx/>
                <a:uFillTx/>
                <a:latin typeface="Johnson Display" panose="00000500000000000000" pitchFamily="50" charset="0"/>
              </a:rPr>
              <a:t>Select one option:</a:t>
            </a:r>
          </a:p>
        </p:txBody>
      </p:sp>
      <p:sp>
        <p:nvSpPr>
          <p:cNvPr id="5" name="Rounded Rectangle 4">
            <a:hlinkClick r:id="rId3" action="ppaction://hlinksldjump"/>
            <a:extLst>
              <a:ext uri="{FF2B5EF4-FFF2-40B4-BE49-F238E27FC236}">
                <a16:creationId xmlns:a16="http://schemas.microsoft.com/office/drawing/2014/main" id="{A11DE626-9ED4-370D-644D-1CDF9746E72A}"/>
              </a:ext>
            </a:extLst>
          </p:cNvPr>
          <p:cNvSpPr/>
          <p:nvPr/>
        </p:nvSpPr>
        <p:spPr>
          <a:xfrm>
            <a:off x="457200" y="2286000"/>
            <a:ext cx="7315200" cy="99226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both medial and lateral posterior condylar offsets– both medial and lateral posterior resections aim to recreate the pre-arthritic posterior condylar offset.</a:t>
            </a:r>
          </a:p>
        </p:txBody>
      </p:sp>
      <p:sp>
        <p:nvSpPr>
          <p:cNvPr id="6" name="Rounded Rectangle 5">
            <a:hlinkClick r:id="rId3" action="ppaction://hlinksldjump"/>
            <a:extLst>
              <a:ext uri="{FF2B5EF4-FFF2-40B4-BE49-F238E27FC236}">
                <a16:creationId xmlns:a16="http://schemas.microsoft.com/office/drawing/2014/main" id="{B0CB9729-54D4-8594-3153-5E8878FCBDB6}"/>
              </a:ext>
            </a:extLst>
          </p:cNvPr>
          <p:cNvSpPr/>
          <p:nvPr/>
        </p:nvSpPr>
        <p:spPr>
          <a:xfrm>
            <a:off x="457200" y="3483864"/>
            <a:ext cx="7315200" cy="1170432"/>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Restore medial posterior condylar offset and use lateral resection to balance– the medial posterior resection recreates the pre-arthritic medial posterior condylar offset, and the lateral posterior resection is used to balance gaps.</a:t>
            </a:r>
          </a:p>
        </p:txBody>
      </p:sp>
      <p:sp>
        <p:nvSpPr>
          <p:cNvPr id="7" name="Rounded Rectangle 6">
            <a:hlinkClick r:id="rId3" action="ppaction://hlinksldjump"/>
            <a:extLst>
              <a:ext uri="{FF2B5EF4-FFF2-40B4-BE49-F238E27FC236}">
                <a16:creationId xmlns:a16="http://schemas.microsoft.com/office/drawing/2014/main" id="{4656EBB3-A1ED-D43A-FD1D-03F71AA4453C}"/>
              </a:ext>
            </a:extLst>
          </p:cNvPr>
          <p:cNvSpPr/>
          <p:nvPr/>
        </p:nvSpPr>
        <p:spPr>
          <a:xfrm>
            <a:off x="457200" y="4910328"/>
            <a:ext cx="7315200" cy="1252728"/>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marR="0"/>
            <a:r>
              <a:rPr lang="en-US" sz="1800" b="0" i="0" u="none" strike="noStrike" baseline="0" dirty="0">
                <a:solidFill>
                  <a:schemeClr val="bg1"/>
                </a:solidFill>
                <a:latin typeface="Johnson Display" panose="00000500000000000000" pitchFamily="50" charset="0"/>
              </a:rPr>
              <a:t>Use both medial and lateral resections to balance– both medial and lateral posterior resections are used to balance gaps to obtain the intended ligament tension.</a:t>
            </a:r>
          </a:p>
        </p:txBody>
      </p:sp>
    </p:spTree>
    <p:extLst>
      <p:ext uri="{BB962C8B-B14F-4D97-AF65-F5344CB8AC3E}">
        <p14:creationId xmlns:p14="http://schemas.microsoft.com/office/powerpoint/2010/main" val="163540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584" y="182880"/>
            <a:ext cx="9299448" cy="1077218"/>
          </a:xfrm>
          <a:prstGeom prst="rect">
            <a:avLst/>
          </a:prstGeom>
          <a:noFill/>
        </p:spPr>
        <p:txBody>
          <a:bodyPr wrap="square">
            <a:spAutoFit/>
          </a:bodyPr>
          <a:lstStyle/>
          <a:p>
            <a:pPr>
              <a:defRPr sz="3200"/>
            </a:pPr>
            <a:r>
              <a:rPr dirty="0">
                <a:latin typeface="Johnson Display" panose="00000500000000000000" pitchFamily="50" charset="0"/>
              </a:rPr>
              <a:t>Do you apply coronal boundaries (limits to deviation)?</a:t>
            </a:r>
          </a:p>
        </p:txBody>
      </p:sp>
      <p:sp>
        <p:nvSpPr>
          <p:cNvPr id="4" name="TextBox 3"/>
          <p:cNvSpPr txBox="1"/>
          <p:nvPr/>
        </p:nvSpPr>
        <p:spPr>
          <a:xfrm>
            <a:off x="100584" y="1328112"/>
            <a:ext cx="2613216" cy="461665"/>
          </a:xfrm>
          <a:prstGeom prst="rect">
            <a:avLst/>
          </a:prstGeom>
          <a:noFill/>
        </p:spPr>
        <p:txBody>
          <a:bodyPr wrap="none">
            <a:spAutoFit/>
          </a:bodyPr>
          <a:lstStyle/>
          <a:p>
            <a:pPr>
              <a:defRPr sz="2400"/>
            </a:pPr>
            <a:r>
              <a:rPr dirty="0">
                <a:latin typeface="Johnson Display" panose="00000500000000000000" pitchFamily="50" charset="0"/>
              </a:rPr>
              <a:t>Select one option:</a:t>
            </a:r>
          </a:p>
        </p:txBody>
      </p:sp>
      <p:sp>
        <p:nvSpPr>
          <p:cNvPr id="5" name="Rounded Rectangle 4"/>
          <p:cNvSpPr/>
          <p:nvPr/>
        </p:nvSpPr>
        <p:spPr>
          <a:xfrm>
            <a:off x="215462" y="24688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Yes</a:t>
            </a:r>
          </a:p>
        </p:txBody>
      </p:sp>
      <p:sp>
        <p:nvSpPr>
          <p:cNvPr id="6" name="Rounded Rectangle 5"/>
          <p:cNvSpPr/>
          <p:nvPr/>
        </p:nvSpPr>
        <p:spPr>
          <a:xfrm>
            <a:off x="215462" y="338328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dirty="0">
                <a:latin typeface="Johnson Display" panose="00000500000000000000" pitchFamily="50" charset="0"/>
              </a:rPr>
              <a:t>No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82880"/>
            <a:ext cx="5009705" cy="584775"/>
          </a:xfrm>
          <a:prstGeom prst="rect">
            <a:avLst/>
          </a:prstGeom>
          <a:noFill/>
        </p:spPr>
        <p:txBody>
          <a:bodyPr wrap="none">
            <a:spAutoFit/>
          </a:bodyPr>
          <a:lstStyle/>
          <a:p>
            <a:pPr>
              <a:defRPr sz="3200"/>
            </a:pPr>
            <a:r>
              <a:rPr dirty="0">
                <a:latin typeface="Johnson Display" panose="00000500000000000000" pitchFamily="50" charset="0"/>
              </a:rPr>
              <a:t>Mechanical Alignment (MA)</a:t>
            </a:r>
          </a:p>
        </p:txBody>
      </p:sp>
      <p:sp>
        <p:nvSpPr>
          <p:cNvPr id="4" name="TextBox 3"/>
          <p:cNvSpPr txBox="1"/>
          <p:nvPr/>
        </p:nvSpPr>
        <p:spPr>
          <a:xfrm>
            <a:off x="457200" y="1097280"/>
            <a:ext cx="7204216" cy="461665"/>
          </a:xfrm>
          <a:prstGeom prst="rect">
            <a:avLst/>
          </a:prstGeom>
          <a:noFill/>
        </p:spPr>
        <p:txBody>
          <a:bodyPr wrap="none">
            <a:spAutoFit/>
          </a:bodyPr>
          <a:lstStyle/>
          <a:p>
            <a:pPr>
              <a:defRPr sz="2400"/>
            </a:pPr>
            <a:r>
              <a:rPr dirty="0">
                <a:latin typeface="Johnson Display" panose="00000500000000000000" pitchFamily="50" charset="0"/>
              </a:rPr>
              <a:t>Your approach suggests: Mechanical Alignment (MA)</a:t>
            </a:r>
          </a:p>
        </p:txBody>
      </p:sp>
      <p:sp>
        <p:nvSpPr>
          <p:cNvPr id="5" name="Rounded Rectangle 4"/>
          <p:cNvSpPr/>
          <p:nvPr/>
        </p:nvSpPr>
        <p:spPr>
          <a:xfrm>
            <a:off x="457200" y="2286000"/>
            <a:ext cx="45720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BD8970DE-766F-EC38-CA44-A197968957F6}"/>
              </a:ext>
            </a:extLst>
          </p:cNvPr>
          <p:cNvSpPr txBox="1"/>
          <p:nvPr/>
        </p:nvSpPr>
        <p:spPr>
          <a:xfrm>
            <a:off x="457200" y="3421851"/>
            <a:ext cx="4572000" cy="2739211"/>
          </a:xfrm>
          <a:prstGeom prst="rect">
            <a:avLst/>
          </a:prstGeom>
          <a:noFill/>
          <a:ln>
            <a:noFill/>
          </a:ln>
        </p:spPr>
        <p:txBody>
          <a:bodyPr wrap="square">
            <a:spAutoFit/>
          </a:bodyPr>
          <a:lstStyle/>
          <a:p>
            <a:endParaRPr lang="en-US" sz="2800" b="0" i="0" u="none" strike="noStrike" baseline="0" dirty="0">
              <a:solidFill>
                <a:srgbClr val="000000"/>
              </a:solidFill>
              <a:latin typeface="J&amp;J Circular Light"/>
            </a:endParaRPr>
          </a:p>
          <a:p>
            <a:pPr marR="134700"/>
            <a:r>
              <a:rPr lang="en-US" sz="1800" b="0" i="0" u="none" strike="noStrike" baseline="0" dirty="0">
                <a:latin typeface="J&amp;J Circular Light"/>
              </a:rPr>
              <a:t>Mechanical Alignment with balancing starts off with standard mechanical alignment that aims for a neutral HKA. The femur position is then adjusted to balance flexion and extension gaps. The tibia proximal resection depths are then adjusted if needed. This technique prioritizes minimizing femur and tibia deviation from neutral</a:t>
            </a:r>
            <a:r>
              <a:rPr lang="en-US" sz="1800" b="0" i="0" u="none" strike="noStrike" baseline="0" dirty="0">
                <a:solidFill>
                  <a:srgbClr val="616369"/>
                </a:solidFill>
                <a:latin typeface="J&amp;J Circular Light"/>
              </a:rPr>
              <a:t>.</a:t>
            </a:r>
            <a:endParaRPr lang="en-US" dirty="0"/>
          </a:p>
        </p:txBody>
      </p:sp>
      <p:pic>
        <p:nvPicPr>
          <p:cNvPr id="12" name="Picture 11" descr="A bone with a red dot&#10;&#10;AI-generated content may be incorrect.">
            <a:extLst>
              <a:ext uri="{FF2B5EF4-FFF2-40B4-BE49-F238E27FC236}">
                <a16:creationId xmlns:a16="http://schemas.microsoft.com/office/drawing/2014/main" id="{191AA666-D1FE-9E25-B342-C6D465FEF555}"/>
              </a:ext>
            </a:extLst>
          </p:cNvPr>
          <p:cNvPicPr>
            <a:picLocks noChangeAspect="1"/>
          </p:cNvPicPr>
          <p:nvPr/>
        </p:nvPicPr>
        <p:blipFill>
          <a:blip r:embed="rId2"/>
          <a:stretch>
            <a:fillRect/>
          </a:stretch>
        </p:blipFill>
        <p:spPr>
          <a:xfrm>
            <a:off x="6982472" y="182880"/>
            <a:ext cx="1972429" cy="646722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4048" y="182880"/>
            <a:ext cx="4709944" cy="584775"/>
          </a:xfrm>
          <a:prstGeom prst="rect">
            <a:avLst/>
          </a:prstGeom>
          <a:noFill/>
        </p:spPr>
        <p:txBody>
          <a:bodyPr wrap="none">
            <a:spAutoFit/>
          </a:bodyPr>
          <a:lstStyle/>
          <a:p>
            <a:pPr>
              <a:defRPr sz="3200"/>
            </a:pPr>
            <a:r>
              <a:rPr>
                <a:latin typeface="Johnson Display" panose="00000500000000000000" pitchFamily="50" charset="0"/>
              </a:rPr>
              <a:t>Kinematic Alignment (KA)</a:t>
            </a:r>
          </a:p>
        </p:txBody>
      </p:sp>
      <p:sp>
        <p:nvSpPr>
          <p:cNvPr id="4" name="TextBox 3"/>
          <p:cNvSpPr txBox="1"/>
          <p:nvPr/>
        </p:nvSpPr>
        <p:spPr>
          <a:xfrm>
            <a:off x="384048" y="1097280"/>
            <a:ext cx="6973384" cy="461665"/>
          </a:xfrm>
          <a:prstGeom prst="rect">
            <a:avLst/>
          </a:prstGeom>
          <a:noFill/>
        </p:spPr>
        <p:txBody>
          <a:bodyPr wrap="none">
            <a:spAutoFit/>
          </a:bodyPr>
          <a:lstStyle/>
          <a:p>
            <a:pPr>
              <a:defRPr sz="2400"/>
            </a:pPr>
            <a:r>
              <a:rPr>
                <a:latin typeface="Johnson Display" panose="00000500000000000000" pitchFamily="50" charset="0"/>
              </a:rPr>
              <a:t>Your approach suggests: Kinematic Alignment (KA)</a:t>
            </a:r>
          </a:p>
        </p:txBody>
      </p:sp>
      <p:sp>
        <p:nvSpPr>
          <p:cNvPr id="5" name="Rounded Rectangle 4"/>
          <p:cNvSpPr/>
          <p:nvPr/>
        </p:nvSpPr>
        <p:spPr>
          <a:xfrm>
            <a:off x="457201" y="2286000"/>
            <a:ext cx="4158072"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bg1"/>
                </a:solidFill>
                <a:latin typeface="Johnson Display" panose="00000500000000000000" pitchFamily="50" charset="0"/>
              </a:rPr>
              <a:t>Restart</a:t>
            </a:r>
          </a:p>
        </p:txBody>
      </p:sp>
      <p:sp>
        <p:nvSpPr>
          <p:cNvPr id="7" name="TextBox 6">
            <a:extLst>
              <a:ext uri="{FF2B5EF4-FFF2-40B4-BE49-F238E27FC236}">
                <a16:creationId xmlns:a16="http://schemas.microsoft.com/office/drawing/2014/main" id="{A1B76532-8E1A-C9C2-28A9-D5C87079DB41}"/>
              </a:ext>
            </a:extLst>
          </p:cNvPr>
          <p:cNvSpPr txBox="1"/>
          <p:nvPr/>
        </p:nvSpPr>
        <p:spPr>
          <a:xfrm>
            <a:off x="384048" y="3302979"/>
            <a:ext cx="4572000" cy="2185214"/>
          </a:xfrm>
          <a:prstGeom prst="rect">
            <a:avLst/>
          </a:prstGeom>
          <a:noFill/>
        </p:spPr>
        <p:txBody>
          <a:bodyPr wrap="square">
            <a:spAutoFit/>
          </a:bodyPr>
          <a:lstStyle/>
          <a:p>
            <a:pPr algn="ctr"/>
            <a:endParaRPr lang="en-US" sz="2800" b="0" i="0" u="none" strike="noStrike" baseline="0" dirty="0">
              <a:latin typeface="J&amp;J Circular Light"/>
            </a:endParaRPr>
          </a:p>
          <a:p>
            <a:pPr marR="133590"/>
            <a:r>
              <a:rPr lang="en-US" sz="1800" b="0" i="0" u="none" strike="noStrike" baseline="0" dirty="0">
                <a:latin typeface="J&amp;J Circular Light"/>
              </a:rPr>
              <a:t>Kinematic Alignment prioritizes restoring the native joint line. The femur is resurfaced first. Next, the tibia is resurfaced. Femoral and tibial resection depths are planned as the implant thickness minus the estimated cartilage and bone wear values. </a:t>
            </a:r>
            <a:endParaRPr lang="en-US" dirty="0"/>
          </a:p>
        </p:txBody>
      </p:sp>
      <p:grpSp>
        <p:nvGrpSpPr>
          <p:cNvPr id="8" name="Group 7">
            <a:extLst>
              <a:ext uri="{FF2B5EF4-FFF2-40B4-BE49-F238E27FC236}">
                <a16:creationId xmlns:a16="http://schemas.microsoft.com/office/drawing/2014/main" id="{20C4292F-B595-69ED-49A6-65FF900C2335}"/>
              </a:ext>
            </a:extLst>
          </p:cNvPr>
          <p:cNvGrpSpPr/>
          <p:nvPr/>
        </p:nvGrpSpPr>
        <p:grpSpPr>
          <a:xfrm>
            <a:off x="6076398" y="-173736"/>
            <a:ext cx="3502756" cy="7006211"/>
            <a:chOff x="392338" y="1480695"/>
            <a:chExt cx="2463800" cy="4497675"/>
          </a:xfrm>
        </p:grpSpPr>
        <p:pic>
          <p:nvPicPr>
            <p:cNvPr id="9" name="Picture 8">
              <a:extLst>
                <a:ext uri="{FF2B5EF4-FFF2-40B4-BE49-F238E27FC236}">
                  <a16:creationId xmlns:a16="http://schemas.microsoft.com/office/drawing/2014/main" id="{47F536A3-2ED5-589A-6A11-91E65E2A09C5}"/>
                </a:ext>
              </a:extLst>
            </p:cNvPr>
            <p:cNvPicPr>
              <a:picLocks noChangeAspect="1"/>
            </p:cNvPicPr>
            <p:nvPr/>
          </p:nvPicPr>
          <p:blipFill rotWithShape="1">
            <a:blip r:embed="rId2"/>
            <a:srcRect b="14881"/>
            <a:stretch/>
          </p:blipFill>
          <p:spPr>
            <a:xfrm rot="21343256">
              <a:off x="392338" y="1480695"/>
              <a:ext cx="2463800" cy="2389045"/>
            </a:xfrm>
            <a:prstGeom prst="rect">
              <a:avLst/>
            </a:prstGeom>
          </p:spPr>
        </p:pic>
        <p:pic>
          <p:nvPicPr>
            <p:cNvPr id="10" name="Picture 9">
              <a:extLst>
                <a:ext uri="{FF2B5EF4-FFF2-40B4-BE49-F238E27FC236}">
                  <a16:creationId xmlns:a16="http://schemas.microsoft.com/office/drawing/2014/main" id="{CFDF1E23-4EB9-9EBC-1AC4-5A5D469479CC}"/>
                </a:ext>
              </a:extLst>
            </p:cNvPr>
            <p:cNvPicPr>
              <a:picLocks noChangeAspect="1"/>
            </p:cNvPicPr>
            <p:nvPr/>
          </p:nvPicPr>
          <p:blipFill rotWithShape="1">
            <a:blip r:embed="rId3"/>
            <a:srcRect t="45967" b="10517"/>
            <a:stretch/>
          </p:blipFill>
          <p:spPr>
            <a:xfrm>
              <a:off x="507191" y="3823012"/>
              <a:ext cx="2285999" cy="2155358"/>
            </a:xfrm>
            <a:prstGeom prst="rect">
              <a:avLst/>
            </a:prstGeom>
          </p:spPr>
        </p:pic>
        <p:cxnSp>
          <p:nvCxnSpPr>
            <p:cNvPr id="11" name="Straight Connector 10">
              <a:extLst>
                <a:ext uri="{FF2B5EF4-FFF2-40B4-BE49-F238E27FC236}">
                  <a16:creationId xmlns:a16="http://schemas.microsoft.com/office/drawing/2014/main" id="{925A4D7E-C35D-559D-1553-F648590235CC}"/>
                </a:ext>
              </a:extLst>
            </p:cNvPr>
            <p:cNvCxnSpPr>
              <a:cxnSpLocks/>
            </p:cNvCxnSpPr>
            <p:nvPr/>
          </p:nvCxnSpPr>
          <p:spPr>
            <a:xfrm flipH="1" flipV="1">
              <a:off x="1697118" y="3968864"/>
              <a:ext cx="323060" cy="1988029"/>
            </a:xfrm>
            <a:prstGeom prst="line">
              <a:avLst/>
            </a:prstGeom>
            <a:noFill/>
            <a:ln w="6350" cap="flat" cmpd="sng" algn="ctr">
              <a:solidFill>
                <a:srgbClr val="4472C4"/>
              </a:solidFill>
              <a:prstDash val="dash"/>
              <a:miter lim="800000"/>
            </a:ln>
            <a:effectLst/>
          </p:spPr>
        </p:cxnSp>
        <p:cxnSp>
          <p:nvCxnSpPr>
            <p:cNvPr id="12" name="Straight Connector 11">
              <a:extLst>
                <a:ext uri="{FF2B5EF4-FFF2-40B4-BE49-F238E27FC236}">
                  <a16:creationId xmlns:a16="http://schemas.microsoft.com/office/drawing/2014/main" id="{446DC0B7-22C4-10C5-756C-9334DC0CB89C}"/>
                </a:ext>
              </a:extLst>
            </p:cNvPr>
            <p:cNvCxnSpPr>
              <a:cxnSpLocks/>
            </p:cNvCxnSpPr>
            <p:nvPr/>
          </p:nvCxnSpPr>
          <p:spPr>
            <a:xfrm flipV="1">
              <a:off x="1809548" y="1571965"/>
              <a:ext cx="383351" cy="2261458"/>
            </a:xfrm>
            <a:prstGeom prst="line">
              <a:avLst/>
            </a:prstGeom>
            <a:noFill/>
            <a:ln w="6350" cap="flat" cmpd="sng" algn="ctr">
              <a:solidFill>
                <a:srgbClr val="4472C4"/>
              </a:solidFill>
              <a:prstDash val="dash"/>
              <a:miter lim="800000"/>
            </a:ln>
            <a:effectLst/>
          </p:spPr>
        </p:cxnSp>
        <p:cxnSp>
          <p:nvCxnSpPr>
            <p:cNvPr id="13" name="Straight Connector 12">
              <a:extLst>
                <a:ext uri="{FF2B5EF4-FFF2-40B4-BE49-F238E27FC236}">
                  <a16:creationId xmlns:a16="http://schemas.microsoft.com/office/drawing/2014/main" id="{62F34B1B-B98C-92F6-A5F5-1ED0A6C2A44B}"/>
                </a:ext>
              </a:extLst>
            </p:cNvPr>
            <p:cNvCxnSpPr>
              <a:cxnSpLocks/>
            </p:cNvCxnSpPr>
            <p:nvPr/>
          </p:nvCxnSpPr>
          <p:spPr>
            <a:xfrm flipV="1">
              <a:off x="1709252" y="1576980"/>
              <a:ext cx="32303" cy="2279335"/>
            </a:xfrm>
            <a:prstGeom prst="line">
              <a:avLst/>
            </a:prstGeom>
            <a:noFill/>
            <a:ln w="9525" cap="flat" cmpd="sng" algn="ctr">
              <a:solidFill>
                <a:sysClr val="windowText" lastClr="000000"/>
              </a:solidFill>
              <a:prstDash val="dash"/>
              <a:miter lim="800000"/>
            </a:ln>
            <a:effectLst/>
          </p:spPr>
        </p:cxnSp>
        <p:cxnSp>
          <p:nvCxnSpPr>
            <p:cNvPr id="14" name="Straight Connector 13">
              <a:extLst>
                <a:ext uri="{FF2B5EF4-FFF2-40B4-BE49-F238E27FC236}">
                  <a16:creationId xmlns:a16="http://schemas.microsoft.com/office/drawing/2014/main" id="{190AFEE1-CD5F-53F1-66D3-C3A9EEF3B823}"/>
                </a:ext>
              </a:extLst>
            </p:cNvPr>
            <p:cNvCxnSpPr>
              <a:cxnSpLocks/>
            </p:cNvCxnSpPr>
            <p:nvPr/>
          </p:nvCxnSpPr>
          <p:spPr>
            <a:xfrm flipV="1">
              <a:off x="869905" y="3805928"/>
              <a:ext cx="1603163" cy="127645"/>
            </a:xfrm>
            <a:prstGeom prst="line">
              <a:avLst/>
            </a:prstGeom>
            <a:noFill/>
            <a:ln w="22225" cap="flat" cmpd="dbl" algn="ctr">
              <a:solidFill>
                <a:srgbClr val="2E8800"/>
              </a:solidFill>
              <a:prstDash val="solid"/>
              <a:miter lim="800000"/>
            </a:ln>
            <a:effectLst/>
          </p:spPr>
        </p:cxnSp>
        <p:cxnSp>
          <p:nvCxnSpPr>
            <p:cNvPr id="15" name="Straight Connector 14">
              <a:extLst>
                <a:ext uri="{FF2B5EF4-FFF2-40B4-BE49-F238E27FC236}">
                  <a16:creationId xmlns:a16="http://schemas.microsoft.com/office/drawing/2014/main" id="{3A59E72E-F485-86D0-6E5E-020F3F29D95C}"/>
                </a:ext>
              </a:extLst>
            </p:cNvPr>
            <p:cNvCxnSpPr>
              <a:cxnSpLocks/>
            </p:cNvCxnSpPr>
            <p:nvPr/>
          </p:nvCxnSpPr>
          <p:spPr>
            <a:xfrm flipV="1">
              <a:off x="979945" y="4055432"/>
              <a:ext cx="1560962" cy="186752"/>
            </a:xfrm>
            <a:prstGeom prst="line">
              <a:avLst/>
            </a:prstGeom>
            <a:noFill/>
            <a:ln w="22225" cap="flat" cmpd="sng" algn="ctr">
              <a:solidFill>
                <a:schemeClr val="tx1">
                  <a:lumMod val="50000"/>
                  <a:lumOff val="50000"/>
                </a:schemeClr>
              </a:solidFill>
              <a:prstDash val="dash"/>
              <a:miter lim="800000"/>
            </a:ln>
            <a:effectLst/>
          </p:spPr>
        </p:cxnSp>
        <p:cxnSp>
          <p:nvCxnSpPr>
            <p:cNvPr id="16" name="Straight Connector 15">
              <a:extLst>
                <a:ext uri="{FF2B5EF4-FFF2-40B4-BE49-F238E27FC236}">
                  <a16:creationId xmlns:a16="http://schemas.microsoft.com/office/drawing/2014/main" id="{7E09FE88-3CC9-54AF-36FA-64C5CA51CADE}"/>
                </a:ext>
              </a:extLst>
            </p:cNvPr>
            <p:cNvCxnSpPr>
              <a:cxnSpLocks/>
            </p:cNvCxnSpPr>
            <p:nvPr/>
          </p:nvCxnSpPr>
          <p:spPr>
            <a:xfrm>
              <a:off x="967050" y="4253219"/>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17" name="Straight Arrow Connector 16">
              <a:extLst>
                <a:ext uri="{FF2B5EF4-FFF2-40B4-BE49-F238E27FC236}">
                  <a16:creationId xmlns:a16="http://schemas.microsoft.com/office/drawing/2014/main" id="{BC8014BC-28A8-A981-839F-6B573A75995C}"/>
                </a:ext>
              </a:extLst>
            </p:cNvPr>
            <p:cNvCxnSpPr/>
            <p:nvPr/>
          </p:nvCxnSpPr>
          <p:spPr>
            <a:xfrm flipV="1">
              <a:off x="2570213" y="3970196"/>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531820C-AFE7-D11B-6EFF-88AC15A0C719}"/>
                </a:ext>
              </a:extLst>
            </p:cNvPr>
            <p:cNvCxnSpPr>
              <a:cxnSpLocks/>
            </p:cNvCxnSpPr>
            <p:nvPr/>
          </p:nvCxnSpPr>
          <p:spPr>
            <a:xfrm>
              <a:off x="2570213" y="4191000"/>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FFE4C76-EEA8-70BC-8954-BE9B3A63E9AD}"/>
                </a:ext>
              </a:extLst>
            </p:cNvPr>
            <p:cNvCxnSpPr>
              <a:cxnSpLocks/>
            </p:cNvCxnSpPr>
            <p:nvPr/>
          </p:nvCxnSpPr>
          <p:spPr>
            <a:xfrm flipV="1">
              <a:off x="978625" y="4164607"/>
              <a:ext cx="1591588" cy="87893"/>
            </a:xfrm>
            <a:prstGeom prst="line">
              <a:avLst/>
            </a:prstGeom>
            <a:noFill/>
            <a:ln w="22225" cap="flat" cmpd="sng" algn="ctr">
              <a:solidFill>
                <a:schemeClr val="tx1"/>
              </a:solidFill>
              <a:prstDash val="dash"/>
              <a:miter lim="800000"/>
            </a:ln>
            <a:effectLst/>
          </p:spPr>
        </p:cxnSp>
        <p:sp>
          <p:nvSpPr>
            <p:cNvPr id="20" name="Rectangle 19">
              <a:extLst>
                <a:ext uri="{FF2B5EF4-FFF2-40B4-BE49-F238E27FC236}">
                  <a16:creationId xmlns:a16="http://schemas.microsoft.com/office/drawing/2014/main" id="{27CE0084-75EB-455C-AA82-42C1FCB4FA18}"/>
                </a:ext>
              </a:extLst>
            </p:cNvPr>
            <p:cNvSpPr/>
            <p:nvPr/>
          </p:nvSpPr>
          <p:spPr>
            <a:xfrm>
              <a:off x="2245462" y="3299116"/>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sp>
          <p:nvSpPr>
            <p:cNvPr id="21" name="Rectangle 20">
              <a:extLst>
                <a:ext uri="{FF2B5EF4-FFF2-40B4-BE49-F238E27FC236}">
                  <a16:creationId xmlns:a16="http://schemas.microsoft.com/office/drawing/2014/main" id="{59C877B8-20A4-70A5-3C90-4B9589E9609A}"/>
                </a:ext>
              </a:extLst>
            </p:cNvPr>
            <p:cNvSpPr/>
            <p:nvPr/>
          </p:nvSpPr>
          <p:spPr>
            <a:xfrm>
              <a:off x="2254028" y="4339288"/>
              <a:ext cx="455211" cy="268669"/>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grpSp>
      <p:grpSp>
        <p:nvGrpSpPr>
          <p:cNvPr id="22" name="Group 21">
            <a:extLst>
              <a:ext uri="{FF2B5EF4-FFF2-40B4-BE49-F238E27FC236}">
                <a16:creationId xmlns:a16="http://schemas.microsoft.com/office/drawing/2014/main" id="{A2F8BA8F-EE78-2AE8-B501-AE6A88AD7C60}"/>
              </a:ext>
            </a:extLst>
          </p:cNvPr>
          <p:cNvGrpSpPr/>
          <p:nvPr/>
        </p:nvGrpSpPr>
        <p:grpSpPr>
          <a:xfrm>
            <a:off x="4583126" y="4395995"/>
            <a:ext cx="2585277" cy="2450253"/>
            <a:chOff x="9765030" y="5172040"/>
            <a:chExt cx="1435695" cy="1335612"/>
          </a:xfrm>
        </p:grpSpPr>
        <p:pic>
          <p:nvPicPr>
            <p:cNvPr id="23" name="Picture 22">
              <a:extLst>
                <a:ext uri="{FF2B5EF4-FFF2-40B4-BE49-F238E27FC236}">
                  <a16:creationId xmlns:a16="http://schemas.microsoft.com/office/drawing/2014/main" id="{54A5B636-3681-0EE7-3492-84A00A6C5E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69594" y="5172040"/>
              <a:ext cx="791818" cy="693468"/>
            </a:xfrm>
            <a:prstGeom prst="rect">
              <a:avLst/>
            </a:prstGeom>
          </p:spPr>
        </p:pic>
        <p:grpSp>
          <p:nvGrpSpPr>
            <p:cNvPr id="24" name="Group 23">
              <a:extLst>
                <a:ext uri="{FF2B5EF4-FFF2-40B4-BE49-F238E27FC236}">
                  <a16:creationId xmlns:a16="http://schemas.microsoft.com/office/drawing/2014/main" id="{560CBFD9-DBE3-BE6D-3DCB-95FBDAD347AF}"/>
                </a:ext>
              </a:extLst>
            </p:cNvPr>
            <p:cNvGrpSpPr/>
            <p:nvPr/>
          </p:nvGrpSpPr>
          <p:grpSpPr>
            <a:xfrm>
              <a:off x="9834397" y="5498304"/>
              <a:ext cx="1366328" cy="367205"/>
              <a:chOff x="657225" y="2665021"/>
              <a:chExt cx="5603810" cy="1382449"/>
            </a:xfrm>
          </p:grpSpPr>
          <p:cxnSp>
            <p:nvCxnSpPr>
              <p:cNvPr id="26" name="Straight Connector 25">
                <a:extLst>
                  <a:ext uri="{FF2B5EF4-FFF2-40B4-BE49-F238E27FC236}">
                    <a16:creationId xmlns:a16="http://schemas.microsoft.com/office/drawing/2014/main" id="{E6264DE6-8D68-4111-2C78-2095BA5A18C2}"/>
                  </a:ext>
                </a:extLst>
              </p:cNvPr>
              <p:cNvCxnSpPr>
                <a:cxnSpLocks/>
              </p:cNvCxnSpPr>
              <p:nvPr/>
            </p:nvCxnSpPr>
            <p:spPr>
              <a:xfrm>
                <a:off x="657225" y="3576869"/>
                <a:ext cx="3475874" cy="0"/>
              </a:xfrm>
              <a:prstGeom prst="line">
                <a:avLst/>
              </a:prstGeom>
              <a:ln w="1270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E498AE3-256C-17A0-2179-146F6D7346B2}"/>
                  </a:ext>
                </a:extLst>
              </p:cNvPr>
              <p:cNvSpPr txBox="1"/>
              <p:nvPr/>
            </p:nvSpPr>
            <p:spPr>
              <a:xfrm>
                <a:off x="4101936" y="2665021"/>
                <a:ext cx="2159099" cy="962517"/>
              </a:xfrm>
              <a:prstGeom prst="rect">
                <a:avLst/>
              </a:prstGeom>
              <a:noFill/>
            </p:spPr>
            <p:txBody>
              <a:bodyPr wrap="square" rtlCol="0">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0</a:t>
                </a:r>
                <a:r>
                  <a:rPr kumimoji="0" lang="en-US" sz="1600" b="0" i="0" u="none" strike="noStrike" kern="120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120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cxnSp>
            <p:nvCxnSpPr>
              <p:cNvPr id="28" name="Straight Connector 27">
                <a:extLst>
                  <a:ext uri="{FF2B5EF4-FFF2-40B4-BE49-F238E27FC236}">
                    <a16:creationId xmlns:a16="http://schemas.microsoft.com/office/drawing/2014/main" id="{2027F123-E9EC-638F-8EBE-7C9E91FD352B}"/>
                  </a:ext>
                </a:extLst>
              </p:cNvPr>
              <p:cNvCxnSpPr>
                <a:cxnSpLocks/>
              </p:cNvCxnSpPr>
              <p:nvPr/>
            </p:nvCxnSpPr>
            <p:spPr>
              <a:xfrm>
                <a:off x="831100" y="4047470"/>
                <a:ext cx="330200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pic>
          <p:nvPicPr>
            <p:cNvPr id="25" name="Picture 24">
              <a:extLst>
                <a:ext uri="{FF2B5EF4-FFF2-40B4-BE49-F238E27FC236}">
                  <a16:creationId xmlns:a16="http://schemas.microsoft.com/office/drawing/2014/main" id="{65D041DA-BAE9-CFC7-F791-638A0AEAF5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5030" y="5933739"/>
              <a:ext cx="896382" cy="573913"/>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7472" y="182880"/>
            <a:ext cx="6183103" cy="584775"/>
          </a:xfrm>
          <a:prstGeom prst="rect">
            <a:avLst/>
          </a:prstGeom>
          <a:noFill/>
        </p:spPr>
        <p:txBody>
          <a:bodyPr wrap="none">
            <a:spAutoFit/>
          </a:bodyPr>
          <a:lstStyle/>
          <a:p>
            <a:pPr>
              <a:defRPr sz="3200"/>
            </a:pPr>
            <a:r>
              <a:rPr>
                <a:latin typeface="Johnson Display" panose="00000500000000000000" pitchFamily="50" charset="0"/>
              </a:rPr>
              <a:t>Inverse Kinematic Alignment (iKA)</a:t>
            </a:r>
          </a:p>
        </p:txBody>
      </p:sp>
      <p:sp>
        <p:nvSpPr>
          <p:cNvPr id="4" name="TextBox 3"/>
          <p:cNvSpPr txBox="1"/>
          <p:nvPr/>
        </p:nvSpPr>
        <p:spPr>
          <a:xfrm>
            <a:off x="347472" y="1097280"/>
            <a:ext cx="6218853" cy="830997"/>
          </a:xfrm>
          <a:prstGeom prst="rect">
            <a:avLst/>
          </a:prstGeom>
          <a:noFill/>
        </p:spPr>
        <p:txBody>
          <a:bodyPr wrap="square">
            <a:spAutoFit/>
          </a:bodyPr>
          <a:lstStyle/>
          <a:p>
            <a:pPr>
              <a:defRPr sz="2400"/>
            </a:pPr>
            <a:r>
              <a:rPr dirty="0">
                <a:latin typeface="Johnson Display" panose="00000500000000000000" pitchFamily="50" charset="0"/>
              </a:rPr>
              <a:t>Your approach suggests: Inverse Kinematic Alignment (</a:t>
            </a:r>
            <a:r>
              <a:rPr dirty="0" err="1">
                <a:latin typeface="Johnson Display" panose="00000500000000000000" pitchFamily="50" charset="0"/>
              </a:rPr>
              <a:t>iKA</a:t>
            </a:r>
            <a:r>
              <a:rPr dirty="0">
                <a:latin typeface="Johnson Display" panose="00000500000000000000" pitchFamily="50" charset="0"/>
              </a:rPr>
              <a:t>)</a:t>
            </a:r>
          </a:p>
        </p:txBody>
      </p:sp>
      <p:sp>
        <p:nvSpPr>
          <p:cNvPr id="5" name="Rounded Rectangle 4"/>
          <p:cNvSpPr/>
          <p:nvPr/>
        </p:nvSpPr>
        <p:spPr>
          <a:xfrm>
            <a:off x="457200" y="2039112"/>
            <a:ext cx="4919472" cy="731520"/>
          </a:xfrm>
          <a:prstGeom prst="round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FBE35F52-8803-0E0A-73C3-8B9A2CD6F8E8}"/>
              </a:ext>
            </a:extLst>
          </p:cNvPr>
          <p:cNvSpPr txBox="1"/>
          <p:nvPr/>
        </p:nvSpPr>
        <p:spPr>
          <a:xfrm>
            <a:off x="385394" y="2970228"/>
            <a:ext cx="5092239" cy="3693319"/>
          </a:xfrm>
          <a:prstGeom prst="rect">
            <a:avLst/>
          </a:prstGeom>
          <a:noFill/>
        </p:spPr>
        <p:txBody>
          <a:bodyPr wrap="square">
            <a:spAutoFit/>
          </a:bodyPr>
          <a:lstStyle/>
          <a:p>
            <a:pPr marR="131690"/>
            <a:r>
              <a:rPr lang="en-US" sz="1800" b="0" i="0" u="none" strike="noStrike" baseline="0" dirty="0">
                <a:latin typeface="J&amp;J Circular Light"/>
              </a:rPr>
              <a:t>Inverse Kinematic Alignment aims to resurface the proximal tibia back to its pre-arthritic state. The tibial resection thickness assumes the minimum tibial insert is used and is equal to implant thickness minus cartilage and bone wear. The tibia is resurfaced, and osteophytes are resected. The soft tissues of the knee are assessed using the CAS tensioner and ACCUBALANCE™ Graph before proceeding with the femoral resections. The femoral resection depth and angulations are planned in a way to balance gaps using the ACCUBALANCE</a:t>
            </a:r>
            <a:r>
              <a:rPr lang="en-US" dirty="0">
                <a:latin typeface="J&amp;J Circular Light"/>
              </a:rPr>
              <a:t> </a:t>
            </a:r>
            <a:r>
              <a:rPr lang="en-US" sz="1800" b="0" i="0" u="none" strike="noStrike" baseline="0" dirty="0">
                <a:latin typeface="J&amp;J Circular Light"/>
              </a:rPr>
              <a:t>Graph and obtain the intended soft tissue balance of the knee.</a:t>
            </a:r>
            <a:endParaRPr lang="en-US" dirty="0"/>
          </a:p>
        </p:txBody>
      </p:sp>
      <p:grpSp>
        <p:nvGrpSpPr>
          <p:cNvPr id="8" name="Group 7">
            <a:extLst>
              <a:ext uri="{FF2B5EF4-FFF2-40B4-BE49-F238E27FC236}">
                <a16:creationId xmlns:a16="http://schemas.microsoft.com/office/drawing/2014/main" id="{AAE59DC6-6B37-361C-7D4B-44D52DE6CEBD}"/>
              </a:ext>
            </a:extLst>
          </p:cNvPr>
          <p:cNvGrpSpPr/>
          <p:nvPr/>
        </p:nvGrpSpPr>
        <p:grpSpPr>
          <a:xfrm>
            <a:off x="6107767" y="-10408"/>
            <a:ext cx="3991821" cy="6868408"/>
            <a:chOff x="5662193" y="1920549"/>
            <a:chExt cx="2667619" cy="4589959"/>
          </a:xfrm>
        </p:grpSpPr>
        <p:grpSp>
          <p:nvGrpSpPr>
            <p:cNvPr id="9" name="Group 8">
              <a:extLst>
                <a:ext uri="{FF2B5EF4-FFF2-40B4-BE49-F238E27FC236}">
                  <a16:creationId xmlns:a16="http://schemas.microsoft.com/office/drawing/2014/main" id="{B549F8F7-6EB4-C38D-9E3F-E05A056D97AD}"/>
                </a:ext>
              </a:extLst>
            </p:cNvPr>
            <p:cNvGrpSpPr/>
            <p:nvPr/>
          </p:nvGrpSpPr>
          <p:grpSpPr>
            <a:xfrm>
              <a:off x="5662193" y="1920549"/>
              <a:ext cx="2667619" cy="4589959"/>
              <a:chOff x="6019177" y="2115634"/>
              <a:chExt cx="1981200" cy="3338941"/>
            </a:xfrm>
          </p:grpSpPr>
          <p:pic>
            <p:nvPicPr>
              <p:cNvPr id="12" name="Picture 11">
                <a:extLst>
                  <a:ext uri="{FF2B5EF4-FFF2-40B4-BE49-F238E27FC236}">
                    <a16:creationId xmlns:a16="http://schemas.microsoft.com/office/drawing/2014/main" id="{746152D0-B8FC-6328-01E6-98FA190B84BE}"/>
                  </a:ext>
                </a:extLst>
              </p:cNvPr>
              <p:cNvPicPr>
                <a:picLocks noChangeAspect="1"/>
              </p:cNvPicPr>
              <p:nvPr/>
            </p:nvPicPr>
            <p:blipFill rotWithShape="1">
              <a:blip r:embed="rId2"/>
              <a:srcRect b="21200"/>
              <a:stretch/>
            </p:blipFill>
            <p:spPr>
              <a:xfrm>
                <a:off x="6019177" y="3993473"/>
                <a:ext cx="1981200" cy="1461102"/>
              </a:xfrm>
              <a:prstGeom prst="rect">
                <a:avLst/>
              </a:prstGeom>
            </p:spPr>
          </p:pic>
          <p:grpSp>
            <p:nvGrpSpPr>
              <p:cNvPr id="13" name="Group 12">
                <a:extLst>
                  <a:ext uri="{FF2B5EF4-FFF2-40B4-BE49-F238E27FC236}">
                    <a16:creationId xmlns:a16="http://schemas.microsoft.com/office/drawing/2014/main" id="{1AC232CA-9ED4-CABC-0A06-5BC4C041FFD1}"/>
                  </a:ext>
                </a:extLst>
              </p:cNvPr>
              <p:cNvGrpSpPr/>
              <p:nvPr/>
            </p:nvGrpSpPr>
            <p:grpSpPr>
              <a:xfrm>
                <a:off x="6109275" y="2115634"/>
                <a:ext cx="1750755" cy="3332580"/>
                <a:chOff x="3904220" y="1602585"/>
                <a:chExt cx="2302648" cy="4468803"/>
              </a:xfrm>
            </p:grpSpPr>
            <p:cxnSp>
              <p:nvCxnSpPr>
                <p:cNvPr id="14" name="Straight Connector 13">
                  <a:extLst>
                    <a:ext uri="{FF2B5EF4-FFF2-40B4-BE49-F238E27FC236}">
                      <a16:creationId xmlns:a16="http://schemas.microsoft.com/office/drawing/2014/main" id="{4F035066-930D-35F2-660E-8E73BB342026}"/>
                    </a:ext>
                  </a:extLst>
                </p:cNvPr>
                <p:cNvCxnSpPr>
                  <a:cxnSpLocks/>
                </p:cNvCxnSpPr>
                <p:nvPr/>
              </p:nvCxnSpPr>
              <p:spPr>
                <a:xfrm flipV="1">
                  <a:off x="4360225" y="4205128"/>
                  <a:ext cx="1603163" cy="105492"/>
                </a:xfrm>
                <a:prstGeom prst="line">
                  <a:avLst/>
                </a:prstGeom>
                <a:noFill/>
                <a:ln w="22225" cap="flat" cmpd="dbl" algn="ctr">
                  <a:solidFill>
                    <a:srgbClr val="2E8800"/>
                  </a:solidFill>
                  <a:prstDash val="solid"/>
                  <a:miter lim="800000"/>
                </a:ln>
                <a:effectLst/>
              </p:spPr>
            </p:cxnSp>
            <p:sp>
              <p:nvSpPr>
                <p:cNvPr id="15" name="Rectangle 14">
                  <a:extLst>
                    <a:ext uri="{FF2B5EF4-FFF2-40B4-BE49-F238E27FC236}">
                      <a16:creationId xmlns:a16="http://schemas.microsoft.com/office/drawing/2014/main" id="{45AC9C31-1727-FF3C-50DB-7DAB0AE4A82E}"/>
                    </a:ext>
                  </a:extLst>
                </p:cNvPr>
                <p:cNvSpPr/>
                <p:nvPr/>
              </p:nvSpPr>
              <p:spPr>
                <a:xfrm>
                  <a:off x="5730705" y="4225815"/>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1.</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pic>
              <p:nvPicPr>
                <p:cNvPr id="16" name="Picture 15">
                  <a:extLst>
                    <a:ext uri="{FF2B5EF4-FFF2-40B4-BE49-F238E27FC236}">
                      <a16:creationId xmlns:a16="http://schemas.microsoft.com/office/drawing/2014/main" id="{ACB887C1-59ED-AF68-5F59-F5D0D4408F19}"/>
                    </a:ext>
                  </a:extLst>
                </p:cNvPr>
                <p:cNvPicPr>
                  <a:picLocks noChangeAspect="1"/>
                </p:cNvPicPr>
                <p:nvPr/>
              </p:nvPicPr>
              <p:blipFill rotWithShape="1">
                <a:blip r:embed="rId3"/>
                <a:srcRect b="48718"/>
                <a:stretch/>
              </p:blipFill>
              <p:spPr>
                <a:xfrm>
                  <a:off x="3904220" y="1604612"/>
                  <a:ext cx="2286000" cy="2533450"/>
                </a:xfrm>
                <a:prstGeom prst="rect">
                  <a:avLst/>
                </a:prstGeom>
              </p:spPr>
            </p:pic>
            <p:cxnSp>
              <p:nvCxnSpPr>
                <p:cNvPr id="17" name="Straight Connector 16">
                  <a:extLst>
                    <a:ext uri="{FF2B5EF4-FFF2-40B4-BE49-F238E27FC236}">
                      <a16:creationId xmlns:a16="http://schemas.microsoft.com/office/drawing/2014/main" id="{F318AF75-C32C-C8F2-5FD6-EC54BB6C0577}"/>
                    </a:ext>
                  </a:extLst>
                </p:cNvPr>
                <p:cNvCxnSpPr>
                  <a:cxnSpLocks/>
                </p:cNvCxnSpPr>
                <p:nvPr/>
              </p:nvCxnSpPr>
              <p:spPr>
                <a:xfrm flipV="1">
                  <a:off x="5146819" y="1602585"/>
                  <a:ext cx="454583" cy="2373876"/>
                </a:xfrm>
                <a:prstGeom prst="line">
                  <a:avLst/>
                </a:prstGeom>
                <a:noFill/>
                <a:ln w="6350" cap="flat" cmpd="sng" algn="ctr">
                  <a:solidFill>
                    <a:srgbClr val="4472C4"/>
                  </a:solidFill>
                  <a:prstDash val="dash"/>
                  <a:miter lim="800000"/>
                </a:ln>
                <a:effectLst/>
              </p:spPr>
            </p:cxnSp>
            <p:cxnSp>
              <p:nvCxnSpPr>
                <p:cNvPr id="18" name="Straight Connector 17">
                  <a:extLst>
                    <a:ext uri="{FF2B5EF4-FFF2-40B4-BE49-F238E27FC236}">
                      <a16:creationId xmlns:a16="http://schemas.microsoft.com/office/drawing/2014/main" id="{4B6C1D9C-01D3-6043-8E43-19D0C724E134}"/>
                    </a:ext>
                  </a:extLst>
                </p:cNvPr>
                <p:cNvCxnSpPr>
                  <a:cxnSpLocks/>
                </p:cNvCxnSpPr>
                <p:nvPr/>
              </p:nvCxnSpPr>
              <p:spPr>
                <a:xfrm flipH="1" flipV="1">
                  <a:off x="5114767" y="4235542"/>
                  <a:ext cx="318194" cy="1835846"/>
                </a:xfrm>
                <a:prstGeom prst="line">
                  <a:avLst/>
                </a:prstGeom>
                <a:noFill/>
                <a:ln w="6350" cap="flat" cmpd="sng" algn="ctr">
                  <a:solidFill>
                    <a:srgbClr val="4472C4"/>
                  </a:solidFill>
                  <a:prstDash val="dash"/>
                  <a:miter lim="800000"/>
                </a:ln>
                <a:effectLst/>
              </p:spPr>
            </p:cxnSp>
            <p:cxnSp>
              <p:nvCxnSpPr>
                <p:cNvPr id="19" name="Straight Connector 18">
                  <a:extLst>
                    <a:ext uri="{FF2B5EF4-FFF2-40B4-BE49-F238E27FC236}">
                      <a16:creationId xmlns:a16="http://schemas.microsoft.com/office/drawing/2014/main" id="{6B452B72-0C5C-47DF-9AED-6D7524EE5D77}"/>
                    </a:ext>
                  </a:extLst>
                </p:cNvPr>
                <p:cNvCxnSpPr>
                  <a:cxnSpLocks/>
                </p:cNvCxnSpPr>
                <p:nvPr/>
              </p:nvCxnSpPr>
              <p:spPr>
                <a:xfrm flipV="1">
                  <a:off x="5118610" y="1602585"/>
                  <a:ext cx="40071" cy="2373875"/>
                </a:xfrm>
                <a:prstGeom prst="line">
                  <a:avLst/>
                </a:prstGeom>
                <a:noFill/>
                <a:ln w="9525" cap="flat" cmpd="sng" algn="ctr">
                  <a:solidFill>
                    <a:sysClr val="windowText" lastClr="000000"/>
                  </a:solidFill>
                  <a:prstDash val="dash"/>
                  <a:miter lim="800000"/>
                </a:ln>
                <a:effectLst/>
              </p:spPr>
            </p:cxnSp>
            <p:cxnSp>
              <p:nvCxnSpPr>
                <p:cNvPr id="20" name="Straight Connector 19">
                  <a:extLst>
                    <a:ext uri="{FF2B5EF4-FFF2-40B4-BE49-F238E27FC236}">
                      <a16:creationId xmlns:a16="http://schemas.microsoft.com/office/drawing/2014/main" id="{6CFC1C6B-8109-CA37-53AC-964292FFE80B}"/>
                    </a:ext>
                  </a:extLst>
                </p:cNvPr>
                <p:cNvCxnSpPr>
                  <a:cxnSpLocks/>
                </p:cNvCxnSpPr>
                <p:nvPr/>
              </p:nvCxnSpPr>
              <p:spPr>
                <a:xfrm>
                  <a:off x="4314786" y="3891406"/>
                  <a:ext cx="1603163" cy="62277"/>
                </a:xfrm>
                <a:prstGeom prst="line">
                  <a:avLst/>
                </a:prstGeom>
                <a:noFill/>
                <a:ln w="22225" cap="flat" cmpd="sng" algn="ctr">
                  <a:solidFill>
                    <a:schemeClr val="tx1">
                      <a:lumMod val="50000"/>
                      <a:lumOff val="50000"/>
                    </a:schemeClr>
                  </a:solidFill>
                  <a:prstDash val="dash"/>
                  <a:miter lim="800000"/>
                </a:ln>
                <a:effectLst/>
              </p:spPr>
            </p:cxnSp>
            <p:cxnSp>
              <p:nvCxnSpPr>
                <p:cNvPr id="21" name="Straight Arrow Connector 20">
                  <a:extLst>
                    <a:ext uri="{FF2B5EF4-FFF2-40B4-BE49-F238E27FC236}">
                      <a16:creationId xmlns:a16="http://schemas.microsoft.com/office/drawing/2014/main" id="{C4728B0F-26E7-8855-6AF8-E12FAD734192}"/>
                    </a:ext>
                  </a:extLst>
                </p:cNvPr>
                <p:cNvCxnSpPr/>
                <p:nvPr/>
              </p:nvCxnSpPr>
              <p:spPr>
                <a:xfrm flipV="1">
                  <a:off x="5978268" y="3501128"/>
                  <a:ext cx="0" cy="2208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A26BEAB-E9D0-2582-B89E-250F1409A108}"/>
                    </a:ext>
                  </a:extLst>
                </p:cNvPr>
                <p:cNvCxnSpPr>
                  <a:cxnSpLocks/>
                </p:cNvCxnSpPr>
                <p:nvPr/>
              </p:nvCxnSpPr>
              <p:spPr>
                <a:xfrm>
                  <a:off x="5978268" y="3815808"/>
                  <a:ext cx="0" cy="197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36376DA-BE5D-8BE9-9A46-863B369578C1}"/>
                    </a:ext>
                  </a:extLst>
                </p:cNvPr>
                <p:cNvSpPr/>
                <p:nvPr/>
              </p:nvSpPr>
              <p:spPr>
                <a:xfrm>
                  <a:off x="5712997" y="3163161"/>
                  <a:ext cx="455211" cy="270202"/>
                </a:xfrm>
                <a:prstGeom prst="rect">
                  <a:avLst/>
                </a:prstGeom>
              </p:spPr>
              <p:txBody>
                <a:bodyPr wrap="square">
                  <a:spAutoFit/>
                </a:bodyPr>
                <a:lstStyle/>
                <a:p>
                  <a:pPr marL="0" marR="0" lvl="0" indent="0" algn="l" defTabSz="509588"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Calibri"/>
                    </a:rPr>
                    <a:t>2.</a:t>
                  </a:r>
                  <a:endParaRPr kumimoji="0" lang="en-US" sz="1200" b="0" i="0" u="none" strike="noStrike" kern="1200" cap="none" spc="0" normalizeH="0" baseline="0" noProof="0">
                    <a:ln>
                      <a:noFill/>
                    </a:ln>
                    <a:solidFill>
                      <a:srgbClr val="EEECE1">
                        <a:lumMod val="50000"/>
                      </a:srgbClr>
                    </a:solidFill>
                    <a:effectLst/>
                    <a:uLnTx/>
                    <a:uFillTx/>
                    <a:latin typeface="+mj-lt"/>
                    <a:ea typeface="ＭＳ Ｐゴシック" pitchFamily="38" charset="-128"/>
                    <a:cs typeface="+mn-cs"/>
                  </a:endParaRPr>
                </a:p>
              </p:txBody>
            </p:sp>
            <p:cxnSp>
              <p:nvCxnSpPr>
                <p:cNvPr id="24" name="Straight Connector 23">
                  <a:extLst>
                    <a:ext uri="{FF2B5EF4-FFF2-40B4-BE49-F238E27FC236}">
                      <a16:creationId xmlns:a16="http://schemas.microsoft.com/office/drawing/2014/main" id="{CE8F7C3C-BA2C-A01D-512A-496DB88FF6FD}"/>
                    </a:ext>
                  </a:extLst>
                </p:cNvPr>
                <p:cNvCxnSpPr>
                  <a:cxnSpLocks/>
                </p:cNvCxnSpPr>
                <p:nvPr/>
              </p:nvCxnSpPr>
              <p:spPr>
                <a:xfrm flipV="1">
                  <a:off x="4314786" y="3606698"/>
                  <a:ext cx="1603163" cy="259809"/>
                </a:xfrm>
                <a:prstGeom prst="line">
                  <a:avLst/>
                </a:prstGeom>
                <a:noFill/>
                <a:ln w="22225" cap="flat" cmpd="sng" algn="ctr">
                  <a:solidFill>
                    <a:schemeClr val="tx1">
                      <a:lumMod val="50000"/>
                      <a:lumOff val="50000"/>
                    </a:schemeClr>
                  </a:solidFill>
                  <a:prstDash val="dash"/>
                  <a:miter lim="800000"/>
                </a:ln>
                <a:effectLst/>
              </p:spPr>
            </p:cxnSp>
            <p:cxnSp>
              <p:nvCxnSpPr>
                <p:cNvPr id="25" name="Straight Connector 24">
                  <a:extLst>
                    <a:ext uri="{FF2B5EF4-FFF2-40B4-BE49-F238E27FC236}">
                      <a16:creationId xmlns:a16="http://schemas.microsoft.com/office/drawing/2014/main" id="{C15319AA-8F77-110D-3B71-8D9DD3FB8794}"/>
                    </a:ext>
                  </a:extLst>
                </p:cNvPr>
                <p:cNvCxnSpPr>
                  <a:cxnSpLocks/>
                </p:cNvCxnSpPr>
                <p:nvPr/>
              </p:nvCxnSpPr>
              <p:spPr>
                <a:xfrm flipV="1">
                  <a:off x="4267041" y="3768300"/>
                  <a:ext cx="1939827" cy="105492"/>
                </a:xfrm>
                <a:prstGeom prst="line">
                  <a:avLst/>
                </a:prstGeom>
                <a:noFill/>
                <a:ln w="22225" cap="flat" cmpd="sng" algn="ctr">
                  <a:solidFill>
                    <a:schemeClr val="tx1"/>
                  </a:solidFill>
                  <a:prstDash val="dash"/>
                  <a:miter lim="800000"/>
                </a:ln>
                <a:effectLst/>
              </p:spPr>
            </p:cxnSp>
          </p:grpSp>
        </p:grpSp>
        <p:pic>
          <p:nvPicPr>
            <p:cNvPr id="10" name="Picture 9">
              <a:extLst>
                <a:ext uri="{FF2B5EF4-FFF2-40B4-BE49-F238E27FC236}">
                  <a16:creationId xmlns:a16="http://schemas.microsoft.com/office/drawing/2014/main" id="{A0D71B87-9E51-8122-39C1-0FA59C3BFBA5}"/>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7135548" y="4387559"/>
              <a:ext cx="477251" cy="246011"/>
            </a:xfrm>
            <a:prstGeom prst="rect">
              <a:avLst/>
            </a:prstGeom>
          </p:spPr>
        </p:pic>
        <p:pic>
          <p:nvPicPr>
            <p:cNvPr id="11" name="Picture 10">
              <a:extLst>
                <a:ext uri="{FF2B5EF4-FFF2-40B4-BE49-F238E27FC236}">
                  <a16:creationId xmlns:a16="http://schemas.microsoft.com/office/drawing/2014/main" id="{A1A141C1-1ADE-06BC-F235-AC4609268A7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rot="21385657">
              <a:off x="6449928" y="4435970"/>
              <a:ext cx="477251" cy="240236"/>
            </a:xfrm>
            <a:prstGeom prst="rect">
              <a:avLst/>
            </a:prstGeom>
          </p:spPr>
        </p:pic>
      </p:grpSp>
      <p:grpSp>
        <p:nvGrpSpPr>
          <p:cNvPr id="26" name="Group 25">
            <a:extLst>
              <a:ext uri="{FF2B5EF4-FFF2-40B4-BE49-F238E27FC236}">
                <a16:creationId xmlns:a16="http://schemas.microsoft.com/office/drawing/2014/main" id="{6490838B-ED6E-2AAE-8FE3-65DCDE65E090}"/>
              </a:ext>
            </a:extLst>
          </p:cNvPr>
          <p:cNvGrpSpPr/>
          <p:nvPr/>
        </p:nvGrpSpPr>
        <p:grpSpPr>
          <a:xfrm>
            <a:off x="5206737" y="4322532"/>
            <a:ext cx="2785430" cy="2522383"/>
            <a:chOff x="1714096" y="5184452"/>
            <a:chExt cx="1426205" cy="1319933"/>
          </a:xfrm>
        </p:grpSpPr>
        <p:grpSp>
          <p:nvGrpSpPr>
            <p:cNvPr id="27" name="Group 26">
              <a:extLst>
                <a:ext uri="{FF2B5EF4-FFF2-40B4-BE49-F238E27FC236}">
                  <a16:creationId xmlns:a16="http://schemas.microsoft.com/office/drawing/2014/main" id="{1313278C-2C91-F897-6AF9-9BF290D7895B}"/>
                </a:ext>
              </a:extLst>
            </p:cNvPr>
            <p:cNvGrpSpPr/>
            <p:nvPr/>
          </p:nvGrpSpPr>
          <p:grpSpPr>
            <a:xfrm>
              <a:off x="1714096" y="5184452"/>
              <a:ext cx="1286474" cy="1319933"/>
              <a:chOff x="322315" y="1521571"/>
              <a:chExt cx="5399583" cy="4947652"/>
            </a:xfrm>
          </p:grpSpPr>
          <p:pic>
            <p:nvPicPr>
              <p:cNvPr id="30" name="Picture 29">
                <a:extLst>
                  <a:ext uri="{FF2B5EF4-FFF2-40B4-BE49-F238E27FC236}">
                    <a16:creationId xmlns:a16="http://schemas.microsoft.com/office/drawing/2014/main" id="{77D79C55-E1DD-E3B9-4FC7-A9CE79EA5C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0726" y="1521571"/>
                <a:ext cx="3238500" cy="2540000"/>
              </a:xfrm>
              <a:prstGeom prst="rect">
                <a:avLst/>
              </a:prstGeom>
            </p:spPr>
          </p:pic>
          <p:grpSp>
            <p:nvGrpSpPr>
              <p:cNvPr id="31" name="Group 30">
                <a:extLst>
                  <a:ext uri="{FF2B5EF4-FFF2-40B4-BE49-F238E27FC236}">
                    <a16:creationId xmlns:a16="http://schemas.microsoft.com/office/drawing/2014/main" id="{B682863A-BC50-69EE-5AA4-6268A9E7D5DE}"/>
                  </a:ext>
                </a:extLst>
              </p:cNvPr>
              <p:cNvGrpSpPr/>
              <p:nvPr/>
            </p:nvGrpSpPr>
            <p:grpSpPr>
              <a:xfrm>
                <a:off x="955154" y="3319520"/>
                <a:ext cx="4766744" cy="1079191"/>
                <a:chOff x="831100" y="3314618"/>
                <a:chExt cx="4766744" cy="1079191"/>
              </a:xfrm>
            </p:grpSpPr>
            <p:cxnSp>
              <p:nvCxnSpPr>
                <p:cNvPr id="33" name="Straight Connector 32">
                  <a:extLst>
                    <a:ext uri="{FF2B5EF4-FFF2-40B4-BE49-F238E27FC236}">
                      <a16:creationId xmlns:a16="http://schemas.microsoft.com/office/drawing/2014/main" id="{CF020677-1305-E47C-4E66-DE2DEF23E92D}"/>
                    </a:ext>
                  </a:extLst>
                </p:cNvPr>
                <p:cNvCxnSpPr>
                  <a:cxnSpLocks/>
                </p:cNvCxnSpPr>
                <p:nvPr/>
              </p:nvCxnSpPr>
              <p:spPr>
                <a:xfrm>
                  <a:off x="831100" y="3630907"/>
                  <a:ext cx="3302000" cy="0"/>
                </a:xfrm>
                <a:prstGeom prst="line">
                  <a:avLst/>
                </a:prstGeom>
                <a:noFill/>
                <a:ln w="12700" cap="flat" cmpd="sng" algn="ctr">
                  <a:solidFill>
                    <a:srgbClr val="C00000"/>
                  </a:solidFill>
                  <a:prstDash val="dash"/>
                  <a:miter lim="800000"/>
                </a:ln>
                <a:effectLst/>
              </p:spPr>
            </p:cxnSp>
            <p:sp>
              <p:nvSpPr>
                <p:cNvPr id="34" name="TextBox 33">
                  <a:extLst>
                    <a:ext uri="{FF2B5EF4-FFF2-40B4-BE49-F238E27FC236}">
                      <a16:creationId xmlns:a16="http://schemas.microsoft.com/office/drawing/2014/main" id="{9DA3D9E1-790F-39C6-A8A1-F205386BD69C}"/>
                    </a:ext>
                  </a:extLst>
                </p:cNvPr>
                <p:cNvSpPr txBox="1"/>
                <p:nvPr/>
              </p:nvSpPr>
              <p:spPr>
                <a:xfrm>
                  <a:off x="4538297" y="3314618"/>
                  <a:ext cx="1059547" cy="10424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sng" strike="noStrike" kern="0" cap="none" spc="0" normalizeH="0" baseline="0" noProof="0">
                    <a:ln>
                      <a:noFill/>
                    </a:ln>
                    <a:solidFill>
                      <a:srgbClr val="777A80"/>
                    </a:solidFill>
                    <a:effectLst/>
                    <a:uLnTx/>
                    <a:uFillTx/>
                    <a:latin typeface="+mj-lt"/>
                    <a:ea typeface="ＭＳ Ｐゴシック" pitchFamily="38" charset="-128"/>
                    <a:cs typeface="+mn-cs"/>
                  </a:endParaRPr>
                </a:p>
              </p:txBody>
            </p:sp>
            <p:pic>
              <p:nvPicPr>
                <p:cNvPr id="35" name="Picture 34">
                  <a:extLst>
                    <a:ext uri="{FF2B5EF4-FFF2-40B4-BE49-F238E27FC236}">
                      <a16:creationId xmlns:a16="http://schemas.microsoft.com/office/drawing/2014/main" id="{8C058DF1-FDF3-B568-B5F9-D6E4B0D654AC}"/>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1103562" y="4023004"/>
                  <a:ext cx="625225" cy="361961"/>
                </a:xfrm>
                <a:prstGeom prst="rect">
                  <a:avLst/>
                </a:prstGeom>
              </p:spPr>
            </p:pic>
            <p:pic>
              <p:nvPicPr>
                <p:cNvPr id="36" name="Picture 35">
                  <a:extLst>
                    <a:ext uri="{FF2B5EF4-FFF2-40B4-BE49-F238E27FC236}">
                      <a16:creationId xmlns:a16="http://schemas.microsoft.com/office/drawing/2014/main" id="{CCDB92D0-474B-5B88-A0E1-3C6C5919B0AE}"/>
                    </a:ext>
                  </a:extLst>
                </p:cNvPr>
                <p:cNvPicPr>
                  <a:picLocks noChangeAspect="1"/>
                </p:cNvPicPr>
                <p:nvPr/>
              </p:nvPicPr>
              <p:blipFill rotWithShape="1">
                <a:blip r:embed="rId4">
                  <a:extLst>
                    <a:ext uri="{28A0092B-C50C-407E-A947-70E740481C1C}">
                      <a14:useLocalDpi xmlns:a14="http://schemas.microsoft.com/office/drawing/2010/main" val="0"/>
                    </a:ext>
                  </a:extLst>
                </a:blip>
                <a:srcRect l="54512" t="22337" r="14645" b="24704"/>
                <a:stretch/>
              </p:blipFill>
              <p:spPr>
                <a:xfrm>
                  <a:off x="2925696" y="4031848"/>
                  <a:ext cx="625225" cy="361961"/>
                </a:xfrm>
                <a:prstGeom prst="rect">
                  <a:avLst/>
                </a:prstGeom>
              </p:spPr>
            </p:pic>
            <p:cxnSp>
              <p:nvCxnSpPr>
                <p:cNvPr id="37" name="Straight Connector 36">
                  <a:extLst>
                    <a:ext uri="{FF2B5EF4-FFF2-40B4-BE49-F238E27FC236}">
                      <a16:creationId xmlns:a16="http://schemas.microsoft.com/office/drawing/2014/main" id="{479B5EA7-C44A-89FE-1191-961C536ED570}"/>
                    </a:ext>
                  </a:extLst>
                </p:cNvPr>
                <p:cNvCxnSpPr>
                  <a:cxnSpLocks/>
                </p:cNvCxnSpPr>
                <p:nvPr/>
              </p:nvCxnSpPr>
              <p:spPr>
                <a:xfrm>
                  <a:off x="831100" y="4061758"/>
                  <a:ext cx="3302000" cy="0"/>
                </a:xfrm>
                <a:prstGeom prst="line">
                  <a:avLst/>
                </a:prstGeom>
                <a:noFill/>
                <a:ln w="12700" cap="flat" cmpd="sng" algn="ctr">
                  <a:solidFill>
                    <a:srgbClr val="4472C4"/>
                  </a:solidFill>
                  <a:prstDash val="dash"/>
                  <a:miter lim="800000"/>
                </a:ln>
                <a:effectLst/>
              </p:spPr>
            </p:cxnSp>
          </p:grpSp>
          <p:pic>
            <p:nvPicPr>
              <p:cNvPr id="32" name="Picture 31">
                <a:extLst>
                  <a:ext uri="{FF2B5EF4-FFF2-40B4-BE49-F238E27FC236}">
                    <a16:creationId xmlns:a16="http://schemas.microsoft.com/office/drawing/2014/main" id="{1CEC0589-BACE-EE2A-7964-EAE16F2DDF5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2315" y="4361023"/>
                <a:ext cx="3721100" cy="2108200"/>
              </a:xfrm>
              <a:prstGeom prst="rect">
                <a:avLst/>
              </a:prstGeom>
            </p:spPr>
          </p:pic>
        </p:grpSp>
        <p:sp>
          <p:nvSpPr>
            <p:cNvPr id="28" name="Right Triangle 27">
              <a:extLst>
                <a:ext uri="{FF2B5EF4-FFF2-40B4-BE49-F238E27FC236}">
                  <a16:creationId xmlns:a16="http://schemas.microsoft.com/office/drawing/2014/main" id="{2D652962-7FDE-3D09-2859-C5C3D6EEB0C0}"/>
                </a:ext>
              </a:extLst>
            </p:cNvPr>
            <p:cNvSpPr/>
            <p:nvPr/>
          </p:nvSpPr>
          <p:spPr>
            <a:xfrm rot="10618825">
              <a:off x="2099737" y="5707071"/>
              <a:ext cx="807031" cy="82991"/>
            </a:xfrm>
            <a:prstGeom prst="rtTriangle">
              <a:avLst/>
            </a:prstGeom>
            <a:solidFill>
              <a:srgbClr val="ED7D31">
                <a:lumMod val="40000"/>
                <a:lumOff val="60000"/>
                <a:alpha val="4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mj-lt"/>
                <a:ea typeface="ＭＳ Ｐゴシック" pitchFamily="38" charset="-128"/>
                <a:cs typeface="+mn-cs"/>
              </a:endParaRPr>
            </a:p>
          </p:txBody>
        </p:sp>
        <p:sp>
          <p:nvSpPr>
            <p:cNvPr id="29" name="TextBox 28">
              <a:extLst>
                <a:ext uri="{FF2B5EF4-FFF2-40B4-BE49-F238E27FC236}">
                  <a16:creationId xmlns:a16="http://schemas.microsoft.com/office/drawing/2014/main" id="{A6CB1F5B-8E65-40F1-42E5-CC5C06C9ACC6}"/>
                </a:ext>
              </a:extLst>
            </p:cNvPr>
            <p:cNvSpPr txBox="1"/>
            <p:nvPr/>
          </p:nvSpPr>
          <p:spPr>
            <a:xfrm>
              <a:off x="2613867" y="5494831"/>
              <a:ext cx="526434" cy="20326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r>
                <a:rPr kumimoji="0" lang="en-US" sz="1600" b="0" i="0" u="none" strike="noStrike" kern="0" cap="none" spc="0" normalizeH="0" baseline="0" noProof="0">
                  <a:ln>
                    <a:noFill/>
                  </a:ln>
                  <a:solidFill>
                    <a:prstClr val="black">
                      <a:lumMod val="75000"/>
                      <a:lumOff val="25000"/>
                    </a:prstClr>
                  </a:solidFill>
                  <a:effectLst/>
                  <a:uLnTx/>
                  <a:uFillTx/>
                  <a:latin typeface="+mj-lt"/>
                  <a:ea typeface="ＭＳ Ｐゴシック" pitchFamily="38" charset="-128"/>
                  <a:cs typeface="+mn-cs"/>
                </a:rPr>
                <a:t>°</a:t>
              </a:r>
              <a:endParaRPr kumimoji="0" lang="en-US" sz="1600" b="0" i="0" u="sng" strike="noStrike" kern="0" cap="none" spc="0" normalizeH="0" baseline="0" noProof="0">
                <a:ln>
                  <a:noFill/>
                </a:ln>
                <a:solidFill>
                  <a:prstClr val="black">
                    <a:lumMod val="85000"/>
                    <a:lumOff val="15000"/>
                  </a:prstClr>
                </a:solidFill>
                <a:effectLst/>
                <a:uLnTx/>
                <a:uFillTx/>
                <a:latin typeface="+mj-lt"/>
                <a:ea typeface="ＭＳ Ｐゴシック" pitchFamily="38" charset="-128"/>
                <a:cs typeface="+mn-c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016" y="173736"/>
            <a:ext cx="4754828" cy="584775"/>
          </a:xfrm>
          <a:prstGeom prst="rect">
            <a:avLst/>
          </a:prstGeom>
          <a:noFill/>
        </p:spPr>
        <p:txBody>
          <a:bodyPr wrap="none">
            <a:spAutoFit/>
          </a:bodyPr>
          <a:lstStyle/>
          <a:p>
            <a:pPr>
              <a:defRPr sz="3200"/>
            </a:pPr>
            <a:r>
              <a:rPr>
                <a:latin typeface="Johnson Display" panose="00000500000000000000" pitchFamily="50" charset="0"/>
              </a:rPr>
              <a:t>Functional Alignment (FA)</a:t>
            </a:r>
          </a:p>
        </p:txBody>
      </p:sp>
      <p:sp>
        <p:nvSpPr>
          <p:cNvPr id="4" name="TextBox 3"/>
          <p:cNvSpPr txBox="1"/>
          <p:nvPr/>
        </p:nvSpPr>
        <p:spPr>
          <a:xfrm>
            <a:off x="128016" y="1088136"/>
            <a:ext cx="7011856" cy="461665"/>
          </a:xfrm>
          <a:prstGeom prst="rect">
            <a:avLst/>
          </a:prstGeom>
          <a:noFill/>
        </p:spPr>
        <p:txBody>
          <a:bodyPr wrap="none">
            <a:spAutoFit/>
          </a:bodyPr>
          <a:lstStyle/>
          <a:p>
            <a:pPr>
              <a:defRPr sz="2400"/>
            </a:pPr>
            <a:r>
              <a:rPr>
                <a:latin typeface="Johnson Display" panose="00000500000000000000" pitchFamily="50" charset="0"/>
              </a:rPr>
              <a:t>Your approach suggests: Functional Alignment (FA)</a:t>
            </a:r>
          </a:p>
        </p:txBody>
      </p:sp>
      <p:sp>
        <p:nvSpPr>
          <p:cNvPr id="5" name="Rounded Rectangle 4"/>
          <p:cNvSpPr/>
          <p:nvPr/>
        </p:nvSpPr>
        <p:spPr>
          <a:xfrm>
            <a:off x="128016" y="2276856"/>
            <a:ext cx="4443984"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
        <p:nvSpPr>
          <p:cNvPr id="7" name="TextBox 6">
            <a:extLst>
              <a:ext uri="{FF2B5EF4-FFF2-40B4-BE49-F238E27FC236}">
                <a16:creationId xmlns:a16="http://schemas.microsoft.com/office/drawing/2014/main" id="{83AA6478-BD58-6810-ED77-7F82BEDAA17F}"/>
              </a:ext>
            </a:extLst>
          </p:cNvPr>
          <p:cNvSpPr txBox="1"/>
          <p:nvPr/>
        </p:nvSpPr>
        <p:spPr>
          <a:xfrm>
            <a:off x="128016" y="3429000"/>
            <a:ext cx="4572000" cy="2739211"/>
          </a:xfrm>
          <a:prstGeom prst="rect">
            <a:avLst/>
          </a:prstGeom>
          <a:noFill/>
        </p:spPr>
        <p:txBody>
          <a:bodyPr wrap="square">
            <a:spAutoFit/>
          </a:bodyPr>
          <a:lstStyle/>
          <a:p>
            <a:endParaRPr lang="en-US" sz="2800" b="0" i="0" u="none" strike="noStrike" baseline="0" dirty="0">
              <a:latin typeface="J&amp;J Circular Light"/>
            </a:endParaRPr>
          </a:p>
          <a:p>
            <a:pPr marR="135110"/>
            <a:r>
              <a:rPr lang="en-US" sz="1800" b="0" i="0" u="none" strike="noStrike" baseline="0" dirty="0">
                <a:latin typeface="J&amp;J Circular Light"/>
              </a:rPr>
              <a:t>Functional alignment aims to provide balanced flexion-extension gaps. The Functional Alignment planning method enables adjustments in the coronal plane for both the distal femoral and proximal tibial resections to achieve the desired soft tissue laxity symmetry on the ACCUBALANCE™ Graph.</a:t>
            </a:r>
            <a:endParaRPr lang="en-US" dirty="0">
              <a:latin typeface="J&amp;J Circular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457200" y="182880"/>
            <a:ext cx="5969904" cy="584775"/>
          </a:xfrm>
          <a:prstGeom prst="rect">
            <a:avLst/>
          </a:prstGeom>
          <a:noFill/>
        </p:spPr>
        <p:txBody>
          <a:bodyPr wrap="none">
            <a:spAutoFit/>
          </a:bodyPr>
          <a:lstStyle/>
          <a:p>
            <a:pPr>
              <a:defRPr sz="3200"/>
            </a:pPr>
            <a:r>
              <a:rPr lang="en-US" dirty="0">
                <a:highlight>
                  <a:srgbClr val="FFFF00"/>
                </a:highlight>
                <a:latin typeface="Johnson Display" panose="00000500000000000000" pitchFamily="50" charset="0"/>
              </a:rPr>
              <a:t>Primary &amp; Secondary Philosophy</a:t>
            </a:r>
            <a:endParaRPr dirty="0">
              <a:highlight>
                <a:srgbClr val="FFFF00"/>
              </a:highlight>
              <a:latin typeface="Johnson Display" panose="00000500000000000000" pitchFamily="50" charset="0"/>
            </a:endParaRPr>
          </a:p>
        </p:txBody>
      </p:sp>
      <p:sp>
        <p:nvSpPr>
          <p:cNvPr id="4" name="TextBox 3"/>
          <p:cNvSpPr txBox="1"/>
          <p:nvPr/>
        </p:nvSpPr>
        <p:spPr>
          <a:xfrm>
            <a:off x="457200" y="1097280"/>
            <a:ext cx="4461478" cy="461665"/>
          </a:xfrm>
          <a:prstGeom prst="rect">
            <a:avLst/>
          </a:prstGeom>
          <a:noFill/>
        </p:spPr>
        <p:txBody>
          <a:bodyPr wrap="none">
            <a:spAutoFit/>
          </a:bodyPr>
          <a:lstStyle/>
          <a:p>
            <a:pPr>
              <a:defRPr sz="2400"/>
            </a:pPr>
            <a:r>
              <a:rPr dirty="0">
                <a:latin typeface="Johnson Display" panose="00000500000000000000" pitchFamily="50" charset="0"/>
              </a:rPr>
              <a:t>Your approach suggests: Hybrid</a:t>
            </a:r>
            <a:endParaRPr dirty="0">
              <a:highlight>
                <a:srgbClr val="FFFF00"/>
              </a:highlight>
              <a:latin typeface="Johnson Display" panose="00000500000000000000" pitchFamily="50" charset="0"/>
            </a:endParaRPr>
          </a:p>
        </p:txBody>
      </p:sp>
      <p:sp>
        <p:nvSpPr>
          <p:cNvPr id="5" name="Rounded Rectangle 4"/>
          <p:cNvSpPr/>
          <p:nvPr/>
        </p:nvSpPr>
        <p:spPr>
          <a:xfrm>
            <a:off x="457200" y="2286000"/>
            <a:ext cx="7315200" cy="731520"/>
          </a:xfrm>
          <a:prstGeom prst="roundRect">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r>
              <a:rPr>
                <a:latin typeface="Johnson Display" panose="00000500000000000000" pitchFamily="50" charset="0"/>
              </a:rPr>
              <a:t>Restart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7660D-4E7C-302B-AB1B-2B7F41A804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98E216E-588A-C1F7-629F-C7F75FB7F721}"/>
              </a:ext>
            </a:extLst>
          </p:cNvPr>
          <p:cNvSpPr txBox="1"/>
          <p:nvPr/>
        </p:nvSpPr>
        <p:spPr>
          <a:xfrm>
            <a:off x="457200" y="182880"/>
            <a:ext cx="3150221" cy="584775"/>
          </a:xfrm>
          <a:prstGeom prst="rect">
            <a:avLst/>
          </a:prstGeom>
          <a:noFill/>
        </p:spPr>
        <p:txBody>
          <a:bodyPr wrap="none">
            <a:spAutoFit/>
          </a:bodyPr>
          <a:lstStyle/>
          <a:p>
            <a:pP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sp>
        <p:nvSpPr>
          <p:cNvPr id="6" name="TextBox 5">
            <a:extLst>
              <a:ext uri="{FF2B5EF4-FFF2-40B4-BE49-F238E27FC236}">
                <a16:creationId xmlns:a16="http://schemas.microsoft.com/office/drawing/2014/main" id="{27B74C2B-6D4B-C981-2557-A34B47A56590}"/>
              </a:ext>
            </a:extLst>
          </p:cNvPr>
          <p:cNvSpPr txBox="1"/>
          <p:nvPr/>
        </p:nvSpPr>
        <p:spPr>
          <a:xfrm>
            <a:off x="373117" y="1354276"/>
            <a:ext cx="6742386" cy="2564163"/>
          </a:xfrm>
          <a:prstGeom prst="rect">
            <a:avLst/>
          </a:prstGeom>
          <a:noFill/>
        </p:spPr>
        <p:txBody>
          <a:bodyPr wrap="square">
            <a:spAutoFit/>
          </a:bodyPr>
          <a:lstStyle/>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MA (Mechanical Alignment)</a:t>
            </a:r>
            <a:r>
              <a:rPr lang="en-US" sz="1800" b="0" i="0" dirty="0">
                <a:solidFill>
                  <a:srgbClr val="000000"/>
                </a:solidFill>
                <a:effectLst/>
                <a:latin typeface="J&amp;J Circular Light"/>
              </a:rPr>
              <a:t>: Heavily favored by neutral mechanical axis goals, mechanical cuts, minimizing tibial varus, no deviation.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KA (Kinematic Alignment)</a:t>
            </a:r>
            <a:r>
              <a:rPr lang="en-US" sz="1800" b="0" i="0" dirty="0">
                <a:solidFill>
                  <a:srgbClr val="000000"/>
                </a:solidFill>
                <a:effectLst/>
                <a:latin typeface="J&amp;J Circular Light"/>
              </a:rPr>
              <a:t>: Driven by native joint line restoration, "no boundary" mindset, restore femoral &amp; tibial JLOs.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err="1">
                <a:solidFill>
                  <a:srgbClr val="000000"/>
                </a:solidFill>
                <a:effectLst/>
                <a:latin typeface="J&amp;J Circular Light"/>
              </a:rPr>
              <a:t>iKA</a:t>
            </a:r>
            <a:r>
              <a:rPr lang="en-US" sz="1800" b="1" i="0" dirty="0">
                <a:solidFill>
                  <a:srgbClr val="000000"/>
                </a:solidFill>
                <a:effectLst/>
                <a:latin typeface="J&amp;J Circular Light"/>
              </a:rPr>
              <a:t> (Inverse Kinematic Alignment)</a:t>
            </a:r>
            <a:r>
              <a:rPr lang="en-US" sz="1800" b="0" i="0" dirty="0">
                <a:solidFill>
                  <a:srgbClr val="000000"/>
                </a:solidFill>
                <a:effectLst/>
                <a:latin typeface="J&amp;J Circular Light"/>
              </a:rPr>
              <a:t>: Resurface tibia first, balance with femur, uses coronal boundaries, ACCUBALANCE-driven. </a:t>
            </a:r>
          </a:p>
          <a:p>
            <a:pPr marL="285750" indent="-285750" algn="l" rtl="0" fontAlgn="base">
              <a:lnSpc>
                <a:spcPts val="1564"/>
              </a:lnSpc>
              <a:buFont typeface="Arial" panose="020B0604020202020204" pitchFamily="34" charset="0"/>
              <a:buChar char="•"/>
            </a:pPr>
            <a:endParaRPr lang="en-US" dirty="0">
              <a:solidFill>
                <a:srgbClr val="000000"/>
              </a:solidFill>
              <a:latin typeface="J&amp;J Circular Light"/>
            </a:endParaRPr>
          </a:p>
          <a:p>
            <a:pPr marL="285750" indent="-285750" algn="l" rtl="0" fontAlgn="base">
              <a:lnSpc>
                <a:spcPts val="1564"/>
              </a:lnSpc>
              <a:buFont typeface="Arial" panose="020B0604020202020204" pitchFamily="34" charset="0"/>
              <a:buChar char="•"/>
            </a:pPr>
            <a:r>
              <a:rPr lang="en-US" sz="1800" b="1" i="0" dirty="0">
                <a:solidFill>
                  <a:srgbClr val="000000"/>
                </a:solidFill>
                <a:effectLst/>
                <a:latin typeface="J&amp;J Circular Light"/>
              </a:rPr>
              <a:t>FA (Functional Alignment)</a:t>
            </a:r>
            <a:r>
              <a:rPr lang="en-US" sz="1800" b="0" i="0" dirty="0">
                <a:solidFill>
                  <a:srgbClr val="000000"/>
                </a:solidFill>
                <a:effectLst/>
                <a:latin typeface="J&amp;J Circular Light"/>
              </a:rPr>
              <a:t>: Focus on gap balancing, adjust both tibia/femur together, evenly distribute extension gap changes. </a:t>
            </a:r>
          </a:p>
        </p:txBody>
      </p:sp>
    </p:spTree>
    <p:extLst>
      <p:ext uri="{BB962C8B-B14F-4D97-AF65-F5344CB8AC3E}">
        <p14:creationId xmlns:p14="http://schemas.microsoft.com/office/powerpoint/2010/main" val="3393727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7BA89-F7A6-C7FF-390C-361D9DFC3FC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202545-092D-07E1-E6CB-815A93C414FD}"/>
              </a:ext>
            </a:extLst>
          </p:cNvPr>
          <p:cNvSpPr txBox="1"/>
          <p:nvPr/>
        </p:nvSpPr>
        <p:spPr>
          <a:xfrm>
            <a:off x="236228" y="176574"/>
            <a:ext cx="3150221" cy="584775"/>
          </a:xfrm>
          <a:prstGeom prst="rect">
            <a:avLst/>
          </a:prstGeom>
          <a:noFill/>
        </p:spPr>
        <p:txBody>
          <a:bodyPr wrap="none">
            <a:spAutoFit/>
          </a:bodyPr>
          <a:lstStyle/>
          <a:p>
            <a:pPr>
              <a:defRPr sz="3200"/>
            </a:pPr>
            <a:r>
              <a:rPr lang="en-US" dirty="0">
                <a:solidFill>
                  <a:srgbClr val="FF0000"/>
                </a:solidFill>
                <a:latin typeface="Johnson Display" panose="00000500000000000000" pitchFamily="50" charset="0"/>
              </a:rPr>
              <a:t>Scoring Weights</a:t>
            </a:r>
            <a:endParaRPr dirty="0">
              <a:solidFill>
                <a:srgbClr val="FF0000"/>
              </a:solidFill>
              <a:highlight>
                <a:srgbClr val="FFFF00"/>
              </a:highlight>
              <a:latin typeface="Johnson Display" panose="00000500000000000000" pitchFamily="50" charset="0"/>
            </a:endParaRPr>
          </a:p>
        </p:txBody>
      </p:sp>
      <p:sp>
        <p:nvSpPr>
          <p:cNvPr id="6" name="TextBox 5">
            <a:extLst>
              <a:ext uri="{FF2B5EF4-FFF2-40B4-BE49-F238E27FC236}">
                <a16:creationId xmlns:a16="http://schemas.microsoft.com/office/drawing/2014/main" id="{D916D140-D378-A427-996C-87EE4832AC1D}"/>
              </a:ext>
            </a:extLst>
          </p:cNvPr>
          <p:cNvSpPr txBox="1"/>
          <p:nvPr/>
        </p:nvSpPr>
        <p:spPr>
          <a:xfrm>
            <a:off x="236228" y="767655"/>
            <a:ext cx="6742386" cy="721031"/>
          </a:xfrm>
          <a:prstGeom prst="rect">
            <a:avLst/>
          </a:prstGeom>
          <a:noFill/>
        </p:spPr>
        <p:txBody>
          <a:bodyPr wrap="square">
            <a:spAutoFit/>
          </a:bodyPr>
          <a:lstStyle/>
          <a:p>
            <a:pPr algn="l" rtl="0" fontAlgn="base">
              <a:lnSpc>
                <a:spcPts val="1564"/>
              </a:lnSpc>
            </a:pPr>
            <a:r>
              <a:rPr lang="en-US" sz="1800" b="1" i="0" dirty="0">
                <a:solidFill>
                  <a:srgbClr val="000000"/>
                </a:solidFill>
                <a:effectLst/>
                <a:latin typeface="Johnson Display" panose="00000500000000000000" pitchFamily="50" charset="0"/>
              </a:rPr>
              <a:t>Example</a:t>
            </a:r>
          </a:p>
          <a:p>
            <a:pPr algn="l" rtl="0" fontAlgn="base">
              <a:lnSpc>
                <a:spcPts val="1564"/>
              </a:lnSpc>
            </a:pPr>
            <a:endParaRPr lang="en-US" dirty="0">
              <a:solidFill>
                <a:srgbClr val="000000"/>
              </a:solidFill>
              <a:latin typeface="Johnson Display" panose="00000500000000000000" pitchFamily="50" charset="0"/>
            </a:endParaRPr>
          </a:p>
          <a:p>
            <a:pPr algn="l" rtl="0" fontAlgn="base">
              <a:lnSpc>
                <a:spcPts val="1564"/>
              </a:lnSpc>
            </a:pPr>
            <a:endParaRPr lang="en-US" sz="1800" b="0" i="0" dirty="0">
              <a:solidFill>
                <a:srgbClr val="000000"/>
              </a:solidFill>
              <a:effectLst/>
              <a:latin typeface="Johnson Display" panose="00000500000000000000" pitchFamily="50" charset="0"/>
            </a:endParaRPr>
          </a:p>
        </p:txBody>
      </p:sp>
      <p:graphicFrame>
        <p:nvGraphicFramePr>
          <p:cNvPr id="2" name="Table 1">
            <a:extLst>
              <a:ext uri="{FF2B5EF4-FFF2-40B4-BE49-F238E27FC236}">
                <a16:creationId xmlns:a16="http://schemas.microsoft.com/office/drawing/2014/main" id="{AB190302-5344-42BE-E90A-2D3F32C05D63}"/>
              </a:ext>
            </a:extLst>
          </p:cNvPr>
          <p:cNvGraphicFramePr>
            <a:graphicFrameLocks noGrp="1"/>
          </p:cNvGraphicFramePr>
          <p:nvPr>
            <p:extLst>
              <p:ext uri="{D42A27DB-BD31-4B8C-83A1-F6EECF244321}">
                <p14:modId xmlns:p14="http://schemas.microsoft.com/office/powerpoint/2010/main" val="1704193475"/>
              </p:ext>
            </p:extLst>
          </p:nvPr>
        </p:nvGraphicFramePr>
        <p:xfrm>
          <a:off x="236228" y="1803038"/>
          <a:ext cx="6451307" cy="2272792"/>
        </p:xfrm>
        <a:graphic>
          <a:graphicData uri="http://schemas.openxmlformats.org/drawingml/2006/table">
            <a:tbl>
              <a:tblPr/>
              <a:tblGrid>
                <a:gridCol w="1972973">
                  <a:extLst>
                    <a:ext uri="{9D8B030D-6E8A-4147-A177-3AD203B41FA5}">
                      <a16:colId xmlns:a16="http://schemas.microsoft.com/office/drawing/2014/main" val="2236656025"/>
                    </a:ext>
                  </a:extLst>
                </a:gridCol>
                <a:gridCol w="2714142">
                  <a:extLst>
                    <a:ext uri="{9D8B030D-6E8A-4147-A177-3AD203B41FA5}">
                      <a16:colId xmlns:a16="http://schemas.microsoft.com/office/drawing/2014/main" val="846298864"/>
                    </a:ext>
                  </a:extLst>
                </a:gridCol>
                <a:gridCol w="1764192">
                  <a:extLst>
                    <a:ext uri="{9D8B030D-6E8A-4147-A177-3AD203B41FA5}">
                      <a16:colId xmlns:a16="http://schemas.microsoft.com/office/drawing/2014/main" val="4084061523"/>
                    </a:ext>
                  </a:extLst>
                </a:gridCol>
              </a:tblGrid>
              <a:tr h="190500">
                <a:tc>
                  <a:txBody>
                    <a:bodyPr/>
                    <a:lstStyle/>
                    <a:p>
                      <a:pPr algn="l" rtl="0" fontAlgn="base">
                        <a:lnSpc>
                          <a:spcPts val="1564"/>
                        </a:lnSpc>
                        <a:buNone/>
                      </a:pPr>
                      <a:r>
                        <a:rPr lang="en-US" sz="1200" b="1" i="0" u="sng" dirty="0">
                          <a:effectLst/>
                          <a:latin typeface="J&amp;J Circular Light"/>
                        </a:rPr>
                        <a:t>Question </a:t>
                      </a:r>
                      <a:endParaRPr lang="en-US" b="1" i="0" u="sng" dirty="0">
                        <a:effectLst/>
                        <a:latin typeface="J&amp;J Circular Light"/>
                      </a:endParaRPr>
                    </a:p>
                  </a:txBody>
                  <a:tcPr anchor="ctr">
                    <a:lnL>
                      <a:noFill/>
                    </a:lnL>
                    <a:lnR>
                      <a:noFill/>
                    </a:lnR>
                    <a:lnT>
                      <a:noFill/>
                    </a:lnT>
                    <a:lnB>
                      <a:noFill/>
                    </a:lnB>
                    <a:noFill/>
                  </a:tcPr>
                </a:tc>
                <a:tc>
                  <a:txBody>
                    <a:bodyPr/>
                    <a:lstStyle/>
                    <a:p>
                      <a:pPr algn="ctr" rtl="0" fontAlgn="base">
                        <a:lnSpc>
                          <a:spcPts val="1564"/>
                        </a:lnSpc>
                        <a:buNone/>
                      </a:pPr>
                      <a:r>
                        <a:rPr lang="en-US" sz="1200" b="1" i="0" u="sng" dirty="0">
                          <a:effectLst/>
                          <a:latin typeface="J&amp;J Circular Light"/>
                        </a:rPr>
                        <a:t>Choice </a:t>
                      </a:r>
                      <a:endParaRPr lang="en-US" b="1" i="0" u="sng"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1" i="0" u="sng" dirty="0">
                          <a:effectLst/>
                          <a:latin typeface="J&amp;J Circular Light"/>
                        </a:rPr>
                        <a:t>Resulting Score</a:t>
                      </a:r>
                      <a:r>
                        <a:rPr lang="en-US" sz="1200" b="0" i="0" u="sng" dirty="0">
                          <a:effectLst/>
                          <a:latin typeface="J&amp;J Circular Light"/>
                        </a:rPr>
                        <a:t> </a:t>
                      </a:r>
                      <a:endParaRPr lang="en-US" b="0" i="0" u="sng"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1876820745"/>
                  </a:ext>
                </a:extLst>
              </a:tr>
              <a:tr h="190500">
                <a:tc>
                  <a:txBody>
                    <a:bodyPr/>
                    <a:lstStyle/>
                    <a:p>
                      <a:pPr algn="l" rtl="0" fontAlgn="base">
                        <a:lnSpc>
                          <a:spcPts val="1564"/>
                        </a:lnSpc>
                        <a:buNone/>
                      </a:pPr>
                      <a:r>
                        <a:rPr lang="en-US" sz="1200" b="0" i="0">
                          <a:effectLst/>
                          <a:latin typeface="J&amp;J Circular Light"/>
                        </a:rPr>
                        <a:t>Primary Goal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Restore native alignment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4052805187"/>
                  </a:ext>
                </a:extLst>
              </a:tr>
              <a:tr h="190500">
                <a:tc>
                  <a:txBody>
                    <a:bodyPr/>
                    <a:lstStyle/>
                    <a:p>
                      <a:pPr algn="l" rtl="0" fontAlgn="base">
                        <a:lnSpc>
                          <a:spcPts val="1564"/>
                        </a:lnSpc>
                        <a:buNone/>
                      </a:pPr>
                      <a:r>
                        <a:rPr lang="en-US" sz="1200" b="0" i="0">
                          <a:effectLst/>
                          <a:latin typeface="J&amp;J Circular Light"/>
                        </a:rPr>
                        <a:t>Willingness to Deviate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Yes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+1 KA, +1 iKA, +1 FA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561687764"/>
                  </a:ext>
                </a:extLst>
              </a:tr>
              <a:tr h="190500">
                <a:tc>
                  <a:txBody>
                    <a:bodyPr/>
                    <a:lstStyle/>
                    <a:p>
                      <a:pPr algn="l" rtl="0" fontAlgn="base">
                        <a:lnSpc>
                          <a:spcPts val="1564"/>
                        </a:lnSpc>
                        <a:buNone/>
                      </a:pPr>
                      <a:r>
                        <a:rPr lang="en-US" sz="1200" b="0" i="0">
                          <a:effectLst/>
                          <a:latin typeface="J&amp;J Circular Light"/>
                        </a:rPr>
                        <a:t>Femoral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native joint line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2414014038"/>
                  </a:ext>
                </a:extLst>
              </a:tr>
              <a:tr h="190500">
                <a:tc>
                  <a:txBody>
                    <a:bodyPr/>
                    <a:lstStyle/>
                    <a:p>
                      <a:pPr algn="l" rtl="0" fontAlgn="base">
                        <a:lnSpc>
                          <a:spcPts val="1564"/>
                        </a:lnSpc>
                        <a:buNone/>
                      </a:pPr>
                      <a:r>
                        <a:rPr lang="en-US" sz="1200" b="0" i="0">
                          <a:effectLst/>
                          <a:latin typeface="J&amp;J Circular Light"/>
                        </a:rPr>
                        <a:t>Tibial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native joint line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+2 KA </a:t>
                      </a:r>
                      <a:endParaRPr lang="en-US" b="0" i="0"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624153691"/>
                  </a:ext>
                </a:extLst>
              </a:tr>
              <a:tr h="190500">
                <a:tc>
                  <a:txBody>
                    <a:bodyPr/>
                    <a:lstStyle/>
                    <a:p>
                      <a:pPr algn="l" rtl="0" fontAlgn="base">
                        <a:lnSpc>
                          <a:spcPts val="1564"/>
                        </a:lnSpc>
                        <a:buNone/>
                      </a:pPr>
                      <a:r>
                        <a:rPr lang="en-US" sz="1200" b="0" i="0">
                          <a:effectLst/>
                          <a:latin typeface="J&amp;J Circular Light"/>
                        </a:rPr>
                        <a:t>Balancing Extension Gaps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Minimize femoral joint line deviation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077978528"/>
                  </a:ext>
                </a:extLst>
              </a:tr>
              <a:tr h="190500">
                <a:tc>
                  <a:txBody>
                    <a:bodyPr/>
                    <a:lstStyle/>
                    <a:p>
                      <a:pPr algn="l" rtl="0" fontAlgn="base">
                        <a:lnSpc>
                          <a:spcPts val="1564"/>
                        </a:lnSpc>
                        <a:buNone/>
                      </a:pPr>
                      <a:r>
                        <a:rPr lang="en-US" sz="1200" b="0" i="0">
                          <a:effectLst/>
                          <a:latin typeface="J&amp;J Circular Light"/>
                        </a:rPr>
                        <a:t>Posterior Resection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Restore both medial/lateral offsets </a:t>
                      </a:r>
                      <a:endParaRPr lang="en-US" b="0" i="0" dirty="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+2 KA </a:t>
                      </a:r>
                      <a:endParaRPr lang="en-US" b="0" i="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3334679209"/>
                  </a:ext>
                </a:extLst>
              </a:tr>
              <a:tr h="190500">
                <a:tc>
                  <a:txBody>
                    <a:bodyPr/>
                    <a:lstStyle/>
                    <a:p>
                      <a:pPr algn="l" rtl="0" fontAlgn="base">
                        <a:lnSpc>
                          <a:spcPts val="1564"/>
                        </a:lnSpc>
                        <a:buNone/>
                      </a:pPr>
                      <a:r>
                        <a:rPr lang="en-US" sz="1200" b="0" i="0">
                          <a:effectLst/>
                          <a:latin typeface="J&amp;J Circular Light"/>
                        </a:rPr>
                        <a:t>Boundaries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a:effectLst/>
                          <a:latin typeface="J&amp;J Circular Light"/>
                        </a:rPr>
                        <a:t>No </a:t>
                      </a:r>
                      <a:endParaRPr lang="en-US" b="0" i="0">
                        <a:effectLst/>
                        <a:latin typeface="J&amp;J Circular Light"/>
                      </a:endParaRPr>
                    </a:p>
                  </a:txBody>
                  <a:tcPr anchor="ctr">
                    <a:lnL>
                      <a:noFill/>
                    </a:lnL>
                    <a:lnR>
                      <a:noFill/>
                    </a:lnR>
                    <a:lnT>
                      <a:noFill/>
                    </a:lnT>
                    <a:lnB>
                      <a:noFill/>
                    </a:lnB>
                    <a:noFill/>
                  </a:tcPr>
                </a:tc>
                <a:tc>
                  <a:txBody>
                    <a:bodyPr/>
                    <a:lstStyle/>
                    <a:p>
                      <a:pPr algn="l" rtl="0" fontAlgn="base">
                        <a:lnSpc>
                          <a:spcPts val="1564"/>
                        </a:lnSpc>
                        <a:buNone/>
                      </a:pPr>
                      <a:r>
                        <a:rPr lang="en-US" sz="1200" b="0" i="0" dirty="0">
                          <a:effectLst/>
                          <a:latin typeface="J&amp;J Circular Light"/>
                        </a:rPr>
                        <a:t>+2 KA </a:t>
                      </a:r>
                      <a:endParaRPr lang="en-US" b="0" i="0" dirty="0">
                        <a:effectLst/>
                        <a:latin typeface="J&amp;J Circular Light"/>
                      </a:endParaRPr>
                    </a:p>
                  </a:txBody>
                  <a:tcPr anchor="ctr">
                    <a:lnL>
                      <a:noFill/>
                    </a:lnL>
                    <a:lnR>
                      <a:noFill/>
                    </a:lnR>
                    <a:lnT>
                      <a:noFill/>
                    </a:lnT>
                    <a:lnB>
                      <a:noFill/>
                    </a:lnB>
                    <a:noFill/>
                  </a:tcPr>
                </a:tc>
                <a:extLst>
                  <a:ext uri="{0D108BD9-81ED-4DB2-BD59-A6C34878D82A}">
                    <a16:rowId xmlns:a16="http://schemas.microsoft.com/office/drawing/2014/main" val="1313180414"/>
                  </a:ext>
                </a:extLst>
              </a:tr>
            </a:tbl>
          </a:graphicData>
        </a:graphic>
      </p:graphicFrame>
      <p:sp>
        <p:nvSpPr>
          <p:cNvPr id="5" name="TextBox 4">
            <a:extLst>
              <a:ext uri="{FF2B5EF4-FFF2-40B4-BE49-F238E27FC236}">
                <a16:creationId xmlns:a16="http://schemas.microsoft.com/office/drawing/2014/main" id="{F5075EE6-2932-C9D6-1176-58BAEF7AE0E4}"/>
              </a:ext>
            </a:extLst>
          </p:cNvPr>
          <p:cNvSpPr txBox="1"/>
          <p:nvPr/>
        </p:nvSpPr>
        <p:spPr>
          <a:xfrm>
            <a:off x="4944862" y="4555645"/>
            <a:ext cx="4199138" cy="1897314"/>
          </a:xfrm>
          <a:prstGeom prst="rect">
            <a:avLst/>
          </a:prstGeom>
          <a:noFill/>
        </p:spPr>
        <p:txBody>
          <a:bodyPr wrap="square">
            <a:spAutoFit/>
          </a:bodyPr>
          <a:lstStyle/>
          <a:p>
            <a:pPr algn="l" rtl="0" fontAlgn="base">
              <a:lnSpc>
                <a:spcPts val="1564"/>
              </a:lnSpc>
              <a:spcBef>
                <a:spcPts val="1200"/>
              </a:spcBef>
              <a:spcAft>
                <a:spcPts val="1200"/>
              </a:spcAft>
              <a:buNone/>
            </a:pPr>
            <a:r>
              <a:rPr lang="en-US" sz="1200" b="1" i="0" dirty="0">
                <a:solidFill>
                  <a:srgbClr val="FF0000"/>
                </a:solidFill>
                <a:effectLst/>
                <a:latin typeface="J&amp;J Circular Light"/>
              </a:rPr>
              <a:t>Final Score: </a:t>
            </a:r>
          </a:p>
          <a:p>
            <a:pPr algn="l" rtl="0" fontAlgn="base">
              <a:lnSpc>
                <a:spcPts val="1564"/>
              </a:lnSpc>
            </a:pPr>
            <a:r>
              <a:rPr lang="en-US" sz="1200" b="0" i="0" dirty="0">
                <a:solidFill>
                  <a:srgbClr val="000000"/>
                </a:solidFill>
                <a:effectLst/>
                <a:latin typeface="J&amp;J Circular Light"/>
              </a:rPr>
              <a:t>KA = 13 points </a:t>
            </a:r>
          </a:p>
          <a:p>
            <a:pPr algn="l" rtl="0" fontAlgn="base">
              <a:lnSpc>
                <a:spcPts val="1564"/>
              </a:lnSpc>
            </a:pPr>
            <a:r>
              <a:rPr lang="en-US" sz="1200" b="0" i="0" dirty="0" err="1">
                <a:solidFill>
                  <a:srgbClr val="000000"/>
                </a:solidFill>
                <a:effectLst/>
                <a:latin typeface="J&amp;J Circular Light"/>
              </a:rPr>
              <a:t>iKA</a:t>
            </a:r>
            <a:r>
              <a:rPr lang="en-US" sz="1200" b="0" i="0" dirty="0">
                <a:solidFill>
                  <a:srgbClr val="000000"/>
                </a:solidFill>
                <a:effectLst/>
                <a:latin typeface="J&amp;J Circular Light"/>
              </a:rPr>
              <a:t> = 1 point </a:t>
            </a:r>
          </a:p>
          <a:p>
            <a:pPr algn="l" rtl="0" fontAlgn="base">
              <a:lnSpc>
                <a:spcPts val="1564"/>
              </a:lnSpc>
            </a:pPr>
            <a:r>
              <a:rPr lang="en-US" sz="1200" b="0" i="0" dirty="0">
                <a:solidFill>
                  <a:srgbClr val="000000"/>
                </a:solidFill>
                <a:effectLst/>
                <a:latin typeface="J&amp;J Circular Light"/>
              </a:rPr>
              <a:t>FA = 1 point </a:t>
            </a:r>
          </a:p>
          <a:p>
            <a:pPr algn="l" rtl="0" fontAlgn="base">
              <a:lnSpc>
                <a:spcPts val="1564"/>
              </a:lnSpc>
            </a:pPr>
            <a:r>
              <a:rPr lang="en-US" sz="1200" b="0" i="0" dirty="0">
                <a:solidFill>
                  <a:srgbClr val="000000"/>
                </a:solidFill>
                <a:effectLst/>
                <a:latin typeface="J&amp;J Circular Light"/>
              </a:rPr>
              <a:t>MA = 0 points </a:t>
            </a:r>
          </a:p>
          <a:p>
            <a:pPr algn="l" rtl="0" fontAlgn="base">
              <a:lnSpc>
                <a:spcPts val="1564"/>
              </a:lnSpc>
            </a:pPr>
            <a:endParaRPr lang="en-US" sz="1200" dirty="0">
              <a:solidFill>
                <a:srgbClr val="000000"/>
              </a:solidFill>
              <a:latin typeface="J&amp;J Circular Light"/>
            </a:endParaRPr>
          </a:p>
          <a:p>
            <a:pPr algn="l" rtl="0" fontAlgn="base">
              <a:lnSpc>
                <a:spcPts val="1564"/>
              </a:lnSpc>
            </a:pPr>
            <a:r>
              <a:rPr lang="en-US" b="1" i="0" dirty="0">
                <a:solidFill>
                  <a:srgbClr val="000000"/>
                </a:solidFill>
                <a:effectLst/>
                <a:latin typeface="J&amp;J Circular Light"/>
              </a:rPr>
              <a:t>Outcome: </a:t>
            </a:r>
          </a:p>
          <a:p>
            <a:pPr algn="l" rtl="0" fontAlgn="base">
              <a:lnSpc>
                <a:spcPts val="1564"/>
              </a:lnSpc>
            </a:pPr>
            <a:r>
              <a:rPr lang="en-US" b="1" i="0" dirty="0">
                <a:solidFill>
                  <a:srgbClr val="000000"/>
                </a:solidFill>
                <a:effectLst/>
                <a:latin typeface="J&amp;J Circular Light"/>
              </a:rPr>
              <a:t>Strong match = Kinematic Alignment (KA)</a:t>
            </a:r>
            <a:r>
              <a:rPr lang="en-US" b="0" i="0" dirty="0">
                <a:solidFill>
                  <a:srgbClr val="000000"/>
                </a:solidFill>
                <a:effectLst/>
                <a:latin typeface="J&amp;J Circular Light"/>
              </a:rPr>
              <a:t> </a:t>
            </a:r>
          </a:p>
        </p:txBody>
      </p:sp>
    </p:spTree>
    <p:extLst>
      <p:ext uri="{BB962C8B-B14F-4D97-AF65-F5344CB8AC3E}">
        <p14:creationId xmlns:p14="http://schemas.microsoft.com/office/powerpoint/2010/main" val="1326132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413</TotalTime>
  <Words>1304</Words>
  <Application>Microsoft Office PowerPoint</Application>
  <PresentationFormat>On-screen Show (4:3)</PresentationFormat>
  <Paragraphs>175</Paragraphs>
  <Slides>17</Slides>
  <Notes>12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Calibri</vt:lpstr>
      <vt:lpstr>J&amp;J Circular Light</vt:lpstr>
      <vt:lpstr>Johnson Display</vt:lpstr>
      <vt:lpstr>Office Theme</vt:lpstr>
      <vt:lpstr>PowerPoint Presentation</vt:lpstr>
      <vt:lpstr>Choose one…</vt:lpstr>
      <vt:lpstr>PowerPoint Presentation</vt:lpstr>
      <vt:lpstr>Do you adjust your resections to balance the soft tissue?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Storms, James [DPYUS]</dc:creator>
  <cp:keywords/>
  <dc:description>generated using python-pptx</dc:description>
  <cp:lastModifiedBy>Storms, James [DPYUS]</cp:lastModifiedBy>
  <cp:revision>3</cp:revision>
  <dcterms:created xsi:type="dcterms:W3CDTF">2013-01-27T09:14:16Z</dcterms:created>
  <dcterms:modified xsi:type="dcterms:W3CDTF">2025-07-23T17:24:10Z</dcterms:modified>
  <cp:category/>
</cp:coreProperties>
</file>