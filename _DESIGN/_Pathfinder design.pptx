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6" r:id="rId3"/>
    <p:sldId id="262" r:id="rId4"/>
    <p:sldId id="260" r:id="rId5"/>
    <p:sldId id="261" r:id="rId6"/>
    <p:sldId id="25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169"/>
    <a:srgbClr val="6E6259"/>
    <a:srgbClr val="9E0000"/>
    <a:srgbClr val="F1EF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snapToObjects="1">
      <p:cViewPr varScale="1">
        <p:scale>
          <a:sx n="89" d="100"/>
          <a:sy n="89" d="100"/>
        </p:scale>
        <p:origin x="1692" y="-132"/>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26E0D-9655-437F-916D-403036BC0650}" type="datetimeFigureOut">
              <a:rPr lang="en-US" smtClean="0"/>
              <a:t>7/22/2025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43CD5A-BEFA-4710-8CA5-926B9DDC69E9}" type="slidenum">
              <a:rPr lang="en-US" smtClean="0"/>
              <a:t>‹#›</a:t>
            </a:fld>
            <a:endParaRPr lang="en-US"/>
          </a:p>
        </p:txBody>
      </p:sp>
    </p:spTree>
    <p:extLst>
      <p:ext uri="{BB962C8B-B14F-4D97-AF65-F5344CB8AC3E}">
        <p14:creationId xmlns:p14="http://schemas.microsoft.com/office/powerpoint/2010/main" val="3402359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43CD5A-BEFA-4710-8CA5-926B9DDC69E9}" type="slidenum">
              <a:rPr lang="en-US" smtClean="0"/>
              <a:t>2</a:t>
            </a:fld>
            <a:endParaRPr lang="en-US"/>
          </a:p>
        </p:txBody>
      </p:sp>
    </p:spTree>
    <p:extLst>
      <p:ext uri="{BB962C8B-B14F-4D97-AF65-F5344CB8AC3E}">
        <p14:creationId xmlns:p14="http://schemas.microsoft.com/office/powerpoint/2010/main" val="392083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D3FEE-F65A-F289-0AF2-31F903604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D6690-8595-A50D-C20B-11A27AD2BA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AE8F1-0498-68D2-4F97-F8AF335FB1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1D680E-17DB-9949-A2F5-FF702D2800EA}"/>
              </a:ext>
            </a:extLst>
          </p:cNvPr>
          <p:cNvSpPr>
            <a:spLocks noGrp="1"/>
          </p:cNvSpPr>
          <p:nvPr>
            <p:ph type="sldNum" sz="quarter" idx="5"/>
          </p:nvPr>
        </p:nvSpPr>
        <p:spPr/>
        <p:txBody>
          <a:bodyPr/>
          <a:lstStyle/>
          <a:p>
            <a:fld id="{C143CD5A-BEFA-4710-8CA5-926B9DDC69E9}" type="slidenum">
              <a:rPr lang="en-US" smtClean="0"/>
              <a:t>3</a:t>
            </a:fld>
            <a:endParaRPr lang="en-US"/>
          </a:p>
        </p:txBody>
      </p:sp>
    </p:spTree>
    <p:extLst>
      <p:ext uri="{BB962C8B-B14F-4D97-AF65-F5344CB8AC3E}">
        <p14:creationId xmlns:p14="http://schemas.microsoft.com/office/powerpoint/2010/main" val="1536669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4912-E8AA-1DCB-6B31-FEEE860F8F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472DB-292E-D83F-95DF-8A0B8B97C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1E974-3302-0A22-3EAD-C04CECA592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164D98-A2A7-9C91-90DA-398C4CC90758}"/>
              </a:ext>
            </a:extLst>
          </p:cNvPr>
          <p:cNvSpPr>
            <a:spLocks noGrp="1"/>
          </p:cNvSpPr>
          <p:nvPr>
            <p:ph type="sldNum" sz="quarter" idx="5"/>
          </p:nvPr>
        </p:nvSpPr>
        <p:spPr/>
        <p:txBody>
          <a:bodyPr/>
          <a:lstStyle/>
          <a:p>
            <a:fld id="{C143CD5A-BEFA-4710-8CA5-926B9DDC69E9}" type="slidenum">
              <a:rPr lang="en-US" smtClean="0"/>
              <a:t>4</a:t>
            </a:fld>
            <a:endParaRPr lang="en-US"/>
          </a:p>
        </p:txBody>
      </p:sp>
    </p:spTree>
    <p:extLst>
      <p:ext uri="{BB962C8B-B14F-4D97-AF65-F5344CB8AC3E}">
        <p14:creationId xmlns:p14="http://schemas.microsoft.com/office/powerpoint/2010/main" val="878933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EC428-7893-BFE1-C074-86DBF7513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66A581-5A93-C95A-2154-30B3B6E4B1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16FEC-4166-D5D9-841C-EA2EF08DA0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D093A8-95EE-04A3-C044-9B51964A2EB5}"/>
              </a:ext>
            </a:extLst>
          </p:cNvPr>
          <p:cNvSpPr>
            <a:spLocks noGrp="1"/>
          </p:cNvSpPr>
          <p:nvPr>
            <p:ph type="sldNum" sz="quarter" idx="5"/>
          </p:nvPr>
        </p:nvSpPr>
        <p:spPr/>
        <p:txBody>
          <a:bodyPr/>
          <a:lstStyle/>
          <a:p>
            <a:fld id="{C143CD5A-BEFA-4710-8CA5-926B9DDC69E9}" type="slidenum">
              <a:rPr lang="en-US" smtClean="0"/>
              <a:t>5</a:t>
            </a:fld>
            <a:endParaRPr lang="en-US"/>
          </a:p>
        </p:txBody>
      </p:sp>
    </p:spTree>
    <p:extLst>
      <p:ext uri="{BB962C8B-B14F-4D97-AF65-F5344CB8AC3E}">
        <p14:creationId xmlns:p14="http://schemas.microsoft.com/office/powerpoint/2010/main" val="2290249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88D46-1547-E6AA-4325-8E90CBB74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349AA-9A41-3FD0-49FB-4AE50D4980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C55A9A-C62C-64D2-F473-1A7CE5D120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27B70C-DF0C-C76F-B779-71EE0C86739D}"/>
              </a:ext>
            </a:extLst>
          </p:cNvPr>
          <p:cNvSpPr>
            <a:spLocks noGrp="1"/>
          </p:cNvSpPr>
          <p:nvPr>
            <p:ph type="sldNum" sz="quarter" idx="5"/>
          </p:nvPr>
        </p:nvSpPr>
        <p:spPr/>
        <p:txBody>
          <a:bodyPr/>
          <a:lstStyle/>
          <a:p>
            <a:fld id="{C143CD5A-BEFA-4710-8CA5-926B9DDC69E9}" type="slidenum">
              <a:rPr lang="en-US" smtClean="0"/>
              <a:t>6</a:t>
            </a:fld>
            <a:endParaRPr lang="en-US"/>
          </a:p>
        </p:txBody>
      </p:sp>
    </p:spTree>
    <p:extLst>
      <p:ext uri="{BB962C8B-B14F-4D97-AF65-F5344CB8AC3E}">
        <p14:creationId xmlns:p14="http://schemas.microsoft.com/office/powerpoint/2010/main" val="1037777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43EE-D505-A446-55BC-7DD939DDE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5B9A93-6AF5-BDA4-09D4-9D3EE1623C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025E92-2CB3-B4D0-5A31-FCF1C6626D8A}"/>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5" name="Footer Placeholder 4">
            <a:extLst>
              <a:ext uri="{FF2B5EF4-FFF2-40B4-BE49-F238E27FC236}">
                <a16:creationId xmlns:a16="http://schemas.microsoft.com/office/drawing/2014/main" id="{CA06344B-3E3F-2821-225A-16A7FB5CEF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BDCB41-0E3E-052D-A3AA-1DFD6964B707}"/>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049552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9B76E-EA21-309B-A526-427A312F42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97E148-332C-5AEB-90CC-3EED38AFE6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65C6F9-15CE-8CE7-FFDB-CF9FE2DC42DD}"/>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5" name="Footer Placeholder 4">
            <a:extLst>
              <a:ext uri="{FF2B5EF4-FFF2-40B4-BE49-F238E27FC236}">
                <a16:creationId xmlns:a16="http://schemas.microsoft.com/office/drawing/2014/main" id="{B5D5944B-B2B8-F192-4FBE-A07A8D549F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6471E-A70A-1F48-AD1D-CA056EA0628B}"/>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124356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59636-1FCA-9503-514D-A8C9165996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B835A3-CFEA-399F-C3A8-C75AE30068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E629F6-F946-78BD-A59F-037113B7DA2C}"/>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5" name="Footer Placeholder 4">
            <a:extLst>
              <a:ext uri="{FF2B5EF4-FFF2-40B4-BE49-F238E27FC236}">
                <a16:creationId xmlns:a16="http://schemas.microsoft.com/office/drawing/2014/main" id="{2CFD347C-7302-575B-FDB7-3E05A99384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6793E-6046-B5DA-D4B6-4376C2FA3FDE}"/>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3499090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B89D9-0BA2-3AD1-8F84-B199DB736F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71852F-208F-BC15-F748-301882D73E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6A5F60-6C71-0E0B-7EAF-1A52E76799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B4268B-4A09-3E19-38C1-C43B9C30A25A}"/>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6" name="Footer Placeholder 5">
            <a:extLst>
              <a:ext uri="{FF2B5EF4-FFF2-40B4-BE49-F238E27FC236}">
                <a16:creationId xmlns:a16="http://schemas.microsoft.com/office/drawing/2014/main" id="{B5768568-A212-178D-ECD2-BEACBE3668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C0E062-09C6-29AA-8185-06FF1D5B3926}"/>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53719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E8981-C717-FB7E-7F33-F5F6AD432E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BAEB43-9D32-485B-5E61-6C949E4644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B39B40-1EC0-1FC1-8327-154C74D47B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AA4A78-A32F-3EBD-88A5-8677322242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24BED7-DF95-C7E7-EFA4-E49E86D355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AEFBF7-4DAB-C04C-A9BC-55656D4716B6}"/>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8" name="Footer Placeholder 7">
            <a:extLst>
              <a:ext uri="{FF2B5EF4-FFF2-40B4-BE49-F238E27FC236}">
                <a16:creationId xmlns:a16="http://schemas.microsoft.com/office/drawing/2014/main" id="{7BE81F32-A680-15C9-8DE0-3F17BD0275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7F6219-E9F5-CC97-0F5E-A363C2AD1291}"/>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6263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C6CA0-6460-27BE-431C-BBB84F3FB3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4E8AA6-C0DE-4811-CC04-926FD61CF5B3}"/>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4" name="Footer Placeholder 3">
            <a:extLst>
              <a:ext uri="{FF2B5EF4-FFF2-40B4-BE49-F238E27FC236}">
                <a16:creationId xmlns:a16="http://schemas.microsoft.com/office/drawing/2014/main" id="{BBAF91B1-308D-8CCD-4A15-769199B37A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A78B24-8057-3BE8-0C17-0E72109B2246}"/>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522585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8545CF-E2AC-F956-853B-D00423EE2E8E}"/>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3" name="Footer Placeholder 2">
            <a:extLst>
              <a:ext uri="{FF2B5EF4-FFF2-40B4-BE49-F238E27FC236}">
                <a16:creationId xmlns:a16="http://schemas.microsoft.com/office/drawing/2014/main" id="{CF10578D-5318-F1BD-0EA1-0BF176D107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66DE17-A41F-BA1E-A2EB-F6EDC82069F9}"/>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1912121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D8CF1-483B-DA84-11F8-AEBB0D22D9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3F0718-F3CD-0CEB-7140-91509761DB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30E744-9E6F-60E7-77A7-E6CCA6183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D71267-81E8-CF09-F31A-43F098B8CE40}"/>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6" name="Footer Placeholder 5">
            <a:extLst>
              <a:ext uri="{FF2B5EF4-FFF2-40B4-BE49-F238E27FC236}">
                <a16:creationId xmlns:a16="http://schemas.microsoft.com/office/drawing/2014/main" id="{686EE9C9-043F-0397-AA99-8228E61A19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9D1CFF-5F9E-FD31-D282-ABFE2EB70F5F}"/>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549742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7EBC8-6A09-1B6B-D2B2-337F0FD35C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48687C-82CB-D02A-0098-2763973568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21CC83-D0FE-1C57-80CA-1DD6EE6FE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994172-AB4A-3568-D255-B7F65A07D8DC}"/>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6" name="Footer Placeholder 5">
            <a:extLst>
              <a:ext uri="{FF2B5EF4-FFF2-40B4-BE49-F238E27FC236}">
                <a16:creationId xmlns:a16="http://schemas.microsoft.com/office/drawing/2014/main" id="{A298BB87-A73D-EAE5-4252-D8E82F2828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43410B-D17A-267F-EA62-38572D756CE9}"/>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1654849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45F15-9E85-0F11-60E3-63F357BD79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413395-DCF6-C3CF-82C4-A09332B41B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0DD08B-CB3F-009A-0C58-0FF0B156108F}"/>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5" name="Footer Placeholder 4">
            <a:extLst>
              <a:ext uri="{FF2B5EF4-FFF2-40B4-BE49-F238E27FC236}">
                <a16:creationId xmlns:a16="http://schemas.microsoft.com/office/drawing/2014/main" id="{4E6F6B15-41EC-5108-D2E2-572EEB5D00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B7BCBA-80CC-33BA-4AC7-6CB081289721}"/>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1190349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7F5C97-E4D3-8689-DD2B-CAB9D0407F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597FB0-BA76-DD52-5A1F-E3126FD55D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ACF812-BA51-FDAF-A9D7-102B0A0BA8FF}"/>
              </a:ext>
            </a:extLst>
          </p:cNvPr>
          <p:cNvSpPr>
            <a:spLocks noGrp="1"/>
          </p:cNvSpPr>
          <p:nvPr>
            <p:ph type="dt" sz="half" idx="10"/>
          </p:nvPr>
        </p:nvSpPr>
        <p:spPr/>
        <p:txBody>
          <a:bodyPr/>
          <a:lstStyle/>
          <a:p>
            <a:fld id="{617E340D-0EBC-4FD4-9AC9-F419EBBED343}" type="datetimeFigureOut">
              <a:rPr lang="en-US" smtClean="0"/>
              <a:t>7/22/2025</a:t>
            </a:fld>
            <a:endParaRPr lang="en-US"/>
          </a:p>
        </p:txBody>
      </p:sp>
      <p:sp>
        <p:nvSpPr>
          <p:cNvPr id="5" name="Footer Placeholder 4">
            <a:extLst>
              <a:ext uri="{FF2B5EF4-FFF2-40B4-BE49-F238E27FC236}">
                <a16:creationId xmlns:a16="http://schemas.microsoft.com/office/drawing/2014/main" id="{D01EF8F7-558D-C438-7443-39CA78E8F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2C993-275B-85CF-2F2E-C57B20C19166}"/>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1479653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3062C5-6D2D-475F-AE60-B7F39ACA2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C4385E-EC1D-B7F0-60F8-FDCE0E9820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2D53FC-F2D8-039F-F74F-5C31E5E5AA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7E340D-0EBC-4FD4-9AC9-F419EBBED343}" type="datetimeFigureOut">
              <a:rPr lang="en-US" smtClean="0"/>
              <a:t>7/22/2025</a:t>
            </a:fld>
            <a:endParaRPr lang="en-US"/>
          </a:p>
        </p:txBody>
      </p:sp>
      <p:sp>
        <p:nvSpPr>
          <p:cNvPr id="5" name="Footer Placeholder 4">
            <a:extLst>
              <a:ext uri="{FF2B5EF4-FFF2-40B4-BE49-F238E27FC236}">
                <a16:creationId xmlns:a16="http://schemas.microsoft.com/office/drawing/2014/main" id="{89A82E8F-4288-A0A6-6C11-A32499975B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B57B4E-3A7A-A898-0A17-8CFF7B923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FA7EEB-BB0B-4CEB-9222-674A6188D012}" type="slidenum">
              <a:rPr lang="en-US" smtClean="0"/>
              <a:t>‹#›</a:t>
            </a:fld>
            <a:endParaRPr lang="en-US"/>
          </a:p>
        </p:txBody>
      </p:sp>
    </p:spTree>
    <p:extLst>
      <p:ext uri="{BB962C8B-B14F-4D97-AF65-F5344CB8AC3E}">
        <p14:creationId xmlns:p14="http://schemas.microsoft.com/office/powerpoint/2010/main" val="3735324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pathfinder.jnj.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image" Target="../media/image9.svg"/><Relationship Id="rId4" Type="http://schemas.openxmlformats.org/officeDocument/2006/relationships/image" Target="../media/image3.jp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image" Target="../media/image2.png"/><Relationship Id="rId4" Type="http://schemas.openxmlformats.org/officeDocument/2006/relationships/image" Target="../media/image11.jpeg"/><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AFECE4-F1E2-08E5-C1B6-CF6DAB8E376F}"/>
              </a:ext>
            </a:extLst>
          </p:cNvPr>
          <p:cNvSpPr txBox="1"/>
          <p:nvPr/>
        </p:nvSpPr>
        <p:spPr>
          <a:xfrm>
            <a:off x="141000" y="564311"/>
            <a:ext cx="12051000" cy="7078861"/>
          </a:xfrm>
          <a:prstGeom prst="rect">
            <a:avLst/>
          </a:prstGeom>
          <a:noFill/>
        </p:spPr>
        <p:txBody>
          <a:bodyPr wrap="square">
            <a:spAutoFit/>
          </a:bodyPr>
          <a:lstStyle/>
          <a:p>
            <a:pPr marL="171450" indent="-171450">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Vanity URL: Use </a:t>
            </a:r>
            <a:r>
              <a:rPr lang="en-US" sz="1400" b="0" i="0" dirty="0">
                <a:solidFill>
                  <a:srgbClr val="1155CC"/>
                </a:solidFill>
                <a:effectLst/>
                <a:latin typeface="Arial" panose="020B0604020202020204" pitchFamily="34" charset="0"/>
                <a:hlinkClick r:id="rId2"/>
              </a:rPr>
              <a:t>www.pathfinder.jnj.com</a:t>
            </a:r>
            <a:r>
              <a:rPr lang="en-US" sz="1400" b="0" i="0" dirty="0">
                <a:solidFill>
                  <a:srgbClr val="222222"/>
                </a:solidFill>
                <a:effectLst/>
                <a:latin typeface="Arial" panose="020B0604020202020204" pitchFamily="34" charset="0"/>
              </a:rPr>
              <a:t> </a:t>
            </a:r>
            <a:r>
              <a:rPr lang="en-US" sz="1400" b="0" i="0" dirty="0">
                <a:solidFill>
                  <a:schemeClr val="accent1"/>
                </a:solidFill>
                <a:effectLst/>
                <a:latin typeface="Arial" panose="020B0604020202020204" pitchFamily="34" charset="0"/>
              </a:rPr>
              <a:t>What is this? </a:t>
            </a:r>
            <a:r>
              <a:rPr lang="en-US" sz="1400" b="1" i="0" dirty="0">
                <a:solidFill>
                  <a:schemeClr val="accent1"/>
                </a:solidFill>
                <a:effectLst/>
                <a:latin typeface="Arial" panose="020B0604020202020204" pitchFamily="34" charset="0"/>
              </a:rPr>
              <a:t>Cannot do this RMS</a:t>
            </a:r>
            <a:endParaRPr lang="en-US" sz="1400" b="1" i="0" dirty="0">
              <a:solidFill>
                <a:srgbClr val="222222"/>
              </a:solidFill>
              <a:effectLst/>
              <a:latin typeface="Arial" panose="020B0604020202020204" pitchFamily="34" charset="0"/>
            </a:endParaRP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KR Conversation Guide Branding: Add Pathfinder “brand” at the top left of the page using the J&amp;J font in all caps. </a:t>
            </a:r>
            <a:r>
              <a:rPr lang="en-US" sz="1400" b="0" i="0" dirty="0">
                <a:solidFill>
                  <a:schemeClr val="accent1"/>
                </a:solidFill>
                <a:effectLst/>
                <a:latin typeface="Arial" panose="020B0604020202020204" pitchFamily="34" charset="0"/>
              </a:rPr>
              <a:t>What is this?</a:t>
            </a:r>
            <a:endParaRPr lang="en-US" sz="1400" dirty="0">
              <a:solidFill>
                <a:schemeClr val="accent1"/>
              </a:solidFill>
              <a:latin typeface="Arial" panose="020B0604020202020204" pitchFamily="34" charset="0"/>
            </a:endParaRPr>
          </a:p>
          <a:p>
            <a:pPr marL="171450" indent="-171450" algn="l">
              <a:spcAft>
                <a:spcPts val="600"/>
              </a:spcAft>
              <a:buFont typeface="Arial" panose="020B0604020202020204" pitchFamily="34" charset="0"/>
              <a:buChar char="•"/>
            </a:pPr>
            <a:r>
              <a:rPr lang="en-US" sz="1400" dirty="0">
                <a:solidFill>
                  <a:srgbClr val="222222"/>
                </a:solidFill>
                <a:highlight>
                  <a:srgbClr val="00FF00"/>
                </a:highlight>
                <a:latin typeface="Arial" panose="020B0604020202020204" pitchFamily="34" charset="0"/>
              </a:rPr>
              <a:t>B</a:t>
            </a:r>
            <a:r>
              <a:rPr lang="en-US" sz="1400" b="0" i="0" dirty="0">
                <a:solidFill>
                  <a:srgbClr val="222222"/>
                </a:solidFill>
                <a:effectLst/>
                <a:highlight>
                  <a:srgbClr val="00FF00"/>
                </a:highlight>
                <a:latin typeface="Arial" panose="020B0604020202020204" pitchFamily="34" charset="0"/>
              </a:rPr>
              <a:t>randing - Center Kinematic Restoration Conversation Guide in the middle of the header. </a:t>
            </a:r>
          </a:p>
          <a:p>
            <a:pPr marL="171450" indent="-171450" algn="l">
              <a:spcAft>
                <a:spcPts val="600"/>
              </a:spcAft>
              <a:buFont typeface="Arial" panose="020B0604020202020204" pitchFamily="34" charset="0"/>
              <a:buChar char="•"/>
            </a:pPr>
            <a:r>
              <a:rPr lang="en-US" sz="1400" b="0" i="0" dirty="0">
                <a:solidFill>
                  <a:srgbClr val="222222"/>
                </a:solidFill>
                <a:effectLst/>
                <a:highlight>
                  <a:srgbClr val="00FF00"/>
                </a:highlight>
                <a:latin typeface="Arial" panose="020B0604020202020204" pitchFamily="34" charset="0"/>
              </a:rPr>
              <a:t>Intro Text Update: Update the intro text to: “The Pathfinder Kinematic Restoration Conversation Guide will help…” </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Landing Page: Suggest creating a landing page video or graphic to enhance engagement.</a:t>
            </a:r>
            <a:r>
              <a:rPr lang="en-US" sz="1400" b="0" i="0" dirty="0">
                <a:solidFill>
                  <a:schemeClr val="accent1"/>
                </a:solidFill>
                <a:effectLst/>
                <a:latin typeface="Arial" panose="020B0604020202020204" pitchFamily="34" charset="0"/>
              </a:rPr>
              <a:t> I think a video could play and then the links appear after. </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Disclaimers: </a:t>
            </a:r>
            <a:r>
              <a:rPr lang="en-US" sz="1400" b="0" i="0" dirty="0">
                <a:solidFill>
                  <a:srgbClr val="222222"/>
                </a:solidFill>
                <a:effectLst/>
                <a:highlight>
                  <a:srgbClr val="00FF00"/>
                </a:highlight>
                <a:latin typeface="Arial" panose="020B0604020202020204" pitchFamily="34" charset="0"/>
              </a:rPr>
              <a:t>Add standard legal disclaimers and copyright (© Johnson &amp; Johnson, [Year]) at the bottom. </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Glossary Terms: Move “Anatomy” and similar glossary terms to the upper right of the rectangular space. </a:t>
            </a:r>
            <a:r>
              <a:rPr lang="en-US" sz="1400" b="0" i="0" dirty="0">
                <a:solidFill>
                  <a:schemeClr val="accent1"/>
                </a:solidFill>
                <a:effectLst/>
                <a:latin typeface="Arial" panose="020B0604020202020204" pitchFamily="34" charset="0"/>
              </a:rPr>
              <a:t>What is this?</a:t>
            </a:r>
            <a:endParaRPr lang="en-US" sz="1400" b="0" i="0" dirty="0">
              <a:solidFill>
                <a:srgbClr val="222222"/>
              </a:solidFill>
              <a:effectLst/>
              <a:latin typeface="Arial" panose="020B0604020202020204" pitchFamily="34" charset="0"/>
            </a:endParaRP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Editable Fields: Include the ability to edit/</a:t>
            </a:r>
            <a:r>
              <a:rPr lang="en-US" sz="1400" i="0" dirty="0">
                <a:solidFill>
                  <a:srgbClr val="222222"/>
                </a:solidFill>
                <a:effectLst/>
                <a:latin typeface="Arial" panose="020B0604020202020204" pitchFamily="34" charset="0"/>
              </a:rPr>
              <a:t>change certain “conversation” details (e.g., surgeon name) after initial creation. </a:t>
            </a:r>
            <a:r>
              <a:rPr lang="en-US" sz="1400" i="0" dirty="0">
                <a:solidFill>
                  <a:schemeClr val="accent1"/>
                </a:solidFill>
                <a:effectLst/>
                <a:latin typeface="Arial" panose="020B0604020202020204" pitchFamily="34" charset="0"/>
              </a:rPr>
              <a:t>Can we just add an Edit icon next to Surgeon’s name? </a:t>
            </a:r>
            <a:r>
              <a:rPr lang="en-US" sz="1400" b="1" i="0" dirty="0">
                <a:solidFill>
                  <a:schemeClr val="accent1"/>
                </a:solidFill>
                <a:effectLst/>
                <a:latin typeface="Arial" panose="020B0604020202020204" pitchFamily="34" charset="0"/>
              </a:rPr>
              <a:t>RMS to investigate</a:t>
            </a:r>
            <a:r>
              <a:rPr lang="en-US" sz="1400" b="0" i="0" dirty="0">
                <a:solidFill>
                  <a:schemeClr val="accent1"/>
                </a:solidFill>
                <a:effectLst/>
                <a:latin typeface="Arial" panose="020B0604020202020204" pitchFamily="34" charset="0"/>
              </a:rPr>
              <a:t>.</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Alignment Philosophy Scores: </a:t>
            </a:r>
          </a:p>
          <a:p>
            <a:pPr marL="742950" lvl="1" indent="-285750" algn="l">
              <a:spcAft>
                <a:spcPts val="600"/>
              </a:spcAft>
              <a:buFont typeface="Courier New" panose="02070309020205020404" pitchFamily="49" charset="0"/>
              <a:buChar char="o"/>
            </a:pPr>
            <a:r>
              <a:rPr lang="en-US" sz="1400" b="0" i="0" dirty="0">
                <a:solidFill>
                  <a:srgbClr val="222222"/>
                </a:solidFill>
                <a:effectLst/>
                <a:latin typeface="Arial" panose="020B0604020202020204" pitchFamily="34" charset="0"/>
              </a:rPr>
              <a:t>Current visuals seem a bit scattered. We would like for the </a:t>
            </a:r>
            <a:r>
              <a:rPr lang="en-US" sz="1400" b="0" i="0" dirty="0" err="1">
                <a:solidFill>
                  <a:srgbClr val="222222"/>
                </a:solidFill>
                <a:effectLst/>
                <a:latin typeface="Arial" panose="020B0604020202020204" pitchFamily="34" charset="0"/>
              </a:rPr>
              <a:t>guideto</a:t>
            </a:r>
            <a:r>
              <a:rPr lang="en-US" sz="1400" b="0" i="0" dirty="0">
                <a:solidFill>
                  <a:srgbClr val="222222"/>
                </a:solidFill>
                <a:effectLst/>
                <a:latin typeface="Arial" panose="020B0604020202020204" pitchFamily="34" charset="0"/>
              </a:rPr>
              <a:t> show a clear tendency towards a specific alignment philosophy. </a:t>
            </a:r>
            <a:r>
              <a:rPr lang="en-US" sz="1400" b="0" i="0" dirty="0">
                <a:solidFill>
                  <a:schemeClr val="accent1"/>
                </a:solidFill>
                <a:effectLst/>
                <a:latin typeface="Arial" panose="020B0604020202020204" pitchFamily="34" charset="0"/>
              </a:rPr>
              <a:t>Don’t understand this. Need clarification.</a:t>
            </a:r>
          </a:p>
          <a:p>
            <a:pPr marL="742950" lvl="1" indent="-285750" algn="l">
              <a:spcAft>
                <a:spcPts val="600"/>
              </a:spcAft>
              <a:buFont typeface="Courier New" panose="02070309020205020404" pitchFamily="49" charset="0"/>
              <a:buChar char="o"/>
            </a:pPr>
            <a:r>
              <a:rPr lang="en-US" sz="1400" b="0" i="0" dirty="0">
                <a:solidFill>
                  <a:srgbClr val="222222"/>
                </a:solidFill>
                <a:effectLst/>
                <a:latin typeface="Arial" panose="020B0604020202020204" pitchFamily="34" charset="0"/>
              </a:rPr>
              <a:t>Brainstorm alternative visuals – maybe a larger “dot” indicating the direction, not just on hover. </a:t>
            </a:r>
          </a:p>
          <a:p>
            <a:pPr marL="171450" indent="-171450" algn="l">
              <a:spcAft>
                <a:spcPts val="600"/>
              </a:spcAft>
              <a:buFont typeface="Arial" panose="020B0604020202020204" pitchFamily="34" charset="0"/>
              <a:buChar char="•"/>
            </a:pPr>
            <a:r>
              <a:rPr lang="en-US" sz="1400" b="0" i="0" dirty="0">
                <a:solidFill>
                  <a:srgbClr val="222222"/>
                </a:solidFill>
                <a:effectLst/>
                <a:highlight>
                  <a:srgbClr val="00FF00"/>
                </a:highlight>
                <a:latin typeface="Arial" panose="020B0604020202020204" pitchFamily="34" charset="0"/>
              </a:rPr>
              <a:t>Color Guidelines: Avoid using orange. Stick with dominant J&amp;J colors — primarily red with supporting tones from the J&amp;J color palette. </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PDF Layout Improvements: For downloadable PDFs, move alignment philosophy abbreviations (e.g., KA) to the far right for cleaner presentation. </a:t>
            </a:r>
            <a:r>
              <a:rPr lang="en-US" sz="1400" b="0" i="0" dirty="0">
                <a:solidFill>
                  <a:schemeClr val="accent1"/>
                </a:solidFill>
                <a:effectLst/>
                <a:latin typeface="Arial" panose="020B0604020202020204" pitchFamily="34" charset="0"/>
              </a:rPr>
              <a:t>Don’t understand.</a:t>
            </a:r>
          </a:p>
          <a:p>
            <a:pPr marL="171450" indent="-1714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When creating a new conversation, users currently need to select a “Current Alignment Philosophy.” Could we please add an option for “Unknown” to account for situations where that information isn’t available? </a:t>
            </a:r>
            <a:r>
              <a:rPr lang="en-US" sz="1400" dirty="0">
                <a:solidFill>
                  <a:schemeClr val="accent1"/>
                </a:solidFill>
                <a:latin typeface="Arial" panose="020B0604020202020204" pitchFamily="34" charset="0"/>
                <a:cs typeface="Arial" panose="020B0604020202020204" pitchFamily="34" charset="0"/>
              </a:rPr>
              <a:t>RMS to do</a:t>
            </a:r>
          </a:p>
          <a:p>
            <a:pPr marL="171450" indent="-1714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We’ll need to update the questions to match those in the attached PowerPoint. The correct scoring is listed in the notes section of each slide. Apologies, I had thought the updated version had already been shared. </a:t>
            </a:r>
            <a:r>
              <a:rPr lang="en-US" sz="1400" dirty="0">
                <a:solidFill>
                  <a:schemeClr val="accent1"/>
                </a:solidFill>
                <a:latin typeface="Arial" panose="020B0604020202020204" pitchFamily="34" charset="0"/>
                <a:cs typeface="Arial" panose="020B0604020202020204" pitchFamily="34" charset="0"/>
              </a:rPr>
              <a:t>RMS to do – Don get final questions.</a:t>
            </a:r>
          </a:p>
          <a:p>
            <a:pPr marL="171450" indent="-1714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Would it be possible for the sales consultant to review all questions and answers at the end of the conversation? This would be helpful for quick reference and reinforcement. </a:t>
            </a:r>
            <a:r>
              <a:rPr lang="en-US" sz="1400" dirty="0">
                <a:solidFill>
                  <a:schemeClr val="accent1"/>
                </a:solidFill>
                <a:latin typeface="Arial" panose="020B0604020202020204" pitchFamily="34" charset="0"/>
                <a:cs typeface="Arial" panose="020B0604020202020204" pitchFamily="34" charset="0"/>
              </a:rPr>
              <a:t>Where do you want the button / link (title) on the summary?</a:t>
            </a:r>
          </a:p>
          <a:p>
            <a:pPr marL="171450" indent="-1714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Can we add a “Download Conversation” button that would allow the user to export the conversation as a PDF?</a:t>
            </a:r>
            <a:r>
              <a:rPr lang="en-US" sz="1400" dirty="0">
                <a:solidFill>
                  <a:schemeClr val="accent1"/>
                </a:solidFill>
                <a:latin typeface="Arial" panose="020B0604020202020204" pitchFamily="34" charset="0"/>
                <a:cs typeface="Arial" panose="020B0604020202020204" pitchFamily="34" charset="0"/>
              </a:rPr>
              <a:t> This will be done once summary is complete</a:t>
            </a:r>
          </a:p>
          <a:p>
            <a:pPr marL="171450" indent="-171450">
              <a:spcAft>
                <a:spcPts val="600"/>
              </a:spcAft>
              <a:buFont typeface="Arial" panose="020B0604020202020204" pitchFamily="34" charset="0"/>
              <a:buChar char="•"/>
            </a:pPr>
            <a:r>
              <a:rPr lang="en-US" dirty="0"/>
              <a:t>Could you update the highlighted to “Femur/Tibia first” in the Compare Alignment Philosophy section of Pathfinder?</a:t>
            </a:r>
            <a:endParaRPr lang="en-US" sz="1400" dirty="0">
              <a:solidFill>
                <a:schemeClr val="accent1"/>
              </a:solidFill>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A8B89EF-D93C-277D-931C-CF0E6FE10781}"/>
              </a:ext>
            </a:extLst>
          </p:cNvPr>
          <p:cNvSpPr/>
          <p:nvPr/>
        </p:nvSpPr>
        <p:spPr>
          <a:xfrm>
            <a:off x="-2857500" y="32863"/>
            <a:ext cx="2724150" cy="500667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Notes: I changed items in green on next pages. </a:t>
            </a:r>
          </a:p>
          <a:p>
            <a:endParaRPr lang="en-US" dirty="0">
              <a:solidFill>
                <a:schemeClr val="bg1"/>
              </a:solidFill>
            </a:endParaRPr>
          </a:p>
          <a:p>
            <a:r>
              <a:rPr lang="en-US" dirty="0">
                <a:solidFill>
                  <a:schemeClr val="bg1"/>
                </a:solidFill>
              </a:rPr>
              <a:t> I don’t understand what many of the other changes are. </a:t>
            </a:r>
          </a:p>
          <a:p>
            <a:endParaRPr lang="en-US" dirty="0">
              <a:solidFill>
                <a:schemeClr val="bg1"/>
              </a:solidFill>
            </a:endParaRPr>
          </a:p>
        </p:txBody>
      </p:sp>
      <p:sp>
        <p:nvSpPr>
          <p:cNvPr id="7" name="Rectangle 6">
            <a:extLst>
              <a:ext uri="{FF2B5EF4-FFF2-40B4-BE49-F238E27FC236}">
                <a16:creationId xmlns:a16="http://schemas.microsoft.com/office/drawing/2014/main" id="{51B63F6E-6BCF-42A2-7D0A-70E77EA08A65}"/>
              </a:ext>
            </a:extLst>
          </p:cNvPr>
          <p:cNvSpPr/>
          <p:nvPr/>
        </p:nvSpPr>
        <p:spPr>
          <a:xfrm>
            <a:off x="3924300" y="0"/>
            <a:ext cx="3867150" cy="3290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bg2"/>
                </a:solidFill>
              </a:rPr>
              <a:t>Changes for Pathfinder</a:t>
            </a:r>
          </a:p>
          <a:p>
            <a:pPr algn="ctr"/>
            <a:endParaRPr lang="en-US" dirty="0">
              <a:solidFill>
                <a:schemeClr val="bg2"/>
              </a:solidFill>
            </a:endParaRPr>
          </a:p>
        </p:txBody>
      </p:sp>
    </p:spTree>
    <p:extLst>
      <p:ext uri="{BB962C8B-B14F-4D97-AF65-F5344CB8AC3E}">
        <p14:creationId xmlns:p14="http://schemas.microsoft.com/office/powerpoint/2010/main" val="3411346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DABEB8-FE2F-D252-0A96-E58CBBFF5700}"/>
              </a:ext>
            </a:extLst>
          </p:cNvPr>
          <p:cNvPicPr>
            <a:picLocks noChangeAspect="1"/>
          </p:cNvPicPr>
          <p:nvPr/>
        </p:nvPicPr>
        <p:blipFill>
          <a:blip r:embed="rId3"/>
          <a:srcRect t="-1" b="10796"/>
          <a:stretch>
            <a:fillRect/>
          </a:stretch>
        </p:blipFill>
        <p:spPr>
          <a:xfrm>
            <a:off x="323044" y="32863"/>
            <a:ext cx="11545911" cy="6059018"/>
          </a:xfrm>
          <a:prstGeom prst="rect">
            <a:avLst/>
          </a:prstGeom>
        </p:spPr>
      </p:pic>
      <p:sp>
        <p:nvSpPr>
          <p:cNvPr id="11" name="TextBox 10">
            <a:extLst>
              <a:ext uri="{FF2B5EF4-FFF2-40B4-BE49-F238E27FC236}">
                <a16:creationId xmlns:a16="http://schemas.microsoft.com/office/drawing/2014/main" id="{43C34348-28C9-4788-CB52-D3D2E609C1D8}"/>
              </a:ext>
            </a:extLst>
          </p:cNvPr>
          <p:cNvSpPr txBox="1"/>
          <p:nvPr/>
        </p:nvSpPr>
        <p:spPr>
          <a:xfrm>
            <a:off x="323044" y="18350"/>
            <a:ext cx="8850134" cy="646758"/>
          </a:xfrm>
          <a:prstGeom prst="rect">
            <a:avLst/>
          </a:prstGeom>
          <a:solidFill>
            <a:schemeClr val="accent1"/>
          </a:solidFill>
        </p:spPr>
        <p:txBody>
          <a:bodyPr wrap="square" anchor="ctr">
            <a:noAutofit/>
          </a:bodyPr>
          <a:lstStyle/>
          <a:p>
            <a:pPr algn="ctr"/>
            <a:r>
              <a:rPr lang="en-US" b="0" i="0" dirty="0">
                <a:solidFill>
                  <a:schemeClr val="bg1"/>
                </a:solidFill>
                <a:effectLst/>
                <a:latin typeface="Johnson Display" panose="00000800000000000000" pitchFamily="50" charset="0"/>
              </a:rPr>
              <a:t>                                        </a:t>
            </a:r>
            <a:r>
              <a:rPr lang="en-US" sz="2400" b="0" i="0" dirty="0">
                <a:solidFill>
                  <a:schemeClr val="bg1"/>
                </a:solidFill>
                <a:effectLst/>
                <a:latin typeface="Johnson Display" panose="00000800000000000000" pitchFamily="50" charset="0"/>
              </a:rPr>
              <a:t>Kinematic Restoration Conversation Guide</a:t>
            </a:r>
            <a:endParaRPr lang="en-US" dirty="0">
              <a:solidFill>
                <a:schemeClr val="bg1"/>
              </a:solidFill>
              <a:latin typeface="Johnson Display" panose="00000800000000000000" pitchFamily="50" charset="0"/>
            </a:endParaRPr>
          </a:p>
        </p:txBody>
      </p:sp>
      <p:sp>
        <p:nvSpPr>
          <p:cNvPr id="12" name="Rectangle 11">
            <a:extLst>
              <a:ext uri="{FF2B5EF4-FFF2-40B4-BE49-F238E27FC236}">
                <a16:creationId xmlns:a16="http://schemas.microsoft.com/office/drawing/2014/main" id="{98884CC6-95F6-B75E-2839-BDBBDFB2351C}"/>
              </a:ext>
            </a:extLst>
          </p:cNvPr>
          <p:cNvSpPr/>
          <p:nvPr/>
        </p:nvSpPr>
        <p:spPr>
          <a:xfrm>
            <a:off x="4943907" y="6499465"/>
            <a:ext cx="6992756" cy="178420"/>
          </a:xfrm>
          <a:prstGeom prst="rect">
            <a:avLst/>
          </a:prstGeom>
        </p:spPr>
        <p:txBody>
          <a:bodyPr wrap="none" rIns="0">
            <a:noAutofit/>
          </a:bodyPr>
          <a:lstStyle/>
          <a:p>
            <a:pPr marL="0" marR="0" lvl="0" indent="0" algn="r" defTabSz="511175" rtl="0" eaLnBrk="1" fontAlgn="base" latinLnBrk="0" hangingPunct="1">
              <a:lnSpc>
                <a:spcPct val="100000"/>
              </a:lnSpc>
              <a:spcBef>
                <a:spcPct val="5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Johnson Text"/>
                <a:ea typeface="+mn-ea"/>
                <a:cs typeface="+mn-cs"/>
              </a:rPr>
              <a:t> CONFIDENTIAL. FOR INTERNAL USE ONLY. NOT FOR USE WITH ANY CUSTOER OR FOR EXTERNAL DISTRIBUTION. </a:t>
            </a:r>
          </a:p>
        </p:txBody>
      </p:sp>
      <p:sp>
        <p:nvSpPr>
          <p:cNvPr id="13" name="TextBox 12">
            <a:extLst>
              <a:ext uri="{FF2B5EF4-FFF2-40B4-BE49-F238E27FC236}">
                <a16:creationId xmlns:a16="http://schemas.microsoft.com/office/drawing/2014/main" id="{0AB0547E-E651-D904-7A40-978444CF888C}"/>
              </a:ext>
            </a:extLst>
          </p:cNvPr>
          <p:cNvSpPr txBox="1"/>
          <p:nvPr/>
        </p:nvSpPr>
        <p:spPr>
          <a:xfrm>
            <a:off x="5771158" y="6339016"/>
            <a:ext cx="6222732" cy="215444"/>
          </a:xfrm>
          <a:prstGeom prst="rect">
            <a:avLst/>
          </a:prstGeom>
          <a:noFill/>
        </p:spPr>
        <p:txBody>
          <a:bodyPr wrap="square">
            <a:spAutoFit/>
          </a:bodyPr>
          <a:lstStyle/>
          <a:p>
            <a:pPr algn="r"/>
            <a:r>
              <a:rPr lang="en-US" sz="800" dirty="0">
                <a:solidFill>
                  <a:srgbClr val="1D1C1D"/>
                </a:solidFill>
                <a:latin typeface="Johnson Text" panose="00000500000000000000" pitchFamily="50" charset="0"/>
              </a:rPr>
              <a:t>© Johnson &amp; Johnson and its affiliates. 2024. All rights reserved.</a:t>
            </a:r>
            <a:endParaRPr lang="en-US" sz="1800" dirty="0">
              <a:solidFill>
                <a:prstClr val="black"/>
              </a:solidFill>
              <a:latin typeface="Microsoft Sans Serif" panose="020B0604020202020204" pitchFamily="34" charset="0"/>
            </a:endParaRPr>
          </a:p>
        </p:txBody>
      </p:sp>
      <p:pic>
        <p:nvPicPr>
          <p:cNvPr id="14" name="Picture 13">
            <a:extLst>
              <a:ext uri="{FF2B5EF4-FFF2-40B4-BE49-F238E27FC236}">
                <a16:creationId xmlns:a16="http://schemas.microsoft.com/office/drawing/2014/main" id="{F1F559F9-DD6B-7C80-F4E3-3B63172BEF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676" y="6401321"/>
            <a:ext cx="1172106" cy="146860"/>
          </a:xfrm>
          <a:prstGeom prst="rect">
            <a:avLst/>
          </a:prstGeom>
        </p:spPr>
      </p:pic>
      <p:pic>
        <p:nvPicPr>
          <p:cNvPr id="16" name="Picture 15">
            <a:extLst>
              <a:ext uri="{FF2B5EF4-FFF2-40B4-BE49-F238E27FC236}">
                <a16:creationId xmlns:a16="http://schemas.microsoft.com/office/drawing/2014/main" id="{5D93AEF5-3122-86F6-552F-16A369E16030}"/>
              </a:ext>
            </a:extLst>
          </p:cNvPr>
          <p:cNvPicPr>
            <a:picLocks noChangeAspect="1"/>
          </p:cNvPicPr>
          <p:nvPr/>
        </p:nvPicPr>
        <p:blipFill>
          <a:blip r:embed="rId5">
            <a:extLst>
              <a:ext uri="{28A0092B-C50C-407E-A947-70E740481C1C}">
                <a14:useLocalDpi xmlns:a14="http://schemas.microsoft.com/office/drawing/2010/main" val="0"/>
              </a:ext>
            </a:extLst>
          </a:blip>
          <a:srcRect t="29309" b="220"/>
          <a:stretch>
            <a:fillRect/>
          </a:stretch>
        </p:blipFill>
        <p:spPr>
          <a:xfrm>
            <a:off x="323044" y="679621"/>
            <a:ext cx="11545912" cy="5412260"/>
          </a:xfrm>
          <a:prstGeom prst="rect">
            <a:avLst/>
          </a:prstGeom>
        </p:spPr>
      </p:pic>
      <p:sp>
        <p:nvSpPr>
          <p:cNvPr id="17" name="Rectangle 16">
            <a:extLst>
              <a:ext uri="{FF2B5EF4-FFF2-40B4-BE49-F238E27FC236}">
                <a16:creationId xmlns:a16="http://schemas.microsoft.com/office/drawing/2014/main" id="{F45B7FDC-0BC6-A7EC-0DA5-16ED183CA992}"/>
              </a:ext>
            </a:extLst>
          </p:cNvPr>
          <p:cNvSpPr/>
          <p:nvPr/>
        </p:nvSpPr>
        <p:spPr>
          <a:xfrm>
            <a:off x="7110779" y="927272"/>
            <a:ext cx="3921579" cy="4284264"/>
          </a:xfrm>
          <a:prstGeom prst="rect">
            <a:avLst/>
          </a:prstGeom>
          <a:solidFill>
            <a:schemeClr val="bg1">
              <a:alpha val="5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23295CF-E78C-CAD1-ACCC-907673FFC089}"/>
              </a:ext>
            </a:extLst>
          </p:cNvPr>
          <p:cNvPicPr>
            <a:picLocks noChangeAspect="1"/>
          </p:cNvPicPr>
          <p:nvPr/>
        </p:nvPicPr>
        <p:blipFill>
          <a:blip r:embed="rId6"/>
          <a:stretch>
            <a:fillRect/>
          </a:stretch>
        </p:blipFill>
        <p:spPr>
          <a:xfrm>
            <a:off x="7274581" y="2095906"/>
            <a:ext cx="3572374" cy="2943636"/>
          </a:xfrm>
          <a:prstGeom prst="rect">
            <a:avLst/>
          </a:prstGeom>
        </p:spPr>
      </p:pic>
      <p:sp>
        <p:nvSpPr>
          <p:cNvPr id="8" name="TextBox 7">
            <a:extLst>
              <a:ext uri="{FF2B5EF4-FFF2-40B4-BE49-F238E27FC236}">
                <a16:creationId xmlns:a16="http://schemas.microsoft.com/office/drawing/2014/main" id="{6A0E50C0-DBC4-5640-628F-8E65EFFEA381}"/>
              </a:ext>
            </a:extLst>
          </p:cNvPr>
          <p:cNvSpPr txBox="1"/>
          <p:nvPr/>
        </p:nvSpPr>
        <p:spPr>
          <a:xfrm>
            <a:off x="7274581" y="1040199"/>
            <a:ext cx="3572374" cy="954107"/>
          </a:xfrm>
          <a:prstGeom prst="rect">
            <a:avLst/>
          </a:prstGeom>
          <a:noFill/>
        </p:spPr>
        <p:txBody>
          <a:bodyPr wrap="square" rtlCol="0">
            <a:spAutoFit/>
          </a:bodyPr>
          <a:lstStyle/>
          <a:p>
            <a:r>
              <a:rPr lang="en-US" sz="1400" dirty="0">
                <a:latin typeface="Johnson Text" panose="00000500000000000000" pitchFamily="50" charset="0"/>
              </a:rPr>
              <a:t>The Pathfinder Kinematic Restoration Conversation Guide will help you identify your customer’s alignment philosophy in Total Knee Arthroplasty (TKA).</a:t>
            </a:r>
          </a:p>
        </p:txBody>
      </p:sp>
      <p:sp>
        <p:nvSpPr>
          <p:cNvPr id="18" name="Rectangle 17">
            <a:extLst>
              <a:ext uri="{FF2B5EF4-FFF2-40B4-BE49-F238E27FC236}">
                <a16:creationId xmlns:a16="http://schemas.microsoft.com/office/drawing/2014/main" id="{75055723-A35F-2AFC-C662-308A66E59078}"/>
              </a:ext>
            </a:extLst>
          </p:cNvPr>
          <p:cNvSpPr/>
          <p:nvPr/>
        </p:nvSpPr>
        <p:spPr>
          <a:xfrm>
            <a:off x="-2857500" y="32863"/>
            <a:ext cx="2724150" cy="500667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OPTION 1</a:t>
            </a:r>
          </a:p>
          <a:p>
            <a:endParaRPr lang="en-US" dirty="0">
              <a:solidFill>
                <a:schemeClr val="bg1"/>
              </a:solidFill>
            </a:endParaRPr>
          </a:p>
          <a:p>
            <a:r>
              <a:rPr lang="en-US" dirty="0">
                <a:solidFill>
                  <a:schemeClr val="bg1"/>
                </a:solidFill>
              </a:rPr>
              <a:t>Added confidentiality and copyright at bottom.  </a:t>
            </a:r>
          </a:p>
          <a:p>
            <a:endParaRPr lang="en-US" dirty="0">
              <a:solidFill>
                <a:schemeClr val="bg1"/>
              </a:solidFill>
            </a:endParaRPr>
          </a:p>
          <a:p>
            <a:r>
              <a:rPr lang="en-US" dirty="0">
                <a:solidFill>
                  <a:schemeClr val="bg1"/>
                </a:solidFill>
              </a:rPr>
              <a:t>Centered title.</a:t>
            </a:r>
          </a:p>
          <a:p>
            <a:endParaRPr lang="en-US" dirty="0">
              <a:solidFill>
                <a:schemeClr val="bg1"/>
              </a:solidFill>
            </a:endParaRPr>
          </a:p>
          <a:p>
            <a:r>
              <a:rPr lang="en-US" dirty="0">
                <a:solidFill>
                  <a:schemeClr val="bg1"/>
                </a:solidFill>
              </a:rPr>
              <a:t>Added photo behind links but had to move the links so that knee could be seen. </a:t>
            </a:r>
          </a:p>
          <a:p>
            <a:endParaRPr lang="en-US" dirty="0">
              <a:solidFill>
                <a:schemeClr val="bg1"/>
              </a:solidFill>
            </a:endParaRPr>
          </a:p>
          <a:p>
            <a:r>
              <a:rPr lang="en-US" dirty="0">
                <a:solidFill>
                  <a:schemeClr val="bg1"/>
                </a:solidFill>
              </a:rPr>
              <a:t>We could add video and then this appears on top?</a:t>
            </a: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822923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F3D32-192E-8435-3339-F830C312D3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473814-DEAE-1F1A-A812-4F677E2FE2B8}"/>
              </a:ext>
            </a:extLst>
          </p:cNvPr>
          <p:cNvPicPr>
            <a:picLocks noChangeAspect="1"/>
          </p:cNvPicPr>
          <p:nvPr/>
        </p:nvPicPr>
        <p:blipFill>
          <a:blip r:embed="rId3"/>
          <a:srcRect t="-1" b="10796"/>
          <a:stretch>
            <a:fillRect/>
          </a:stretch>
        </p:blipFill>
        <p:spPr>
          <a:xfrm>
            <a:off x="323044" y="32863"/>
            <a:ext cx="11545911" cy="6059018"/>
          </a:xfrm>
          <a:prstGeom prst="rect">
            <a:avLst/>
          </a:prstGeom>
        </p:spPr>
      </p:pic>
      <p:pic>
        <p:nvPicPr>
          <p:cNvPr id="16" name="Picture 15">
            <a:extLst>
              <a:ext uri="{FF2B5EF4-FFF2-40B4-BE49-F238E27FC236}">
                <a16:creationId xmlns:a16="http://schemas.microsoft.com/office/drawing/2014/main" id="{8F595622-1476-7368-F5E5-DF6A5D138D02}"/>
              </a:ext>
            </a:extLst>
          </p:cNvPr>
          <p:cNvPicPr>
            <a:picLocks noChangeAspect="1"/>
          </p:cNvPicPr>
          <p:nvPr/>
        </p:nvPicPr>
        <p:blipFill>
          <a:blip r:embed="rId4">
            <a:alphaModFix/>
            <a:extLst>
              <a:ext uri="{28A0092B-C50C-407E-A947-70E740481C1C}">
                <a14:useLocalDpi xmlns:a14="http://schemas.microsoft.com/office/drawing/2010/main" val="0"/>
              </a:ext>
            </a:extLst>
          </a:blip>
          <a:srcRect t="29309" b="220"/>
          <a:stretch>
            <a:fillRect/>
          </a:stretch>
        </p:blipFill>
        <p:spPr>
          <a:xfrm>
            <a:off x="323044" y="679621"/>
            <a:ext cx="11545912" cy="5412260"/>
          </a:xfrm>
          <a:prstGeom prst="rect">
            <a:avLst/>
          </a:prstGeom>
        </p:spPr>
      </p:pic>
      <p:sp>
        <p:nvSpPr>
          <p:cNvPr id="24" name="Rectangle 23">
            <a:extLst>
              <a:ext uri="{FF2B5EF4-FFF2-40B4-BE49-F238E27FC236}">
                <a16:creationId xmlns:a16="http://schemas.microsoft.com/office/drawing/2014/main" id="{127EA55C-B918-0A33-2E7E-27E77F9DA6EC}"/>
              </a:ext>
            </a:extLst>
          </p:cNvPr>
          <p:cNvSpPr/>
          <p:nvPr/>
        </p:nvSpPr>
        <p:spPr>
          <a:xfrm>
            <a:off x="323045" y="665108"/>
            <a:ext cx="11545910" cy="5426773"/>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8619C545-622E-5256-860F-C6039DD8C091}"/>
              </a:ext>
            </a:extLst>
          </p:cNvPr>
          <p:cNvSpPr/>
          <p:nvPr/>
        </p:nvSpPr>
        <p:spPr>
          <a:xfrm>
            <a:off x="1370940" y="3427656"/>
            <a:ext cx="4652489" cy="2534994"/>
          </a:xfrm>
          <a:prstGeom prst="roundRect">
            <a:avLst>
              <a:gd name="adj" fmla="val 20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92C81BB-D20B-0B57-69A6-369D2092F508}"/>
              </a:ext>
            </a:extLst>
          </p:cNvPr>
          <p:cNvSpPr txBox="1"/>
          <p:nvPr/>
        </p:nvSpPr>
        <p:spPr>
          <a:xfrm>
            <a:off x="193952" y="187009"/>
            <a:ext cx="8850134" cy="646758"/>
          </a:xfrm>
          <a:prstGeom prst="rect">
            <a:avLst/>
          </a:prstGeom>
          <a:solidFill>
            <a:schemeClr val="accent1"/>
          </a:solidFill>
        </p:spPr>
        <p:txBody>
          <a:bodyPr wrap="square" anchor="ctr">
            <a:noAutofit/>
          </a:bodyPr>
          <a:lstStyle/>
          <a:p>
            <a:pPr algn="ctr"/>
            <a:r>
              <a:rPr lang="en-US" b="0" i="0" dirty="0">
                <a:solidFill>
                  <a:schemeClr val="bg1"/>
                </a:solidFill>
                <a:effectLst/>
                <a:latin typeface="Johnson Display" panose="00000800000000000000" pitchFamily="50" charset="0"/>
              </a:rPr>
              <a:t>                                        </a:t>
            </a:r>
            <a:r>
              <a:rPr lang="en-US" sz="2400" b="0" i="0" dirty="0">
                <a:solidFill>
                  <a:schemeClr val="bg1"/>
                </a:solidFill>
                <a:effectLst/>
                <a:latin typeface="Johnson Display" panose="00000800000000000000" pitchFamily="50" charset="0"/>
              </a:rPr>
              <a:t>Kinematic Restoration Conversation Guide</a:t>
            </a:r>
            <a:endParaRPr lang="en-US" dirty="0">
              <a:solidFill>
                <a:schemeClr val="bg1"/>
              </a:solidFill>
              <a:latin typeface="Johnson Display" panose="00000800000000000000" pitchFamily="50" charset="0"/>
            </a:endParaRPr>
          </a:p>
        </p:txBody>
      </p:sp>
      <p:sp>
        <p:nvSpPr>
          <p:cNvPr id="12" name="Rectangle 11">
            <a:extLst>
              <a:ext uri="{FF2B5EF4-FFF2-40B4-BE49-F238E27FC236}">
                <a16:creationId xmlns:a16="http://schemas.microsoft.com/office/drawing/2014/main" id="{A7B37ED5-3439-A180-AACB-72CC26FEB2D7}"/>
              </a:ext>
            </a:extLst>
          </p:cNvPr>
          <p:cNvSpPr/>
          <p:nvPr/>
        </p:nvSpPr>
        <p:spPr>
          <a:xfrm>
            <a:off x="4943907" y="6499465"/>
            <a:ext cx="6992756" cy="178420"/>
          </a:xfrm>
          <a:prstGeom prst="rect">
            <a:avLst/>
          </a:prstGeom>
        </p:spPr>
        <p:txBody>
          <a:bodyPr wrap="none" rIns="0">
            <a:noAutofit/>
          </a:bodyPr>
          <a:lstStyle/>
          <a:p>
            <a:pPr marL="0" marR="0" lvl="0" indent="0" algn="r" defTabSz="511175" rtl="0" eaLnBrk="1" fontAlgn="base" latinLnBrk="0" hangingPunct="1">
              <a:lnSpc>
                <a:spcPct val="100000"/>
              </a:lnSpc>
              <a:spcBef>
                <a:spcPct val="5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Johnson Text"/>
                <a:ea typeface="+mn-ea"/>
                <a:cs typeface="+mn-cs"/>
              </a:rPr>
              <a:t> CONFIDENTIAL. FOR INTERNAL USE ONLY. NOT FOR USE WITH ANY CUSTOER OR FOR EXTERNAL DISTRIBUTION. </a:t>
            </a:r>
          </a:p>
        </p:txBody>
      </p:sp>
      <p:sp>
        <p:nvSpPr>
          <p:cNvPr id="13" name="TextBox 12">
            <a:extLst>
              <a:ext uri="{FF2B5EF4-FFF2-40B4-BE49-F238E27FC236}">
                <a16:creationId xmlns:a16="http://schemas.microsoft.com/office/drawing/2014/main" id="{D2582E5D-24B1-1736-E4A8-C085B94D077B}"/>
              </a:ext>
            </a:extLst>
          </p:cNvPr>
          <p:cNvSpPr txBox="1"/>
          <p:nvPr/>
        </p:nvSpPr>
        <p:spPr>
          <a:xfrm>
            <a:off x="5771158" y="6339016"/>
            <a:ext cx="6222732" cy="215444"/>
          </a:xfrm>
          <a:prstGeom prst="rect">
            <a:avLst/>
          </a:prstGeom>
          <a:noFill/>
        </p:spPr>
        <p:txBody>
          <a:bodyPr wrap="square">
            <a:spAutoFit/>
          </a:bodyPr>
          <a:lstStyle/>
          <a:p>
            <a:pPr algn="r"/>
            <a:r>
              <a:rPr lang="en-US" sz="800" dirty="0">
                <a:solidFill>
                  <a:srgbClr val="1D1C1D"/>
                </a:solidFill>
                <a:latin typeface="Johnson Text" panose="00000500000000000000" pitchFamily="50" charset="0"/>
              </a:rPr>
              <a:t>© Johnson &amp; Johnson and its affiliates. 2024. All rights reserved.</a:t>
            </a:r>
            <a:endParaRPr lang="en-US" sz="1800" dirty="0">
              <a:solidFill>
                <a:prstClr val="black"/>
              </a:solidFill>
              <a:latin typeface="Microsoft Sans Serif" panose="020B0604020202020204" pitchFamily="34" charset="0"/>
            </a:endParaRPr>
          </a:p>
        </p:txBody>
      </p:sp>
      <p:pic>
        <p:nvPicPr>
          <p:cNvPr id="14" name="Picture 13">
            <a:extLst>
              <a:ext uri="{FF2B5EF4-FFF2-40B4-BE49-F238E27FC236}">
                <a16:creationId xmlns:a16="http://schemas.microsoft.com/office/drawing/2014/main" id="{79576D24-1517-73C0-4BDC-9244F45F58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676" y="6401321"/>
            <a:ext cx="1172106" cy="146860"/>
          </a:xfrm>
          <a:prstGeom prst="rect">
            <a:avLst/>
          </a:prstGeom>
        </p:spPr>
      </p:pic>
      <p:pic>
        <p:nvPicPr>
          <p:cNvPr id="3" name="Picture 2">
            <a:extLst>
              <a:ext uri="{FF2B5EF4-FFF2-40B4-BE49-F238E27FC236}">
                <a16:creationId xmlns:a16="http://schemas.microsoft.com/office/drawing/2014/main" id="{1B76625B-90C9-9BCD-845B-18D5AA615FFB}"/>
              </a:ext>
            </a:extLst>
          </p:cNvPr>
          <p:cNvPicPr>
            <a:picLocks noChangeAspect="1"/>
          </p:cNvPicPr>
          <p:nvPr/>
        </p:nvPicPr>
        <p:blipFill>
          <a:blip r:embed="rId6"/>
          <a:stretch>
            <a:fillRect/>
          </a:stretch>
        </p:blipFill>
        <p:spPr>
          <a:xfrm>
            <a:off x="1370940" y="831040"/>
            <a:ext cx="9450119" cy="1857634"/>
          </a:xfrm>
          <a:prstGeom prst="rect">
            <a:avLst/>
          </a:prstGeom>
        </p:spPr>
      </p:pic>
      <p:pic>
        <p:nvPicPr>
          <p:cNvPr id="10" name="Picture 9">
            <a:extLst>
              <a:ext uri="{FF2B5EF4-FFF2-40B4-BE49-F238E27FC236}">
                <a16:creationId xmlns:a16="http://schemas.microsoft.com/office/drawing/2014/main" id="{BC5A514C-51D6-B32D-208E-A7A4ADF04416}"/>
              </a:ext>
            </a:extLst>
          </p:cNvPr>
          <p:cNvPicPr>
            <a:picLocks noChangeAspect="1"/>
          </p:cNvPicPr>
          <p:nvPr/>
        </p:nvPicPr>
        <p:blipFill>
          <a:blip r:embed="rId7"/>
          <a:stretch>
            <a:fillRect/>
          </a:stretch>
        </p:blipFill>
        <p:spPr>
          <a:xfrm>
            <a:off x="1374570" y="2688674"/>
            <a:ext cx="9450119" cy="476316"/>
          </a:xfrm>
          <a:prstGeom prst="rect">
            <a:avLst/>
          </a:prstGeom>
        </p:spPr>
      </p:pic>
      <p:pic>
        <p:nvPicPr>
          <p:cNvPr id="18" name="Picture 17">
            <a:extLst>
              <a:ext uri="{FF2B5EF4-FFF2-40B4-BE49-F238E27FC236}">
                <a16:creationId xmlns:a16="http://schemas.microsoft.com/office/drawing/2014/main" id="{9785020C-3849-3E5B-9729-B88B15DB3C85}"/>
              </a:ext>
            </a:extLst>
          </p:cNvPr>
          <p:cNvPicPr>
            <a:picLocks noChangeAspect="1"/>
          </p:cNvPicPr>
          <p:nvPr/>
        </p:nvPicPr>
        <p:blipFill>
          <a:blip r:embed="rId8"/>
          <a:stretch>
            <a:fillRect/>
          </a:stretch>
        </p:blipFill>
        <p:spPr>
          <a:xfrm>
            <a:off x="1367310" y="6091881"/>
            <a:ext cx="9431066" cy="4582164"/>
          </a:xfrm>
          <a:prstGeom prst="rect">
            <a:avLst/>
          </a:prstGeom>
        </p:spPr>
      </p:pic>
      <p:sp>
        <p:nvSpPr>
          <p:cNvPr id="21" name="TextBox 20">
            <a:extLst>
              <a:ext uri="{FF2B5EF4-FFF2-40B4-BE49-F238E27FC236}">
                <a16:creationId xmlns:a16="http://schemas.microsoft.com/office/drawing/2014/main" id="{C3D74767-BDF8-C191-1434-14F28EAA6466}"/>
              </a:ext>
            </a:extLst>
          </p:cNvPr>
          <p:cNvSpPr txBox="1"/>
          <p:nvPr/>
        </p:nvSpPr>
        <p:spPr>
          <a:xfrm>
            <a:off x="1539781" y="4017481"/>
            <a:ext cx="4120789" cy="1015663"/>
          </a:xfrm>
          <a:prstGeom prst="rect">
            <a:avLst/>
          </a:prstGeom>
          <a:noFill/>
        </p:spPr>
        <p:txBody>
          <a:bodyPr wrap="square">
            <a:spAutoFit/>
          </a:bodyPr>
          <a:lstStyle/>
          <a:p>
            <a:r>
              <a:rPr lang="en-US" sz="1200" b="0" i="0" dirty="0">
                <a:solidFill>
                  <a:srgbClr val="81766F"/>
                </a:solidFill>
                <a:effectLst/>
                <a:latin typeface="Johnson Text" panose="00000500000000000000" pitchFamily="50" charset="0"/>
              </a:rPr>
              <a:t>Kinematic Alignment (KA) prioritizes restoring the native joint line. The femur is resurfaced first. Next, the tibia is resurfaced. Femoral and tibial resection depths are planned as the implant thickness minus the estimated cartilage and bone wear values.</a:t>
            </a:r>
            <a:endParaRPr lang="en-US" sz="1200" dirty="0"/>
          </a:p>
        </p:txBody>
      </p:sp>
      <p:sp>
        <p:nvSpPr>
          <p:cNvPr id="23" name="Rectangle: Rounded Corners 22">
            <a:extLst>
              <a:ext uri="{FF2B5EF4-FFF2-40B4-BE49-F238E27FC236}">
                <a16:creationId xmlns:a16="http://schemas.microsoft.com/office/drawing/2014/main" id="{3EDB68AF-3B9E-2A35-54F0-E3AF7595E274}"/>
              </a:ext>
            </a:extLst>
          </p:cNvPr>
          <p:cNvSpPr/>
          <p:nvPr/>
        </p:nvSpPr>
        <p:spPr>
          <a:xfrm>
            <a:off x="6168570" y="3427656"/>
            <a:ext cx="4652489" cy="2534994"/>
          </a:xfrm>
          <a:prstGeom prst="roundRect">
            <a:avLst>
              <a:gd name="adj" fmla="val 20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ED9FAB2-A230-BB39-9969-9405D89615F1}"/>
              </a:ext>
            </a:extLst>
          </p:cNvPr>
          <p:cNvSpPr txBox="1"/>
          <p:nvPr/>
        </p:nvSpPr>
        <p:spPr>
          <a:xfrm>
            <a:off x="1539781" y="3595404"/>
            <a:ext cx="4120789" cy="307777"/>
          </a:xfrm>
          <a:prstGeom prst="rect">
            <a:avLst/>
          </a:prstGeom>
          <a:noFill/>
        </p:spPr>
        <p:txBody>
          <a:bodyPr wrap="square">
            <a:spAutoFit/>
          </a:bodyPr>
          <a:lstStyle/>
          <a:p>
            <a:r>
              <a:rPr lang="en-US" sz="1400" b="0" i="0" dirty="0">
                <a:solidFill>
                  <a:srgbClr val="81766F"/>
                </a:solidFill>
                <a:effectLst/>
                <a:latin typeface="Johnson Text" panose="00000500000000000000" pitchFamily="50" charset="0"/>
              </a:rPr>
              <a:t>Your Approach </a:t>
            </a:r>
            <a:r>
              <a:rPr lang="en-US" sz="1400" dirty="0">
                <a:solidFill>
                  <a:srgbClr val="81766F"/>
                </a:solidFill>
                <a:latin typeface="Johnson Text" panose="00000500000000000000" pitchFamily="50" charset="0"/>
              </a:rPr>
              <a:t>S</a:t>
            </a:r>
            <a:r>
              <a:rPr lang="en-US" sz="1400" b="0" i="0" dirty="0">
                <a:solidFill>
                  <a:srgbClr val="81766F"/>
                </a:solidFill>
                <a:effectLst/>
                <a:latin typeface="Johnson Text" panose="00000500000000000000" pitchFamily="50" charset="0"/>
              </a:rPr>
              <a:t>uggests:</a:t>
            </a:r>
            <a:endParaRPr lang="en-US" sz="1400" dirty="0"/>
          </a:p>
        </p:txBody>
      </p:sp>
      <p:sp>
        <p:nvSpPr>
          <p:cNvPr id="26" name="Rectangle 25">
            <a:extLst>
              <a:ext uri="{FF2B5EF4-FFF2-40B4-BE49-F238E27FC236}">
                <a16:creationId xmlns:a16="http://schemas.microsoft.com/office/drawing/2014/main" id="{8BE85F4A-4F0B-15FC-AD5A-BD8E84B81547}"/>
              </a:ext>
            </a:extLst>
          </p:cNvPr>
          <p:cNvSpPr/>
          <p:nvPr/>
        </p:nvSpPr>
        <p:spPr>
          <a:xfrm>
            <a:off x="6168570" y="3427656"/>
            <a:ext cx="4629806" cy="253499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a:t>
            </a:r>
          </a:p>
        </p:txBody>
      </p:sp>
      <p:sp>
        <p:nvSpPr>
          <p:cNvPr id="27" name="Rectangle: Rounded Corners 26">
            <a:extLst>
              <a:ext uri="{FF2B5EF4-FFF2-40B4-BE49-F238E27FC236}">
                <a16:creationId xmlns:a16="http://schemas.microsoft.com/office/drawing/2014/main" id="{6A8C1298-F539-8370-1FDA-7E4BBA1622A6}"/>
              </a:ext>
            </a:extLst>
          </p:cNvPr>
          <p:cNvSpPr/>
          <p:nvPr/>
        </p:nvSpPr>
        <p:spPr>
          <a:xfrm>
            <a:off x="1615982" y="5230727"/>
            <a:ext cx="2524218" cy="42207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Johnson Text" panose="00000500000000000000" pitchFamily="50" charset="0"/>
              </a:rPr>
              <a:t>KINEMATIC ALIGNMENT</a:t>
            </a:r>
          </a:p>
        </p:txBody>
      </p:sp>
      <p:sp>
        <p:nvSpPr>
          <p:cNvPr id="28" name="Rectangle: Rounded Corners 27">
            <a:extLst>
              <a:ext uri="{FF2B5EF4-FFF2-40B4-BE49-F238E27FC236}">
                <a16:creationId xmlns:a16="http://schemas.microsoft.com/office/drawing/2014/main" id="{F19D1971-775A-9C4F-4342-2F7DE8D179D8}"/>
              </a:ext>
            </a:extLst>
          </p:cNvPr>
          <p:cNvSpPr/>
          <p:nvPr/>
        </p:nvSpPr>
        <p:spPr>
          <a:xfrm>
            <a:off x="7572282" y="6805527"/>
            <a:ext cx="797018" cy="422077"/>
          </a:xfrm>
          <a:prstGeom prst="roundRect">
            <a:avLst/>
          </a:prstGeom>
          <a:solidFill>
            <a:srgbClr val="9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8FA612C4-AF15-D68D-713A-AB7D866A5C9F}"/>
              </a:ext>
            </a:extLst>
          </p:cNvPr>
          <p:cNvSpPr/>
          <p:nvPr/>
        </p:nvSpPr>
        <p:spPr>
          <a:xfrm>
            <a:off x="9870982" y="6805527"/>
            <a:ext cx="797018" cy="422077"/>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C32A7953-1BD5-82A2-844C-0B84BA5B134F}"/>
              </a:ext>
            </a:extLst>
          </p:cNvPr>
          <p:cNvSpPr/>
          <p:nvPr/>
        </p:nvSpPr>
        <p:spPr>
          <a:xfrm>
            <a:off x="7572282" y="7885027"/>
            <a:ext cx="797018" cy="4220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Rounded Corners 30">
            <a:extLst>
              <a:ext uri="{FF2B5EF4-FFF2-40B4-BE49-F238E27FC236}">
                <a16:creationId xmlns:a16="http://schemas.microsoft.com/office/drawing/2014/main" id="{7AB3961D-22AC-2449-A3BB-7169EAE837D6}"/>
              </a:ext>
            </a:extLst>
          </p:cNvPr>
          <p:cNvSpPr/>
          <p:nvPr/>
        </p:nvSpPr>
        <p:spPr>
          <a:xfrm>
            <a:off x="9870982" y="7885027"/>
            <a:ext cx="797018" cy="422077"/>
          </a:xfrm>
          <a:prstGeom prst="roundRect">
            <a:avLst/>
          </a:prstGeom>
          <a:solidFill>
            <a:srgbClr val="6E62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Rounded Corners 32">
            <a:extLst>
              <a:ext uri="{FF2B5EF4-FFF2-40B4-BE49-F238E27FC236}">
                <a16:creationId xmlns:a16="http://schemas.microsoft.com/office/drawing/2014/main" id="{AB40CCED-3C52-8D9D-410F-0F888E2D1547}"/>
              </a:ext>
            </a:extLst>
          </p:cNvPr>
          <p:cNvSpPr/>
          <p:nvPr/>
        </p:nvSpPr>
        <p:spPr>
          <a:xfrm>
            <a:off x="1363680" y="2688674"/>
            <a:ext cx="9457379" cy="600626"/>
          </a:xfrm>
          <a:prstGeom prst="roundRect">
            <a:avLst>
              <a:gd name="adj" fmla="val 760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B318084D-5937-E429-BEFB-A21D21C7D249}"/>
              </a:ext>
            </a:extLst>
          </p:cNvPr>
          <p:cNvSpPr/>
          <p:nvPr/>
        </p:nvSpPr>
        <p:spPr>
          <a:xfrm>
            <a:off x="1590581" y="2675974"/>
            <a:ext cx="9077419" cy="476316"/>
          </a:xfrm>
          <a:prstGeom prst="roundRect">
            <a:avLst>
              <a:gd name="adj" fmla="val 15998"/>
            </a:avLst>
          </a:prstGeom>
          <a:solidFill>
            <a:srgbClr val="38A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Johnson Text" panose="00000500000000000000" pitchFamily="50" charset="0"/>
              </a:rPr>
              <a:t>Assessment completed! Your recommended alignment philosophy has been determined.</a:t>
            </a:r>
          </a:p>
        </p:txBody>
      </p:sp>
      <p:pic>
        <p:nvPicPr>
          <p:cNvPr id="35" name="Graphic 34" descr="Checkmark with solid fill">
            <a:extLst>
              <a:ext uri="{FF2B5EF4-FFF2-40B4-BE49-F238E27FC236}">
                <a16:creationId xmlns:a16="http://schemas.microsoft.com/office/drawing/2014/main" id="{0C3ACF63-1684-1F41-6171-8E0EF051427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05000" y="2831064"/>
            <a:ext cx="203200" cy="203200"/>
          </a:xfrm>
          <a:prstGeom prst="rect">
            <a:avLst/>
          </a:prstGeom>
        </p:spPr>
      </p:pic>
      <p:sp>
        <p:nvSpPr>
          <p:cNvPr id="36" name="Rectangle 35">
            <a:extLst>
              <a:ext uri="{FF2B5EF4-FFF2-40B4-BE49-F238E27FC236}">
                <a16:creationId xmlns:a16="http://schemas.microsoft.com/office/drawing/2014/main" id="{9AFF74C6-8BD7-B5CD-8249-B2D77A4A8B76}"/>
              </a:ext>
            </a:extLst>
          </p:cNvPr>
          <p:cNvSpPr/>
          <p:nvPr/>
        </p:nvSpPr>
        <p:spPr>
          <a:xfrm>
            <a:off x="-2857500" y="32863"/>
            <a:ext cx="2724150" cy="500667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OPTION 1 – page 2</a:t>
            </a:r>
          </a:p>
          <a:p>
            <a:endParaRPr lang="en-US" dirty="0">
              <a:solidFill>
                <a:schemeClr val="bg1"/>
              </a:solidFill>
            </a:endParaRPr>
          </a:p>
          <a:p>
            <a:r>
              <a:rPr lang="en-US" dirty="0">
                <a:solidFill>
                  <a:schemeClr val="bg1"/>
                </a:solidFill>
              </a:rPr>
              <a:t>Left photo behind. </a:t>
            </a:r>
          </a:p>
          <a:p>
            <a:endParaRPr lang="en-US" dirty="0">
              <a:solidFill>
                <a:schemeClr val="bg1"/>
              </a:solidFill>
            </a:endParaRPr>
          </a:p>
          <a:p>
            <a:r>
              <a:rPr lang="en-US" dirty="0">
                <a:solidFill>
                  <a:schemeClr val="bg1"/>
                </a:solidFill>
              </a:rPr>
              <a:t>Moved completion feedback up and changed color to green. </a:t>
            </a:r>
          </a:p>
          <a:p>
            <a:endParaRPr lang="en-US" dirty="0">
              <a:solidFill>
                <a:schemeClr val="bg1"/>
              </a:solidFill>
            </a:endParaRPr>
          </a:p>
          <a:p>
            <a:r>
              <a:rPr lang="en-US" dirty="0">
                <a:solidFill>
                  <a:schemeClr val="bg1"/>
                </a:solidFill>
              </a:rPr>
              <a:t>Moved Approach text to left and added image placeholder. Henry is creating images. </a:t>
            </a:r>
          </a:p>
          <a:p>
            <a:endParaRPr lang="en-US" dirty="0">
              <a:solidFill>
                <a:schemeClr val="bg1"/>
              </a:solidFill>
            </a:endParaRPr>
          </a:p>
          <a:p>
            <a:r>
              <a:rPr lang="en-US" dirty="0">
                <a:solidFill>
                  <a:schemeClr val="bg1"/>
                </a:solidFill>
              </a:rPr>
              <a:t>Changed colors in lower right.</a:t>
            </a:r>
          </a:p>
          <a:p>
            <a:endParaRPr lang="en-US" dirty="0">
              <a:solidFill>
                <a:schemeClr val="bg1"/>
              </a:solidFill>
            </a:endParaRPr>
          </a:p>
        </p:txBody>
      </p:sp>
    </p:spTree>
    <p:extLst>
      <p:ext uri="{BB962C8B-B14F-4D97-AF65-F5344CB8AC3E}">
        <p14:creationId xmlns:p14="http://schemas.microsoft.com/office/powerpoint/2010/main" val="2066713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3FFC7-C7D8-94FE-3D09-FA60246CB77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62F9630-1836-5DF1-B221-A7CA282E466D}"/>
              </a:ext>
            </a:extLst>
          </p:cNvPr>
          <p:cNvSpPr txBox="1"/>
          <p:nvPr/>
        </p:nvSpPr>
        <p:spPr>
          <a:xfrm>
            <a:off x="293866" y="223762"/>
            <a:ext cx="8850134" cy="2515300"/>
          </a:xfrm>
          <a:prstGeom prst="rect">
            <a:avLst/>
          </a:prstGeom>
          <a:noFill/>
        </p:spPr>
        <p:txBody>
          <a:bodyPr wrap="square" anchor="ctr">
            <a:noAutofit/>
          </a:bodyPr>
          <a:lstStyle/>
          <a:p>
            <a:r>
              <a:rPr lang="en-US" sz="5400" b="0" i="0" dirty="0">
                <a:solidFill>
                  <a:schemeClr val="accent1"/>
                </a:solidFill>
                <a:effectLst/>
                <a:latin typeface="Johnson Display" panose="00000800000000000000" pitchFamily="50" charset="0"/>
              </a:rPr>
              <a:t>Kinematic Restoration Conversation Guide</a:t>
            </a:r>
            <a:endParaRPr lang="en-US" sz="4400" dirty="0">
              <a:solidFill>
                <a:schemeClr val="accent1"/>
              </a:solidFill>
              <a:latin typeface="Johnson Display" panose="00000800000000000000" pitchFamily="50" charset="0"/>
            </a:endParaRPr>
          </a:p>
        </p:txBody>
      </p:sp>
      <p:sp>
        <p:nvSpPr>
          <p:cNvPr id="12" name="Rectangle 11">
            <a:extLst>
              <a:ext uri="{FF2B5EF4-FFF2-40B4-BE49-F238E27FC236}">
                <a16:creationId xmlns:a16="http://schemas.microsoft.com/office/drawing/2014/main" id="{01F698E2-3FF2-5CB5-2FF1-33E3DC179B62}"/>
              </a:ext>
            </a:extLst>
          </p:cNvPr>
          <p:cNvSpPr/>
          <p:nvPr/>
        </p:nvSpPr>
        <p:spPr>
          <a:xfrm>
            <a:off x="4943907" y="6499465"/>
            <a:ext cx="6992756" cy="178420"/>
          </a:xfrm>
          <a:prstGeom prst="rect">
            <a:avLst/>
          </a:prstGeom>
        </p:spPr>
        <p:txBody>
          <a:bodyPr wrap="none" rIns="0">
            <a:noAutofit/>
          </a:bodyPr>
          <a:lstStyle/>
          <a:p>
            <a:pPr marL="0" marR="0" lvl="0" indent="0" algn="r" defTabSz="511175" rtl="0" eaLnBrk="1" fontAlgn="base" latinLnBrk="0" hangingPunct="1">
              <a:lnSpc>
                <a:spcPct val="100000"/>
              </a:lnSpc>
              <a:spcBef>
                <a:spcPct val="5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Johnson Text"/>
                <a:ea typeface="+mn-ea"/>
                <a:cs typeface="+mn-cs"/>
              </a:rPr>
              <a:t> CONFIDENTIAL. FOR INTERNAL USE ONLY. NOT FOR USE WITH ANY CUSTOER OR FOR EXTERNAL DISTRIBUTION. </a:t>
            </a:r>
          </a:p>
        </p:txBody>
      </p:sp>
      <p:sp>
        <p:nvSpPr>
          <p:cNvPr id="13" name="TextBox 12">
            <a:extLst>
              <a:ext uri="{FF2B5EF4-FFF2-40B4-BE49-F238E27FC236}">
                <a16:creationId xmlns:a16="http://schemas.microsoft.com/office/drawing/2014/main" id="{4910139F-896B-6F05-2948-85ED1F584030}"/>
              </a:ext>
            </a:extLst>
          </p:cNvPr>
          <p:cNvSpPr txBox="1"/>
          <p:nvPr/>
        </p:nvSpPr>
        <p:spPr>
          <a:xfrm>
            <a:off x="5771158" y="6339016"/>
            <a:ext cx="6222732" cy="215444"/>
          </a:xfrm>
          <a:prstGeom prst="rect">
            <a:avLst/>
          </a:prstGeom>
          <a:noFill/>
        </p:spPr>
        <p:txBody>
          <a:bodyPr wrap="square">
            <a:spAutoFit/>
          </a:bodyPr>
          <a:lstStyle/>
          <a:p>
            <a:pPr algn="r"/>
            <a:r>
              <a:rPr lang="en-US" sz="800" dirty="0">
                <a:solidFill>
                  <a:srgbClr val="1D1C1D"/>
                </a:solidFill>
                <a:latin typeface="Johnson Text" panose="00000500000000000000" pitchFamily="50" charset="0"/>
              </a:rPr>
              <a:t>© Johnson &amp; Johnson and its affiliates. 2024. All rights reserved.</a:t>
            </a:r>
            <a:endParaRPr lang="en-US" sz="1800" dirty="0">
              <a:solidFill>
                <a:prstClr val="black"/>
              </a:solidFill>
              <a:latin typeface="Microsoft Sans Serif" panose="020B0604020202020204" pitchFamily="34" charset="0"/>
            </a:endParaRPr>
          </a:p>
        </p:txBody>
      </p:sp>
      <p:pic>
        <p:nvPicPr>
          <p:cNvPr id="14" name="Picture 13">
            <a:extLst>
              <a:ext uri="{FF2B5EF4-FFF2-40B4-BE49-F238E27FC236}">
                <a16:creationId xmlns:a16="http://schemas.microsoft.com/office/drawing/2014/main" id="{C62A49DA-7BDB-B5CE-EF28-F5B6F0C9D3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676" y="6401321"/>
            <a:ext cx="1172106" cy="146860"/>
          </a:xfrm>
          <a:prstGeom prst="rect">
            <a:avLst/>
          </a:prstGeom>
        </p:spPr>
      </p:pic>
      <p:pic>
        <p:nvPicPr>
          <p:cNvPr id="16" name="Picture 15">
            <a:extLst>
              <a:ext uri="{FF2B5EF4-FFF2-40B4-BE49-F238E27FC236}">
                <a16:creationId xmlns:a16="http://schemas.microsoft.com/office/drawing/2014/main" id="{3F18E6C9-9A12-C548-2BFA-3B47EC3C8D1F}"/>
              </a:ext>
            </a:extLst>
          </p:cNvPr>
          <p:cNvPicPr>
            <a:picLocks noChangeAspect="1"/>
          </p:cNvPicPr>
          <p:nvPr/>
        </p:nvPicPr>
        <p:blipFill>
          <a:blip r:embed="rId4">
            <a:extLst>
              <a:ext uri="{28A0092B-C50C-407E-A947-70E740481C1C}">
                <a14:useLocalDpi xmlns:a14="http://schemas.microsoft.com/office/drawing/2010/main" val="0"/>
              </a:ext>
            </a:extLst>
          </a:blip>
          <a:srcRect l="16666" t="313" r="24096"/>
          <a:stretch>
            <a:fillRect/>
          </a:stretch>
        </p:blipFill>
        <p:spPr>
          <a:xfrm>
            <a:off x="8477251" y="-5366"/>
            <a:ext cx="3714750" cy="4158266"/>
          </a:xfrm>
          <a:prstGeom prst="rect">
            <a:avLst/>
          </a:prstGeom>
        </p:spPr>
      </p:pic>
      <p:pic>
        <p:nvPicPr>
          <p:cNvPr id="7" name="Picture 6">
            <a:extLst>
              <a:ext uri="{FF2B5EF4-FFF2-40B4-BE49-F238E27FC236}">
                <a16:creationId xmlns:a16="http://schemas.microsoft.com/office/drawing/2014/main" id="{B4FA55F1-A68E-669C-428C-5648739E779D}"/>
              </a:ext>
            </a:extLst>
          </p:cNvPr>
          <p:cNvPicPr>
            <a:picLocks noChangeAspect="1"/>
          </p:cNvPicPr>
          <p:nvPr/>
        </p:nvPicPr>
        <p:blipFill>
          <a:blip r:embed="rId5"/>
          <a:stretch>
            <a:fillRect/>
          </a:stretch>
        </p:blipFill>
        <p:spPr>
          <a:xfrm>
            <a:off x="4240625" y="3049280"/>
            <a:ext cx="3572374" cy="2943636"/>
          </a:xfrm>
          <a:prstGeom prst="rect">
            <a:avLst/>
          </a:prstGeom>
        </p:spPr>
      </p:pic>
      <p:sp>
        <p:nvSpPr>
          <p:cNvPr id="8" name="TextBox 7">
            <a:extLst>
              <a:ext uri="{FF2B5EF4-FFF2-40B4-BE49-F238E27FC236}">
                <a16:creationId xmlns:a16="http://schemas.microsoft.com/office/drawing/2014/main" id="{0F05F157-E886-5799-423F-AAA8A51EB220}"/>
              </a:ext>
            </a:extLst>
          </p:cNvPr>
          <p:cNvSpPr txBox="1"/>
          <p:nvPr/>
        </p:nvSpPr>
        <p:spPr>
          <a:xfrm>
            <a:off x="367676" y="2363152"/>
            <a:ext cx="8109574" cy="523220"/>
          </a:xfrm>
          <a:prstGeom prst="rect">
            <a:avLst/>
          </a:prstGeom>
          <a:noFill/>
        </p:spPr>
        <p:txBody>
          <a:bodyPr wrap="square" rtlCol="0">
            <a:spAutoFit/>
          </a:bodyPr>
          <a:lstStyle/>
          <a:p>
            <a:r>
              <a:rPr lang="en-US" sz="1400" dirty="0">
                <a:latin typeface="Johnson Text" panose="00000500000000000000" pitchFamily="50" charset="0"/>
              </a:rPr>
              <a:t>The Pathfinder Kinematic Restoration Conversation Guide will help you identify your customer’s alignment philosophy in Total Knee Arthroplasty (TKA).</a:t>
            </a:r>
          </a:p>
        </p:txBody>
      </p:sp>
      <p:pic>
        <p:nvPicPr>
          <p:cNvPr id="4" name="Picture 3">
            <a:extLst>
              <a:ext uri="{FF2B5EF4-FFF2-40B4-BE49-F238E27FC236}">
                <a16:creationId xmlns:a16="http://schemas.microsoft.com/office/drawing/2014/main" id="{6ADBE908-EFDC-1231-1F06-76D0CD7773E9}"/>
              </a:ext>
            </a:extLst>
          </p:cNvPr>
          <p:cNvPicPr>
            <a:picLocks noChangeAspect="1"/>
          </p:cNvPicPr>
          <p:nvPr/>
        </p:nvPicPr>
        <p:blipFill>
          <a:blip r:embed="rId6">
            <a:extLst>
              <a:ext uri="{BEBA8EAE-BF5A-486C-A8C5-ECC9F3942E4B}">
                <a14:imgProps xmlns:a14="http://schemas.microsoft.com/office/drawing/2010/main">
                  <a14:imgLayer r:embed="rId7">
                    <a14:imgEffect>
                      <a14:saturation sat="400000"/>
                    </a14:imgEffect>
                  </a14:imgLayer>
                </a14:imgProps>
              </a:ext>
            </a:extLst>
          </a:blip>
          <a:srcRect l="74863" t="678" r="1" b="91510"/>
          <a:stretch>
            <a:fillRect/>
          </a:stretch>
        </p:blipFill>
        <p:spPr>
          <a:xfrm>
            <a:off x="367676" y="-38100"/>
            <a:ext cx="2902259" cy="530652"/>
          </a:xfrm>
          <a:prstGeom prst="rect">
            <a:avLst/>
          </a:prstGeom>
        </p:spPr>
      </p:pic>
      <p:sp>
        <p:nvSpPr>
          <p:cNvPr id="6" name="Rectangle 5">
            <a:extLst>
              <a:ext uri="{FF2B5EF4-FFF2-40B4-BE49-F238E27FC236}">
                <a16:creationId xmlns:a16="http://schemas.microsoft.com/office/drawing/2014/main" id="{F9BF7C16-B6D8-C6C3-BE6F-77E87BAE5922}"/>
              </a:ext>
            </a:extLst>
          </p:cNvPr>
          <p:cNvSpPr/>
          <p:nvPr/>
        </p:nvSpPr>
        <p:spPr>
          <a:xfrm>
            <a:off x="-2857500" y="32863"/>
            <a:ext cx="2724150" cy="500667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OPTION 2 – Website</a:t>
            </a:r>
          </a:p>
          <a:p>
            <a:endParaRPr lang="en-US" dirty="0">
              <a:solidFill>
                <a:schemeClr val="bg1"/>
              </a:solidFill>
            </a:endParaRPr>
          </a:p>
          <a:p>
            <a:r>
              <a:rPr lang="en-US" dirty="0">
                <a:solidFill>
                  <a:schemeClr val="bg1"/>
                </a:solidFill>
              </a:rPr>
              <a:t>Used template to create this design. </a:t>
            </a:r>
          </a:p>
          <a:p>
            <a:endParaRPr lang="en-US" dirty="0">
              <a:solidFill>
                <a:schemeClr val="bg1"/>
              </a:solidFill>
            </a:endParaRPr>
          </a:p>
          <a:p>
            <a:r>
              <a:rPr lang="en-US" dirty="0">
                <a:solidFill>
                  <a:schemeClr val="bg1"/>
                </a:solidFill>
              </a:rPr>
              <a:t>Larger title. Image on left. </a:t>
            </a:r>
          </a:p>
          <a:p>
            <a:endParaRPr lang="en-US" dirty="0">
              <a:solidFill>
                <a:schemeClr val="bg1"/>
              </a:solidFill>
            </a:endParaRPr>
          </a:p>
          <a:p>
            <a:r>
              <a:rPr lang="en-US" dirty="0">
                <a:solidFill>
                  <a:schemeClr val="bg1"/>
                </a:solidFill>
              </a:rPr>
              <a:t>Links are in center. </a:t>
            </a:r>
          </a:p>
          <a:p>
            <a:endParaRPr lang="en-US" dirty="0">
              <a:solidFill>
                <a:schemeClr val="bg1"/>
              </a:solidFill>
            </a:endParaRPr>
          </a:p>
        </p:txBody>
      </p:sp>
    </p:spTree>
    <p:extLst>
      <p:ext uri="{BB962C8B-B14F-4D97-AF65-F5344CB8AC3E}">
        <p14:creationId xmlns:p14="http://schemas.microsoft.com/office/powerpoint/2010/main" val="2003273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0CE97-D2D5-1EE0-D5EA-124C5D7294D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9B8BE20-203F-FD32-6F34-1D791B8A962A}"/>
              </a:ext>
            </a:extLst>
          </p:cNvPr>
          <p:cNvSpPr txBox="1"/>
          <p:nvPr/>
        </p:nvSpPr>
        <p:spPr>
          <a:xfrm>
            <a:off x="4240625" y="914400"/>
            <a:ext cx="5874065" cy="933450"/>
          </a:xfrm>
          <a:prstGeom prst="rect">
            <a:avLst/>
          </a:prstGeom>
          <a:noFill/>
        </p:spPr>
        <p:txBody>
          <a:bodyPr wrap="square" anchor="ctr">
            <a:noAutofit/>
          </a:bodyPr>
          <a:lstStyle/>
          <a:p>
            <a:r>
              <a:rPr lang="en-US" sz="2800" b="0" i="0" dirty="0">
                <a:solidFill>
                  <a:schemeClr val="accent1"/>
                </a:solidFill>
                <a:effectLst/>
                <a:latin typeface="Johnson Display" panose="00000800000000000000" pitchFamily="50" charset="0"/>
              </a:rPr>
              <a:t>Kinematic Restoration Conversation Guide</a:t>
            </a:r>
            <a:endParaRPr lang="en-US" sz="2000" dirty="0">
              <a:solidFill>
                <a:schemeClr val="accent1"/>
              </a:solidFill>
              <a:latin typeface="Johnson Display" panose="00000800000000000000" pitchFamily="50" charset="0"/>
            </a:endParaRPr>
          </a:p>
        </p:txBody>
      </p:sp>
      <p:sp>
        <p:nvSpPr>
          <p:cNvPr id="12" name="Rectangle 11">
            <a:extLst>
              <a:ext uri="{FF2B5EF4-FFF2-40B4-BE49-F238E27FC236}">
                <a16:creationId xmlns:a16="http://schemas.microsoft.com/office/drawing/2014/main" id="{74D848F4-5C13-0E96-7ACC-88A609DF5E36}"/>
              </a:ext>
            </a:extLst>
          </p:cNvPr>
          <p:cNvSpPr/>
          <p:nvPr/>
        </p:nvSpPr>
        <p:spPr>
          <a:xfrm>
            <a:off x="1005290" y="10447449"/>
            <a:ext cx="6992756" cy="178420"/>
          </a:xfrm>
          <a:prstGeom prst="rect">
            <a:avLst/>
          </a:prstGeom>
        </p:spPr>
        <p:txBody>
          <a:bodyPr wrap="none" rIns="0">
            <a:noAutofit/>
          </a:bodyPr>
          <a:lstStyle/>
          <a:p>
            <a:pPr marL="0" marR="0" lvl="0" indent="0" algn="r" defTabSz="511175" rtl="0" eaLnBrk="1" fontAlgn="base" latinLnBrk="0" hangingPunct="1">
              <a:lnSpc>
                <a:spcPct val="100000"/>
              </a:lnSpc>
              <a:spcBef>
                <a:spcPct val="5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Johnson Text"/>
                <a:ea typeface="+mn-ea"/>
                <a:cs typeface="+mn-cs"/>
              </a:rPr>
              <a:t> CONFIDENTIAL. FOR INTERNAL USE ONLY. NOT FOR USE WITH ANY CUSTOER OR FOR EXTERNAL DISTRIBUTION. </a:t>
            </a:r>
          </a:p>
        </p:txBody>
      </p:sp>
      <p:sp>
        <p:nvSpPr>
          <p:cNvPr id="13" name="TextBox 12">
            <a:extLst>
              <a:ext uri="{FF2B5EF4-FFF2-40B4-BE49-F238E27FC236}">
                <a16:creationId xmlns:a16="http://schemas.microsoft.com/office/drawing/2014/main" id="{5EEBF3F0-1397-D815-6278-C8A5A8A167BC}"/>
              </a:ext>
            </a:extLst>
          </p:cNvPr>
          <p:cNvSpPr txBox="1"/>
          <p:nvPr/>
        </p:nvSpPr>
        <p:spPr>
          <a:xfrm>
            <a:off x="1832541" y="10287000"/>
            <a:ext cx="6222732" cy="215444"/>
          </a:xfrm>
          <a:prstGeom prst="rect">
            <a:avLst/>
          </a:prstGeom>
          <a:noFill/>
        </p:spPr>
        <p:txBody>
          <a:bodyPr wrap="square">
            <a:spAutoFit/>
          </a:bodyPr>
          <a:lstStyle/>
          <a:p>
            <a:pPr algn="r"/>
            <a:r>
              <a:rPr lang="en-US" sz="800" dirty="0">
                <a:solidFill>
                  <a:srgbClr val="1D1C1D"/>
                </a:solidFill>
                <a:latin typeface="Johnson Text" panose="00000500000000000000" pitchFamily="50" charset="0"/>
              </a:rPr>
              <a:t>© Johnson &amp; Johnson and its affiliates. 2024. All rights reserved.</a:t>
            </a:r>
            <a:endParaRPr lang="en-US" sz="1800" dirty="0">
              <a:solidFill>
                <a:prstClr val="black"/>
              </a:solidFill>
              <a:latin typeface="Microsoft Sans Serif" panose="020B0604020202020204" pitchFamily="34" charset="0"/>
            </a:endParaRPr>
          </a:p>
        </p:txBody>
      </p:sp>
      <p:pic>
        <p:nvPicPr>
          <p:cNvPr id="14" name="Picture 13">
            <a:extLst>
              <a:ext uri="{FF2B5EF4-FFF2-40B4-BE49-F238E27FC236}">
                <a16:creationId xmlns:a16="http://schemas.microsoft.com/office/drawing/2014/main" id="{C5B63A51-7A01-CE8B-76CC-85B2DEEAC8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2126" y="694110"/>
            <a:ext cx="1172106" cy="146860"/>
          </a:xfrm>
          <a:prstGeom prst="rect">
            <a:avLst/>
          </a:prstGeom>
        </p:spPr>
      </p:pic>
      <p:pic>
        <p:nvPicPr>
          <p:cNvPr id="16" name="Picture 15">
            <a:extLst>
              <a:ext uri="{FF2B5EF4-FFF2-40B4-BE49-F238E27FC236}">
                <a16:creationId xmlns:a16="http://schemas.microsoft.com/office/drawing/2014/main" id="{ACFB27B2-F846-52BE-7805-A8671534BCC9}"/>
              </a:ext>
            </a:extLst>
          </p:cNvPr>
          <p:cNvPicPr>
            <a:picLocks noChangeAspect="1"/>
          </p:cNvPicPr>
          <p:nvPr/>
        </p:nvPicPr>
        <p:blipFill>
          <a:blip r:embed="rId4">
            <a:extLst>
              <a:ext uri="{28A0092B-C50C-407E-A947-70E740481C1C}">
                <a14:useLocalDpi xmlns:a14="http://schemas.microsoft.com/office/drawing/2010/main" val="0"/>
              </a:ext>
            </a:extLst>
          </a:blip>
          <a:srcRect l="16666" t="313" r="24096"/>
          <a:stretch>
            <a:fillRect/>
          </a:stretch>
        </p:blipFill>
        <p:spPr>
          <a:xfrm>
            <a:off x="4240625" y="6128734"/>
            <a:ext cx="3714750" cy="4158266"/>
          </a:xfrm>
          <a:prstGeom prst="rect">
            <a:avLst/>
          </a:prstGeom>
        </p:spPr>
      </p:pic>
      <p:pic>
        <p:nvPicPr>
          <p:cNvPr id="7" name="Picture 6">
            <a:extLst>
              <a:ext uri="{FF2B5EF4-FFF2-40B4-BE49-F238E27FC236}">
                <a16:creationId xmlns:a16="http://schemas.microsoft.com/office/drawing/2014/main" id="{FB0ADD6A-71DD-4AA7-526E-762A1CE1A8C6}"/>
              </a:ext>
            </a:extLst>
          </p:cNvPr>
          <p:cNvPicPr>
            <a:picLocks noChangeAspect="1"/>
          </p:cNvPicPr>
          <p:nvPr/>
        </p:nvPicPr>
        <p:blipFill>
          <a:blip r:embed="rId5"/>
          <a:stretch>
            <a:fillRect/>
          </a:stretch>
        </p:blipFill>
        <p:spPr>
          <a:xfrm>
            <a:off x="4240625" y="3049280"/>
            <a:ext cx="3572374" cy="2943636"/>
          </a:xfrm>
          <a:prstGeom prst="rect">
            <a:avLst/>
          </a:prstGeom>
        </p:spPr>
      </p:pic>
      <p:sp>
        <p:nvSpPr>
          <p:cNvPr id="8" name="TextBox 7">
            <a:extLst>
              <a:ext uri="{FF2B5EF4-FFF2-40B4-BE49-F238E27FC236}">
                <a16:creationId xmlns:a16="http://schemas.microsoft.com/office/drawing/2014/main" id="{7CD54AE9-5595-2BCE-9430-EE31360B3670}"/>
              </a:ext>
            </a:extLst>
          </p:cNvPr>
          <p:cNvSpPr txBox="1"/>
          <p:nvPr/>
        </p:nvSpPr>
        <p:spPr>
          <a:xfrm>
            <a:off x="4240625" y="2058352"/>
            <a:ext cx="3572374" cy="954107"/>
          </a:xfrm>
          <a:prstGeom prst="rect">
            <a:avLst/>
          </a:prstGeom>
          <a:noFill/>
        </p:spPr>
        <p:txBody>
          <a:bodyPr wrap="square" rtlCol="0">
            <a:spAutoFit/>
          </a:bodyPr>
          <a:lstStyle/>
          <a:p>
            <a:r>
              <a:rPr lang="en-US" sz="1400" dirty="0">
                <a:latin typeface="Johnson Text" panose="00000500000000000000" pitchFamily="50" charset="0"/>
              </a:rPr>
              <a:t>The Pathfinder Kinematic Restoration Conversation Guide will help you identify your customer’s alignment philosophy in Total Knee Arthroplasty (TKA).</a:t>
            </a:r>
          </a:p>
        </p:txBody>
      </p:sp>
      <p:pic>
        <p:nvPicPr>
          <p:cNvPr id="4" name="Picture 3">
            <a:extLst>
              <a:ext uri="{FF2B5EF4-FFF2-40B4-BE49-F238E27FC236}">
                <a16:creationId xmlns:a16="http://schemas.microsoft.com/office/drawing/2014/main" id="{47F26EC6-2CCF-5FCE-0B93-6009C5F2878E}"/>
              </a:ext>
            </a:extLst>
          </p:cNvPr>
          <p:cNvPicPr>
            <a:picLocks noChangeAspect="1"/>
          </p:cNvPicPr>
          <p:nvPr/>
        </p:nvPicPr>
        <p:blipFill>
          <a:blip r:embed="rId6">
            <a:extLst>
              <a:ext uri="{BEBA8EAE-BF5A-486C-A8C5-ECC9F3942E4B}">
                <a14:imgProps xmlns:a14="http://schemas.microsoft.com/office/drawing/2010/main">
                  <a14:imgLayer r:embed="rId7">
                    <a14:imgEffect>
                      <a14:saturation sat="400000"/>
                    </a14:imgEffect>
                  </a14:imgLayer>
                </a14:imgProps>
              </a:ext>
            </a:extLst>
          </a:blip>
          <a:srcRect l="74863" t="678" r="1" b="91510"/>
          <a:stretch>
            <a:fillRect/>
          </a:stretch>
        </p:blipFill>
        <p:spPr>
          <a:xfrm>
            <a:off x="4240626" y="0"/>
            <a:ext cx="3572374" cy="530652"/>
          </a:xfrm>
          <a:prstGeom prst="rect">
            <a:avLst/>
          </a:prstGeom>
        </p:spPr>
      </p:pic>
      <p:sp>
        <p:nvSpPr>
          <p:cNvPr id="2" name="Rectangle 1">
            <a:extLst>
              <a:ext uri="{FF2B5EF4-FFF2-40B4-BE49-F238E27FC236}">
                <a16:creationId xmlns:a16="http://schemas.microsoft.com/office/drawing/2014/main" id="{B0939A44-8182-A8E2-DA25-294FF353C8A3}"/>
              </a:ext>
            </a:extLst>
          </p:cNvPr>
          <p:cNvSpPr/>
          <p:nvPr/>
        </p:nvSpPr>
        <p:spPr>
          <a:xfrm>
            <a:off x="-2857500" y="32863"/>
            <a:ext cx="2724150" cy="500667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OPTION 2 – Mobile</a:t>
            </a:r>
          </a:p>
          <a:p>
            <a:endParaRPr lang="en-US" dirty="0">
              <a:solidFill>
                <a:schemeClr val="bg1"/>
              </a:solidFill>
            </a:endParaRPr>
          </a:p>
          <a:p>
            <a:r>
              <a:rPr lang="en-US" dirty="0">
                <a:solidFill>
                  <a:schemeClr val="bg1"/>
                </a:solidFill>
              </a:rPr>
              <a:t>How the mobile design would look.</a:t>
            </a:r>
          </a:p>
          <a:p>
            <a:endParaRPr lang="en-US" dirty="0">
              <a:solidFill>
                <a:schemeClr val="bg1"/>
              </a:solidFill>
            </a:endParaRPr>
          </a:p>
        </p:txBody>
      </p:sp>
    </p:spTree>
    <p:extLst>
      <p:ext uri="{BB962C8B-B14F-4D97-AF65-F5344CB8AC3E}">
        <p14:creationId xmlns:p14="http://schemas.microsoft.com/office/powerpoint/2010/main" val="512501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F0A1A-72CE-C210-C29F-3406033D83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67CEEA2-D5F7-9FAE-FEDB-FE0525BACF46}"/>
              </a:ext>
            </a:extLst>
          </p:cNvPr>
          <p:cNvPicPr>
            <a:picLocks noChangeAspect="1"/>
          </p:cNvPicPr>
          <p:nvPr/>
        </p:nvPicPr>
        <p:blipFill>
          <a:blip r:embed="rId3"/>
          <a:srcRect t="-1" b="10796"/>
          <a:stretch>
            <a:fillRect/>
          </a:stretch>
        </p:blipFill>
        <p:spPr>
          <a:xfrm>
            <a:off x="323044" y="32863"/>
            <a:ext cx="11545911" cy="6059018"/>
          </a:xfrm>
          <a:prstGeom prst="rect">
            <a:avLst/>
          </a:prstGeom>
          <a:solidFill>
            <a:schemeClr val="accent1"/>
          </a:solidFill>
        </p:spPr>
      </p:pic>
      <p:sp>
        <p:nvSpPr>
          <p:cNvPr id="2" name="Rectangle 1">
            <a:extLst>
              <a:ext uri="{FF2B5EF4-FFF2-40B4-BE49-F238E27FC236}">
                <a16:creationId xmlns:a16="http://schemas.microsoft.com/office/drawing/2014/main" id="{C49639D3-2906-5C67-2A95-3B723C4CE165}"/>
              </a:ext>
            </a:extLst>
          </p:cNvPr>
          <p:cNvSpPr/>
          <p:nvPr/>
        </p:nvSpPr>
        <p:spPr>
          <a:xfrm>
            <a:off x="323044" y="682955"/>
            <a:ext cx="11545911" cy="53898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36DD1EF-D7CC-F22C-310A-6DFFD911C2F6}"/>
              </a:ext>
            </a:extLst>
          </p:cNvPr>
          <p:cNvPicPr>
            <a:picLocks noChangeAspect="1"/>
          </p:cNvPicPr>
          <p:nvPr/>
        </p:nvPicPr>
        <p:blipFill>
          <a:blip r:embed="rId4">
            <a:extLst>
              <a:ext uri="{28A0092B-C50C-407E-A947-70E740481C1C}">
                <a14:useLocalDpi xmlns:a14="http://schemas.microsoft.com/office/drawing/2010/main" val="0"/>
              </a:ext>
            </a:extLst>
          </a:blip>
          <a:srcRect l="24646" r="24182" b="13042"/>
          <a:stretch>
            <a:fillRect/>
          </a:stretch>
        </p:blipFill>
        <p:spPr>
          <a:xfrm>
            <a:off x="7753349" y="1410309"/>
            <a:ext cx="4115605" cy="4662521"/>
          </a:xfrm>
          <a:prstGeom prst="rect">
            <a:avLst/>
          </a:prstGeom>
        </p:spPr>
      </p:pic>
      <p:sp>
        <p:nvSpPr>
          <p:cNvPr id="11" name="TextBox 10">
            <a:extLst>
              <a:ext uri="{FF2B5EF4-FFF2-40B4-BE49-F238E27FC236}">
                <a16:creationId xmlns:a16="http://schemas.microsoft.com/office/drawing/2014/main" id="{478BFA0E-0A12-7E12-7D16-AAF1F94568EC}"/>
              </a:ext>
            </a:extLst>
          </p:cNvPr>
          <p:cNvSpPr txBox="1"/>
          <p:nvPr/>
        </p:nvSpPr>
        <p:spPr>
          <a:xfrm>
            <a:off x="323043" y="18349"/>
            <a:ext cx="11613619" cy="664605"/>
          </a:xfrm>
          <a:prstGeom prst="rect">
            <a:avLst/>
          </a:prstGeom>
          <a:solidFill>
            <a:schemeClr val="bg1"/>
          </a:solidFill>
        </p:spPr>
        <p:txBody>
          <a:bodyPr wrap="square" anchor="ctr">
            <a:noAutofit/>
          </a:bodyPr>
          <a:lstStyle/>
          <a:p>
            <a:pPr algn="ctr"/>
            <a:endParaRPr lang="en-US" dirty="0">
              <a:solidFill>
                <a:schemeClr val="accent1"/>
              </a:solidFill>
              <a:latin typeface="Johnson Display" panose="00000800000000000000" pitchFamily="50" charset="0"/>
            </a:endParaRPr>
          </a:p>
        </p:txBody>
      </p:sp>
      <p:sp>
        <p:nvSpPr>
          <p:cNvPr id="12" name="Rectangle 11">
            <a:extLst>
              <a:ext uri="{FF2B5EF4-FFF2-40B4-BE49-F238E27FC236}">
                <a16:creationId xmlns:a16="http://schemas.microsoft.com/office/drawing/2014/main" id="{5207D59A-5792-29EA-B146-7DA102B265AF}"/>
              </a:ext>
            </a:extLst>
          </p:cNvPr>
          <p:cNvSpPr/>
          <p:nvPr/>
        </p:nvSpPr>
        <p:spPr>
          <a:xfrm>
            <a:off x="4943907" y="6499465"/>
            <a:ext cx="6992756" cy="178420"/>
          </a:xfrm>
          <a:prstGeom prst="rect">
            <a:avLst/>
          </a:prstGeom>
        </p:spPr>
        <p:txBody>
          <a:bodyPr wrap="none" rIns="0">
            <a:noAutofit/>
          </a:bodyPr>
          <a:lstStyle/>
          <a:p>
            <a:pPr marL="0" marR="0" lvl="0" indent="0" algn="r" defTabSz="511175" rtl="0" eaLnBrk="1" fontAlgn="base" latinLnBrk="0" hangingPunct="1">
              <a:lnSpc>
                <a:spcPct val="100000"/>
              </a:lnSpc>
              <a:spcBef>
                <a:spcPct val="5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Johnson Text"/>
                <a:ea typeface="+mn-ea"/>
                <a:cs typeface="+mn-cs"/>
              </a:rPr>
              <a:t> CONFIDENTIAL. FOR INTERNAL USE ONLY. NOT FOR USE WITH ANY CUSTOER OR FOR EXTERNAL DISTRIBUTION. </a:t>
            </a:r>
          </a:p>
        </p:txBody>
      </p:sp>
      <p:sp>
        <p:nvSpPr>
          <p:cNvPr id="13" name="TextBox 12">
            <a:extLst>
              <a:ext uri="{FF2B5EF4-FFF2-40B4-BE49-F238E27FC236}">
                <a16:creationId xmlns:a16="http://schemas.microsoft.com/office/drawing/2014/main" id="{A80E6AD5-61B3-4E9E-9413-B8BBBBFA7805}"/>
              </a:ext>
            </a:extLst>
          </p:cNvPr>
          <p:cNvSpPr txBox="1"/>
          <p:nvPr/>
        </p:nvSpPr>
        <p:spPr>
          <a:xfrm>
            <a:off x="5771158" y="6339016"/>
            <a:ext cx="6222732" cy="215444"/>
          </a:xfrm>
          <a:prstGeom prst="rect">
            <a:avLst/>
          </a:prstGeom>
          <a:noFill/>
        </p:spPr>
        <p:txBody>
          <a:bodyPr wrap="square">
            <a:spAutoFit/>
          </a:bodyPr>
          <a:lstStyle/>
          <a:p>
            <a:pPr algn="r"/>
            <a:r>
              <a:rPr lang="en-US" sz="800" dirty="0">
                <a:solidFill>
                  <a:srgbClr val="1D1C1D"/>
                </a:solidFill>
                <a:latin typeface="Johnson Text" panose="00000500000000000000" pitchFamily="50" charset="0"/>
              </a:rPr>
              <a:t>© Johnson &amp; Johnson and its affiliates. 2024. All rights reserved.</a:t>
            </a:r>
            <a:endParaRPr lang="en-US" sz="1800" dirty="0">
              <a:solidFill>
                <a:prstClr val="black"/>
              </a:solidFill>
              <a:latin typeface="Microsoft Sans Serif" panose="020B0604020202020204" pitchFamily="34" charset="0"/>
            </a:endParaRPr>
          </a:p>
        </p:txBody>
      </p:sp>
      <p:pic>
        <p:nvPicPr>
          <p:cNvPr id="14" name="Picture 13">
            <a:extLst>
              <a:ext uri="{FF2B5EF4-FFF2-40B4-BE49-F238E27FC236}">
                <a16:creationId xmlns:a16="http://schemas.microsoft.com/office/drawing/2014/main" id="{B30251A4-6534-DD9B-25F1-973201C0FA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676" y="6401321"/>
            <a:ext cx="1172106" cy="146860"/>
          </a:xfrm>
          <a:prstGeom prst="rect">
            <a:avLst/>
          </a:prstGeom>
        </p:spPr>
      </p:pic>
      <p:sp>
        <p:nvSpPr>
          <p:cNvPr id="4" name="TextBox 3">
            <a:extLst>
              <a:ext uri="{FF2B5EF4-FFF2-40B4-BE49-F238E27FC236}">
                <a16:creationId xmlns:a16="http://schemas.microsoft.com/office/drawing/2014/main" id="{9201033F-DE5D-F907-A0C1-D397656A34F5}"/>
              </a:ext>
            </a:extLst>
          </p:cNvPr>
          <p:cNvSpPr txBox="1"/>
          <p:nvPr/>
        </p:nvSpPr>
        <p:spPr>
          <a:xfrm>
            <a:off x="1539782" y="682954"/>
            <a:ext cx="9396414" cy="658706"/>
          </a:xfrm>
          <a:prstGeom prst="rect">
            <a:avLst/>
          </a:prstGeom>
          <a:noFill/>
        </p:spPr>
        <p:txBody>
          <a:bodyPr wrap="square" anchor="ctr">
            <a:noAutofit/>
          </a:bodyPr>
          <a:lstStyle/>
          <a:p>
            <a:r>
              <a:rPr lang="en-US" sz="3600" b="0" i="0" dirty="0">
                <a:solidFill>
                  <a:schemeClr val="accent1"/>
                </a:solidFill>
                <a:effectLst/>
                <a:latin typeface="Johnson Display" panose="00000800000000000000" pitchFamily="50" charset="0"/>
              </a:rPr>
              <a:t>Kinematic Restoration Conversation Guide</a:t>
            </a:r>
            <a:endParaRPr lang="en-US" sz="2800" dirty="0">
              <a:solidFill>
                <a:schemeClr val="accent1"/>
              </a:solidFill>
              <a:latin typeface="Johnson Display" panose="00000800000000000000" pitchFamily="50" charset="0"/>
            </a:endParaRPr>
          </a:p>
        </p:txBody>
      </p:sp>
      <p:sp>
        <p:nvSpPr>
          <p:cNvPr id="10" name="TextBox 9">
            <a:extLst>
              <a:ext uri="{FF2B5EF4-FFF2-40B4-BE49-F238E27FC236}">
                <a16:creationId xmlns:a16="http://schemas.microsoft.com/office/drawing/2014/main" id="{AA041ED5-AB9D-15F4-0B73-36110AA55E3C}"/>
              </a:ext>
            </a:extLst>
          </p:cNvPr>
          <p:cNvSpPr txBox="1"/>
          <p:nvPr/>
        </p:nvSpPr>
        <p:spPr>
          <a:xfrm>
            <a:off x="3581400" y="1221954"/>
            <a:ext cx="4171949" cy="5361796"/>
          </a:xfrm>
          <a:prstGeom prst="rect">
            <a:avLst/>
          </a:prstGeom>
          <a:solidFill>
            <a:schemeClr val="bg1"/>
          </a:solidFill>
        </p:spPr>
        <p:txBody>
          <a:bodyPr wrap="square" anchor="ctr">
            <a:noAutofit/>
          </a:bodyPr>
          <a:lstStyle/>
          <a:p>
            <a:pPr algn="ctr"/>
            <a:endParaRPr lang="en-US" dirty="0">
              <a:solidFill>
                <a:schemeClr val="accent1"/>
              </a:solidFill>
              <a:latin typeface="Johnson Display" panose="00000800000000000000" pitchFamily="50" charset="0"/>
            </a:endParaRPr>
          </a:p>
        </p:txBody>
      </p:sp>
      <p:sp>
        <p:nvSpPr>
          <p:cNvPr id="8" name="TextBox 7">
            <a:extLst>
              <a:ext uri="{FF2B5EF4-FFF2-40B4-BE49-F238E27FC236}">
                <a16:creationId xmlns:a16="http://schemas.microsoft.com/office/drawing/2014/main" id="{89D45B66-6FC4-BDAB-978B-D6A3DE45BAF4}"/>
              </a:ext>
            </a:extLst>
          </p:cNvPr>
          <p:cNvSpPr txBox="1"/>
          <p:nvPr/>
        </p:nvSpPr>
        <p:spPr>
          <a:xfrm>
            <a:off x="4347604" y="1341660"/>
            <a:ext cx="3634346" cy="954107"/>
          </a:xfrm>
          <a:prstGeom prst="rect">
            <a:avLst/>
          </a:prstGeom>
          <a:noFill/>
        </p:spPr>
        <p:txBody>
          <a:bodyPr wrap="square" rtlCol="0">
            <a:spAutoFit/>
          </a:bodyPr>
          <a:lstStyle/>
          <a:p>
            <a:r>
              <a:rPr lang="en-US" sz="1400" dirty="0">
                <a:solidFill>
                  <a:schemeClr val="bg1"/>
                </a:solidFill>
                <a:latin typeface="Johnson Text" panose="00000500000000000000" pitchFamily="50" charset="0"/>
              </a:rPr>
              <a:t>The Pathfinder Kinematic Restoration Conversation Guide will help you identify your customer’s alignment philosophy in Total Knee Arthroplasty (TKA).</a:t>
            </a:r>
          </a:p>
        </p:txBody>
      </p:sp>
      <p:pic>
        <p:nvPicPr>
          <p:cNvPr id="18" name="Picture 17">
            <a:extLst>
              <a:ext uri="{FF2B5EF4-FFF2-40B4-BE49-F238E27FC236}">
                <a16:creationId xmlns:a16="http://schemas.microsoft.com/office/drawing/2014/main" id="{3E61804B-B3F4-1FCB-5C26-F67618D30190}"/>
              </a:ext>
            </a:extLst>
          </p:cNvPr>
          <p:cNvPicPr>
            <a:picLocks noChangeAspect="1"/>
          </p:cNvPicPr>
          <p:nvPr/>
        </p:nvPicPr>
        <p:blipFill>
          <a:blip r:embed="rId6">
            <a:extLst>
              <a:ext uri="{28A0092B-C50C-407E-A947-70E740481C1C}">
                <a14:useLocalDpi xmlns:a14="http://schemas.microsoft.com/office/drawing/2010/main" val="0"/>
              </a:ext>
            </a:extLst>
          </a:blip>
          <a:srcRect l="21779" t="19553" r="46773" b="20835"/>
          <a:stretch>
            <a:fillRect/>
          </a:stretch>
        </p:blipFill>
        <p:spPr>
          <a:xfrm>
            <a:off x="323044" y="1494594"/>
            <a:ext cx="3630941" cy="4578236"/>
          </a:xfrm>
          <a:prstGeom prst="rect">
            <a:avLst/>
          </a:prstGeom>
        </p:spPr>
      </p:pic>
      <p:sp>
        <p:nvSpPr>
          <p:cNvPr id="3" name="Rectangle 2">
            <a:extLst>
              <a:ext uri="{FF2B5EF4-FFF2-40B4-BE49-F238E27FC236}">
                <a16:creationId xmlns:a16="http://schemas.microsoft.com/office/drawing/2014/main" id="{0D16B267-D458-77A9-4596-E499CD472FA3}"/>
              </a:ext>
            </a:extLst>
          </p:cNvPr>
          <p:cNvSpPr/>
          <p:nvPr/>
        </p:nvSpPr>
        <p:spPr>
          <a:xfrm>
            <a:off x="-2857500" y="32863"/>
            <a:ext cx="2724150" cy="500667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OPTION 3</a:t>
            </a:r>
          </a:p>
          <a:p>
            <a:endParaRPr lang="en-US" dirty="0">
              <a:solidFill>
                <a:schemeClr val="bg1"/>
              </a:solidFill>
            </a:endParaRPr>
          </a:p>
          <a:p>
            <a:r>
              <a:rPr lang="en-US" dirty="0">
                <a:solidFill>
                  <a:schemeClr val="bg1"/>
                </a:solidFill>
              </a:rPr>
              <a:t>Least favorite option. </a:t>
            </a:r>
          </a:p>
          <a:p>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7" name="Picture 6">
            <a:extLst>
              <a:ext uri="{FF2B5EF4-FFF2-40B4-BE49-F238E27FC236}">
                <a16:creationId xmlns:a16="http://schemas.microsoft.com/office/drawing/2014/main" id="{E593E9AE-DFB4-CC48-258E-A16CD2FC11B6}"/>
              </a:ext>
            </a:extLst>
          </p:cNvPr>
          <p:cNvPicPr>
            <a:picLocks noChangeAspect="1"/>
          </p:cNvPicPr>
          <p:nvPr/>
        </p:nvPicPr>
        <p:blipFill>
          <a:blip r:embed="rId7">
            <a:extLst>
              <a:ext uri="{BEBA8EAE-BF5A-486C-A8C5-ECC9F3942E4B}">
                <a14:imgProps xmlns:a14="http://schemas.microsoft.com/office/drawing/2010/main">
                  <a14:imgLayer r:embed="rId8">
                    <a14:imgEffect>
                      <a14:saturation sat="400000"/>
                    </a14:imgEffect>
                  </a14:imgLayer>
                </a14:imgProps>
              </a:ext>
            </a:extLst>
          </a:blip>
          <a:srcRect l="74863" t="678" r="1" b="91510"/>
          <a:stretch>
            <a:fillRect/>
          </a:stretch>
        </p:blipFill>
        <p:spPr>
          <a:xfrm>
            <a:off x="9289741" y="-16296"/>
            <a:ext cx="2902259" cy="530652"/>
          </a:xfrm>
          <a:prstGeom prst="rect">
            <a:avLst/>
          </a:prstGeom>
        </p:spPr>
      </p:pic>
      <p:pic>
        <p:nvPicPr>
          <p:cNvPr id="15" name="Picture 14">
            <a:extLst>
              <a:ext uri="{FF2B5EF4-FFF2-40B4-BE49-F238E27FC236}">
                <a16:creationId xmlns:a16="http://schemas.microsoft.com/office/drawing/2014/main" id="{82BB34AC-F950-8854-F3C3-3E6BAEFD202A}"/>
              </a:ext>
            </a:extLst>
          </p:cNvPr>
          <p:cNvPicPr>
            <a:picLocks noChangeAspect="1"/>
          </p:cNvPicPr>
          <p:nvPr/>
        </p:nvPicPr>
        <p:blipFill>
          <a:blip r:embed="rId9"/>
          <a:stretch>
            <a:fillRect/>
          </a:stretch>
        </p:blipFill>
        <p:spPr>
          <a:xfrm>
            <a:off x="4085725" y="2466016"/>
            <a:ext cx="3572374" cy="2943636"/>
          </a:xfrm>
          <a:prstGeom prst="rect">
            <a:avLst/>
          </a:prstGeom>
        </p:spPr>
      </p:pic>
      <p:sp>
        <p:nvSpPr>
          <p:cNvPr id="16" name="TextBox 15">
            <a:extLst>
              <a:ext uri="{FF2B5EF4-FFF2-40B4-BE49-F238E27FC236}">
                <a16:creationId xmlns:a16="http://schemas.microsoft.com/office/drawing/2014/main" id="{6EE52DA7-40EF-CBA9-FF71-98EA78FE10E3}"/>
              </a:ext>
            </a:extLst>
          </p:cNvPr>
          <p:cNvSpPr txBox="1"/>
          <p:nvPr/>
        </p:nvSpPr>
        <p:spPr>
          <a:xfrm>
            <a:off x="4180975" y="1410309"/>
            <a:ext cx="3572374" cy="954107"/>
          </a:xfrm>
          <a:prstGeom prst="rect">
            <a:avLst/>
          </a:prstGeom>
          <a:noFill/>
        </p:spPr>
        <p:txBody>
          <a:bodyPr wrap="square" rtlCol="0">
            <a:spAutoFit/>
          </a:bodyPr>
          <a:lstStyle/>
          <a:p>
            <a:r>
              <a:rPr lang="en-US" sz="1400" dirty="0">
                <a:latin typeface="Johnson Text" panose="00000500000000000000" pitchFamily="50" charset="0"/>
              </a:rPr>
              <a:t>The Pathfinder Kinematic Restoration Conversation Guide will help you identify your customer’s alignment philosophy in Total Knee Arthroplasty (TKA).</a:t>
            </a:r>
          </a:p>
        </p:txBody>
      </p:sp>
    </p:spTree>
    <p:extLst>
      <p:ext uri="{BB962C8B-B14F-4D97-AF65-F5344CB8AC3E}">
        <p14:creationId xmlns:p14="http://schemas.microsoft.com/office/powerpoint/2010/main" val="2142988124"/>
      </p:ext>
    </p:extLst>
  </p:cSld>
  <p:clrMapOvr>
    <a:masterClrMapping/>
  </p:clrMapOvr>
</p:sld>
</file>

<file path=ppt/theme/theme1.xml><?xml version="1.0" encoding="utf-8"?>
<a:theme xmlns:a="http://schemas.openxmlformats.org/drawingml/2006/main" name="Office Theme">
  <a:themeElements>
    <a:clrScheme name="J&amp;J Branding">
      <a:dk1>
        <a:srgbClr val="000000"/>
      </a:dk1>
      <a:lt1>
        <a:srgbClr val="FFFFFF"/>
      </a:lt1>
      <a:dk2>
        <a:srgbClr val="F9F7F6"/>
      </a:dk2>
      <a:lt2>
        <a:srgbClr val="564C47"/>
      </a:lt2>
      <a:accent1>
        <a:srgbClr val="EB1700"/>
      </a:accent1>
      <a:accent2>
        <a:srgbClr val="000000"/>
      </a:accent2>
      <a:accent3>
        <a:srgbClr val="C1BBB3"/>
      </a:accent3>
      <a:accent4>
        <a:srgbClr val="004685"/>
      </a:accent4>
      <a:accent5>
        <a:srgbClr val="69D0FF"/>
      </a:accent5>
      <a:accent6>
        <a:srgbClr val="541980"/>
      </a:accent6>
      <a:hlink>
        <a:srgbClr val="000000"/>
      </a:hlink>
      <a:folHlink>
        <a:srgbClr val="000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801</TotalTime>
  <Words>1002</Words>
  <Application>Microsoft Office PowerPoint</Application>
  <PresentationFormat>Widescreen</PresentationFormat>
  <Paragraphs>87</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Aptos</vt:lpstr>
      <vt:lpstr>Aptos Display</vt:lpstr>
      <vt:lpstr>Arial</vt:lpstr>
      <vt:lpstr>Courier New</vt:lpstr>
      <vt:lpstr>Johnson Display</vt:lpstr>
      <vt:lpstr>Johnson Text</vt:lpstr>
      <vt:lpstr>Microsoft Sans Serif</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Julie Apley</dc:creator>
  <cp:lastModifiedBy>Rob Searles</cp:lastModifiedBy>
  <cp:revision>7</cp:revision>
  <dcterms:created xsi:type="dcterms:W3CDTF">2025-07-21T01:02:13Z</dcterms:created>
  <dcterms:modified xsi:type="dcterms:W3CDTF">2025-07-22T19:51:27Z</dcterms:modified>
</cp:coreProperties>
</file>