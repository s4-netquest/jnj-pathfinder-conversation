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6" r:id="rId3"/>
    <p:sldId id="262" r:id="rId4"/>
    <p:sldId id="263" r:id="rId5"/>
    <p:sldId id="264" r:id="rId6"/>
    <p:sldId id="265" r:id="rId7"/>
    <p:sldId id="26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38A169"/>
    <a:srgbClr val="6E6259"/>
    <a:srgbClr val="9E0000"/>
    <a:srgbClr val="F1EF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snapToObjects="1">
      <p:cViewPr varScale="1">
        <p:scale>
          <a:sx n="72" d="100"/>
          <a:sy n="72" d="100"/>
        </p:scale>
        <p:origin x="78" y="54"/>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26E0D-9655-437F-916D-403036BC0650}" type="datetimeFigureOut">
              <a:rPr lang="en-US" smtClean="0"/>
              <a:t>7/20/2025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43CD5A-BEFA-4710-8CA5-926B9DDC69E9}" type="slidenum">
              <a:rPr lang="en-US" smtClean="0"/>
              <a:t>‹#›</a:t>
            </a:fld>
            <a:endParaRPr lang="en-US"/>
          </a:p>
        </p:txBody>
      </p:sp>
    </p:spTree>
    <p:extLst>
      <p:ext uri="{BB962C8B-B14F-4D97-AF65-F5344CB8AC3E}">
        <p14:creationId xmlns:p14="http://schemas.microsoft.com/office/powerpoint/2010/main" val="3402359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43CD5A-BEFA-4710-8CA5-926B9DDC69E9}" type="slidenum">
              <a:rPr lang="en-US" smtClean="0"/>
              <a:t>2</a:t>
            </a:fld>
            <a:endParaRPr lang="en-US"/>
          </a:p>
        </p:txBody>
      </p:sp>
    </p:spTree>
    <p:extLst>
      <p:ext uri="{BB962C8B-B14F-4D97-AF65-F5344CB8AC3E}">
        <p14:creationId xmlns:p14="http://schemas.microsoft.com/office/powerpoint/2010/main" val="392083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D3FEE-F65A-F289-0AF2-31F903604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D6690-8595-A50D-C20B-11A27AD2BA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AE8F1-0498-68D2-4F97-F8AF335FB1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1D680E-17DB-9949-A2F5-FF702D2800EA}"/>
              </a:ext>
            </a:extLst>
          </p:cNvPr>
          <p:cNvSpPr>
            <a:spLocks noGrp="1"/>
          </p:cNvSpPr>
          <p:nvPr>
            <p:ph type="sldNum" sz="quarter" idx="5"/>
          </p:nvPr>
        </p:nvSpPr>
        <p:spPr/>
        <p:txBody>
          <a:bodyPr/>
          <a:lstStyle/>
          <a:p>
            <a:fld id="{C143CD5A-BEFA-4710-8CA5-926B9DDC69E9}" type="slidenum">
              <a:rPr lang="en-US" smtClean="0"/>
              <a:t>3</a:t>
            </a:fld>
            <a:endParaRPr lang="en-US"/>
          </a:p>
        </p:txBody>
      </p:sp>
    </p:spTree>
    <p:extLst>
      <p:ext uri="{BB962C8B-B14F-4D97-AF65-F5344CB8AC3E}">
        <p14:creationId xmlns:p14="http://schemas.microsoft.com/office/powerpoint/2010/main" val="1536669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4E242-8981-7F53-ED6A-733803F61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07444-3832-5F74-089C-C4E1E708D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A46EC-7B51-E6CA-50E4-E49443ACDF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B7B7F2-0BF5-4C76-6273-6CF7BDA762FC}"/>
              </a:ext>
            </a:extLst>
          </p:cNvPr>
          <p:cNvSpPr>
            <a:spLocks noGrp="1"/>
          </p:cNvSpPr>
          <p:nvPr>
            <p:ph type="sldNum" sz="quarter" idx="5"/>
          </p:nvPr>
        </p:nvSpPr>
        <p:spPr/>
        <p:txBody>
          <a:bodyPr/>
          <a:lstStyle/>
          <a:p>
            <a:fld id="{C143CD5A-BEFA-4710-8CA5-926B9DDC69E9}" type="slidenum">
              <a:rPr lang="en-US" smtClean="0"/>
              <a:t>6</a:t>
            </a:fld>
            <a:endParaRPr lang="en-US"/>
          </a:p>
        </p:txBody>
      </p:sp>
    </p:spTree>
    <p:extLst>
      <p:ext uri="{BB962C8B-B14F-4D97-AF65-F5344CB8AC3E}">
        <p14:creationId xmlns:p14="http://schemas.microsoft.com/office/powerpoint/2010/main" val="3471650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D9EF3-4CD5-8FA4-82E8-BA0D735B5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EF052-92EA-A93D-4ACD-5E40C786DA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26213-4800-0C9E-1933-F63676313D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0ECE11-BABC-9500-32E6-32DC3DCC3AAD}"/>
              </a:ext>
            </a:extLst>
          </p:cNvPr>
          <p:cNvSpPr>
            <a:spLocks noGrp="1"/>
          </p:cNvSpPr>
          <p:nvPr>
            <p:ph type="sldNum" sz="quarter" idx="5"/>
          </p:nvPr>
        </p:nvSpPr>
        <p:spPr/>
        <p:txBody>
          <a:bodyPr/>
          <a:lstStyle/>
          <a:p>
            <a:fld id="{C143CD5A-BEFA-4710-8CA5-926B9DDC69E9}" type="slidenum">
              <a:rPr lang="en-US" smtClean="0"/>
              <a:t>7</a:t>
            </a:fld>
            <a:endParaRPr lang="en-US"/>
          </a:p>
        </p:txBody>
      </p:sp>
    </p:spTree>
    <p:extLst>
      <p:ext uri="{BB962C8B-B14F-4D97-AF65-F5344CB8AC3E}">
        <p14:creationId xmlns:p14="http://schemas.microsoft.com/office/powerpoint/2010/main" val="314603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43EE-D505-A446-55BC-7DD939DDE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5B9A93-6AF5-BDA4-09D4-9D3EE1623C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025E92-2CB3-B4D0-5A31-FCF1C6626D8A}"/>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5" name="Footer Placeholder 4">
            <a:extLst>
              <a:ext uri="{FF2B5EF4-FFF2-40B4-BE49-F238E27FC236}">
                <a16:creationId xmlns:a16="http://schemas.microsoft.com/office/drawing/2014/main" id="{CA06344B-3E3F-2821-225A-16A7FB5CEF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BDCB41-0E3E-052D-A3AA-1DFD6964B707}"/>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049552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9B76E-EA21-309B-A526-427A312F42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97E148-332C-5AEB-90CC-3EED38AFE6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65C6F9-15CE-8CE7-FFDB-CF9FE2DC42DD}"/>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5" name="Footer Placeholder 4">
            <a:extLst>
              <a:ext uri="{FF2B5EF4-FFF2-40B4-BE49-F238E27FC236}">
                <a16:creationId xmlns:a16="http://schemas.microsoft.com/office/drawing/2014/main" id="{B5D5944B-B2B8-F192-4FBE-A07A8D549F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6471E-A70A-1F48-AD1D-CA056EA0628B}"/>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124356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59636-1FCA-9503-514D-A8C9165996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B835A3-CFEA-399F-C3A8-C75AE30068B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E629F6-F946-78BD-A59F-037113B7DA2C}"/>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5" name="Footer Placeholder 4">
            <a:extLst>
              <a:ext uri="{FF2B5EF4-FFF2-40B4-BE49-F238E27FC236}">
                <a16:creationId xmlns:a16="http://schemas.microsoft.com/office/drawing/2014/main" id="{2CFD347C-7302-575B-FDB7-3E05A99384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6793E-6046-B5DA-D4B6-4376C2FA3FDE}"/>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3499090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B89D9-0BA2-3AD1-8F84-B199DB736F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71852F-208F-BC15-F748-301882D73E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6A5F60-6C71-0E0B-7EAF-1A52E76799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B4268B-4A09-3E19-38C1-C43B9C30A25A}"/>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6" name="Footer Placeholder 5">
            <a:extLst>
              <a:ext uri="{FF2B5EF4-FFF2-40B4-BE49-F238E27FC236}">
                <a16:creationId xmlns:a16="http://schemas.microsoft.com/office/drawing/2014/main" id="{B5768568-A212-178D-ECD2-BEACBE3668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C0E062-09C6-29AA-8185-06FF1D5B3926}"/>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53719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E8981-C717-FB7E-7F33-F5F6AD432E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BAEB43-9D32-485B-5E61-6C949E4644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B39B40-1EC0-1FC1-8327-154C74D47B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AA4A78-A32F-3EBD-88A5-8677322242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24BED7-DF95-C7E7-EFA4-E49E86D355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AEFBF7-4DAB-C04C-A9BC-55656D4716B6}"/>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8" name="Footer Placeholder 7">
            <a:extLst>
              <a:ext uri="{FF2B5EF4-FFF2-40B4-BE49-F238E27FC236}">
                <a16:creationId xmlns:a16="http://schemas.microsoft.com/office/drawing/2014/main" id="{7BE81F32-A680-15C9-8DE0-3F17BD0275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7F6219-E9F5-CC97-0F5E-A363C2AD1291}"/>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6263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C6CA0-6460-27BE-431C-BBB84F3FB3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4E8AA6-C0DE-4811-CC04-926FD61CF5B3}"/>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4" name="Footer Placeholder 3">
            <a:extLst>
              <a:ext uri="{FF2B5EF4-FFF2-40B4-BE49-F238E27FC236}">
                <a16:creationId xmlns:a16="http://schemas.microsoft.com/office/drawing/2014/main" id="{BBAF91B1-308D-8CCD-4A15-769199B37A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A78B24-8057-3BE8-0C17-0E72109B2246}"/>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2522585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8545CF-E2AC-F956-853B-D00423EE2E8E}"/>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3" name="Footer Placeholder 2">
            <a:extLst>
              <a:ext uri="{FF2B5EF4-FFF2-40B4-BE49-F238E27FC236}">
                <a16:creationId xmlns:a16="http://schemas.microsoft.com/office/drawing/2014/main" id="{CF10578D-5318-F1BD-0EA1-0BF176D107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66DE17-A41F-BA1E-A2EB-F6EDC82069F9}"/>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1912121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D8CF1-483B-DA84-11F8-AEBB0D22D9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3F0718-F3CD-0CEB-7140-91509761DB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30E744-9E6F-60E7-77A7-E6CCA6183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D71267-81E8-CF09-F31A-43F098B8CE40}"/>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6" name="Footer Placeholder 5">
            <a:extLst>
              <a:ext uri="{FF2B5EF4-FFF2-40B4-BE49-F238E27FC236}">
                <a16:creationId xmlns:a16="http://schemas.microsoft.com/office/drawing/2014/main" id="{686EE9C9-043F-0397-AA99-8228E61A19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9D1CFF-5F9E-FD31-D282-ABFE2EB70F5F}"/>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549742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7EBC8-6A09-1B6B-D2B2-337F0FD35C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48687C-82CB-D02A-0098-2763973568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21CC83-D0FE-1C57-80CA-1DD6EE6FE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994172-AB4A-3568-D255-B7F65A07D8DC}"/>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6" name="Footer Placeholder 5">
            <a:extLst>
              <a:ext uri="{FF2B5EF4-FFF2-40B4-BE49-F238E27FC236}">
                <a16:creationId xmlns:a16="http://schemas.microsoft.com/office/drawing/2014/main" id="{A298BB87-A73D-EAE5-4252-D8E82F2828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43410B-D17A-267F-EA62-38572D756CE9}"/>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1654849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45F15-9E85-0F11-60E3-63F357BD79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413395-DCF6-C3CF-82C4-A09332B41B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0DD08B-CB3F-009A-0C58-0FF0B156108F}"/>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5" name="Footer Placeholder 4">
            <a:extLst>
              <a:ext uri="{FF2B5EF4-FFF2-40B4-BE49-F238E27FC236}">
                <a16:creationId xmlns:a16="http://schemas.microsoft.com/office/drawing/2014/main" id="{4E6F6B15-41EC-5108-D2E2-572EEB5D00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B7BCBA-80CC-33BA-4AC7-6CB081289721}"/>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1190349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7F5C97-E4D3-8689-DD2B-CAB9D0407F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597FB0-BA76-DD52-5A1F-E3126FD55D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ACF812-BA51-FDAF-A9D7-102B0A0BA8FF}"/>
              </a:ext>
            </a:extLst>
          </p:cNvPr>
          <p:cNvSpPr>
            <a:spLocks noGrp="1"/>
          </p:cNvSpPr>
          <p:nvPr>
            <p:ph type="dt" sz="half" idx="10"/>
          </p:nvPr>
        </p:nvSpPr>
        <p:spPr/>
        <p:txBody>
          <a:bodyPr/>
          <a:lstStyle/>
          <a:p>
            <a:fld id="{617E340D-0EBC-4FD4-9AC9-F419EBBED343}" type="datetimeFigureOut">
              <a:rPr lang="en-US" smtClean="0"/>
              <a:t>7/20/2025</a:t>
            </a:fld>
            <a:endParaRPr lang="en-US"/>
          </a:p>
        </p:txBody>
      </p:sp>
      <p:sp>
        <p:nvSpPr>
          <p:cNvPr id="5" name="Footer Placeholder 4">
            <a:extLst>
              <a:ext uri="{FF2B5EF4-FFF2-40B4-BE49-F238E27FC236}">
                <a16:creationId xmlns:a16="http://schemas.microsoft.com/office/drawing/2014/main" id="{D01EF8F7-558D-C438-7443-39CA78E8FF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52C993-275B-85CF-2F2E-C57B20C19166}"/>
              </a:ext>
            </a:extLst>
          </p:cNvPr>
          <p:cNvSpPr>
            <a:spLocks noGrp="1"/>
          </p:cNvSpPr>
          <p:nvPr>
            <p:ph type="sldNum" sz="quarter" idx="12"/>
          </p:nvPr>
        </p:nvSpPr>
        <p:spPr/>
        <p:txBody>
          <a:bodyPr/>
          <a:lstStyle/>
          <a:p>
            <a:fld id="{EDFA7EEB-BB0B-4CEB-9222-674A6188D012}" type="slidenum">
              <a:rPr lang="en-US" smtClean="0"/>
              <a:t>‹#›</a:t>
            </a:fld>
            <a:endParaRPr lang="en-US"/>
          </a:p>
        </p:txBody>
      </p:sp>
    </p:spTree>
    <p:extLst>
      <p:ext uri="{BB962C8B-B14F-4D97-AF65-F5344CB8AC3E}">
        <p14:creationId xmlns:p14="http://schemas.microsoft.com/office/powerpoint/2010/main" val="1479653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3062C5-6D2D-475F-AE60-B7F39ACA2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C4385E-EC1D-B7F0-60F8-FDCE0E9820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2D53FC-F2D8-039F-F74F-5C31E5E5AA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7E340D-0EBC-4FD4-9AC9-F419EBBED343}" type="datetimeFigureOut">
              <a:rPr lang="en-US" smtClean="0"/>
              <a:t>7/20/2025</a:t>
            </a:fld>
            <a:endParaRPr lang="en-US"/>
          </a:p>
        </p:txBody>
      </p:sp>
      <p:sp>
        <p:nvSpPr>
          <p:cNvPr id="5" name="Footer Placeholder 4">
            <a:extLst>
              <a:ext uri="{FF2B5EF4-FFF2-40B4-BE49-F238E27FC236}">
                <a16:creationId xmlns:a16="http://schemas.microsoft.com/office/drawing/2014/main" id="{89A82E8F-4288-A0A6-6C11-A32499975B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B57B4E-3A7A-A898-0A17-8CFF7B923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FA7EEB-BB0B-4CEB-9222-674A6188D012}" type="slidenum">
              <a:rPr lang="en-US" smtClean="0"/>
              <a:t>‹#›</a:t>
            </a:fld>
            <a:endParaRPr lang="en-US"/>
          </a:p>
        </p:txBody>
      </p:sp>
    </p:spTree>
    <p:extLst>
      <p:ext uri="{BB962C8B-B14F-4D97-AF65-F5344CB8AC3E}">
        <p14:creationId xmlns:p14="http://schemas.microsoft.com/office/powerpoint/2010/main" val="3735324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png"/><Relationship Id="rId10" Type="http://schemas.openxmlformats.org/officeDocument/2006/relationships/image" Target="../media/image10.svg"/><Relationship Id="rId4" Type="http://schemas.openxmlformats.org/officeDocument/2006/relationships/image" Target="../media/image5.jp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png"/><Relationship Id="rId10" Type="http://schemas.openxmlformats.org/officeDocument/2006/relationships/image" Target="../media/image10.svg"/><Relationship Id="rId4" Type="http://schemas.openxmlformats.org/officeDocument/2006/relationships/image" Target="../media/image5.jp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5.png"/><Relationship Id="rId5" Type="http://schemas.openxmlformats.org/officeDocument/2006/relationships/image" Target="../media/image2.png"/><Relationship Id="rId10" Type="http://schemas.openxmlformats.org/officeDocument/2006/relationships/image" Target="../media/image10.svg"/><Relationship Id="rId4" Type="http://schemas.openxmlformats.org/officeDocument/2006/relationships/image" Target="../media/image5.jp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AFECE4-F1E2-08E5-C1B6-CF6DAB8E376F}"/>
              </a:ext>
            </a:extLst>
          </p:cNvPr>
          <p:cNvSpPr txBox="1"/>
          <p:nvPr/>
        </p:nvSpPr>
        <p:spPr>
          <a:xfrm>
            <a:off x="141000" y="564311"/>
            <a:ext cx="12051000" cy="7355860"/>
          </a:xfrm>
          <a:prstGeom prst="rect">
            <a:avLst/>
          </a:prstGeom>
          <a:noFill/>
        </p:spPr>
        <p:txBody>
          <a:bodyPr wrap="square">
            <a:spAutoFit/>
          </a:bodyPr>
          <a:lstStyle/>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KR Conversation Guide Branding: Add Pathfinder “brand” at the top left of the page using the J&amp;J font in all caps. </a:t>
            </a:r>
            <a:r>
              <a:rPr lang="en-US" sz="1400" b="0" i="0" dirty="0">
                <a:solidFill>
                  <a:schemeClr val="accent1"/>
                </a:solidFill>
                <a:effectLst/>
                <a:latin typeface="Arial" panose="020B0604020202020204" pitchFamily="34" charset="0"/>
              </a:rPr>
              <a:t>What is this? Pathfinder on left in all caps. </a:t>
            </a:r>
            <a:endParaRPr lang="en-US" sz="1400" dirty="0">
              <a:solidFill>
                <a:schemeClr val="accent1"/>
              </a:solidFill>
              <a:latin typeface="Arial" panose="020B0604020202020204" pitchFamily="34" charset="0"/>
            </a:endParaRPr>
          </a:p>
          <a:p>
            <a:pPr marL="171450" indent="-171450" algn="l">
              <a:spcAft>
                <a:spcPts val="600"/>
              </a:spcAft>
              <a:buFont typeface="Arial" panose="020B0604020202020204" pitchFamily="34" charset="0"/>
              <a:buChar char="•"/>
            </a:pPr>
            <a:r>
              <a:rPr lang="en-US" sz="1400" dirty="0">
                <a:solidFill>
                  <a:srgbClr val="222222"/>
                </a:solidFill>
                <a:highlight>
                  <a:srgbClr val="00FF00"/>
                </a:highlight>
                <a:latin typeface="Arial" panose="020B0604020202020204" pitchFamily="34" charset="0"/>
              </a:rPr>
              <a:t>B</a:t>
            </a:r>
            <a:r>
              <a:rPr lang="en-US" sz="1400" b="0" i="0" dirty="0">
                <a:solidFill>
                  <a:srgbClr val="222222"/>
                </a:solidFill>
                <a:effectLst/>
                <a:highlight>
                  <a:srgbClr val="00FF00"/>
                </a:highlight>
                <a:latin typeface="Arial" panose="020B0604020202020204" pitchFamily="34" charset="0"/>
              </a:rPr>
              <a:t>randing - Center Kinematic Restoration Conversation Guide in the middle of the header. </a:t>
            </a:r>
            <a:r>
              <a:rPr lang="en-US" sz="1400" b="0" i="0" dirty="0">
                <a:solidFill>
                  <a:schemeClr val="accent1"/>
                </a:solidFill>
                <a:effectLst/>
                <a:latin typeface="Arial" panose="020B0604020202020204" pitchFamily="34" charset="0"/>
              </a:rPr>
              <a:t>Use pathfinder image provided in shared images</a:t>
            </a:r>
            <a:r>
              <a:rPr lang="en-US" sz="1400" b="0" i="0" dirty="0">
                <a:solidFill>
                  <a:srgbClr val="222222"/>
                </a:solidFill>
                <a:effectLst/>
                <a:latin typeface="Arial" panose="020B0604020202020204" pitchFamily="34" charset="0"/>
              </a:rPr>
              <a:t>. </a:t>
            </a:r>
          </a:p>
          <a:p>
            <a:pPr marL="171450" indent="-171450" algn="l">
              <a:spcAft>
                <a:spcPts val="600"/>
              </a:spcAft>
              <a:buFont typeface="Arial" panose="020B0604020202020204" pitchFamily="34" charset="0"/>
              <a:buChar char="•"/>
            </a:pPr>
            <a:r>
              <a:rPr lang="en-US" sz="1400" b="0" i="0" dirty="0">
                <a:solidFill>
                  <a:srgbClr val="222222"/>
                </a:solidFill>
                <a:effectLst/>
                <a:highlight>
                  <a:srgbClr val="00FF00"/>
                </a:highlight>
                <a:latin typeface="Arial" panose="020B0604020202020204" pitchFamily="34" charset="0"/>
              </a:rPr>
              <a:t>Intro Text Update: Update the intro text to: “The Pathfinder Kinematic Restoration Conversation Guide will help…” </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Landing Page: Suggest creating a landing page video or graphic to enhance engagement.</a:t>
            </a:r>
            <a:r>
              <a:rPr lang="en-US" sz="1400" b="0" i="0" dirty="0">
                <a:solidFill>
                  <a:schemeClr val="accent1"/>
                </a:solidFill>
                <a:effectLst/>
                <a:latin typeface="Arial" panose="020B0604020202020204" pitchFamily="34" charset="0"/>
              </a:rPr>
              <a:t> Use photos on shared drive.</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Disclaimers: </a:t>
            </a:r>
            <a:r>
              <a:rPr lang="en-US" sz="1400" b="0" i="0" dirty="0">
                <a:solidFill>
                  <a:srgbClr val="222222"/>
                </a:solidFill>
                <a:effectLst/>
                <a:highlight>
                  <a:srgbClr val="00FF00"/>
                </a:highlight>
                <a:latin typeface="Arial" panose="020B0604020202020204" pitchFamily="34" charset="0"/>
              </a:rPr>
              <a:t>Add standard legal disclaimers and copyright (© Johnson &amp; Johnson, [Year]) at the bottom. </a:t>
            </a:r>
            <a:r>
              <a:rPr lang="en-US" sz="1400" b="0" i="0" dirty="0">
                <a:solidFill>
                  <a:schemeClr val="accent1"/>
                </a:solidFill>
                <a:effectLst/>
                <a:latin typeface="Arial" panose="020B0604020202020204" pitchFamily="34" charset="0"/>
              </a:rPr>
              <a:t>On all pages and downloadable form.</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Glossary Terms: Move “Anatomy” and similar glossary terms to the upper right of the rectangular space. </a:t>
            </a:r>
            <a:r>
              <a:rPr lang="en-US" sz="1400" b="0" i="0" dirty="0">
                <a:solidFill>
                  <a:schemeClr val="accent1"/>
                </a:solidFill>
                <a:effectLst/>
                <a:latin typeface="Arial" panose="020B0604020202020204" pitchFamily="34" charset="0"/>
              </a:rPr>
              <a:t>See Page 5. </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Editable Fields: Include the ability to edit/change certain “conversation” details (e.g., surgeon name) after initial creation. </a:t>
            </a:r>
            <a:r>
              <a:rPr lang="en-US" sz="1400" b="0" i="0" dirty="0">
                <a:solidFill>
                  <a:schemeClr val="accent1"/>
                </a:solidFill>
                <a:effectLst/>
                <a:latin typeface="Arial" panose="020B0604020202020204" pitchFamily="34" charset="0"/>
              </a:rPr>
              <a:t>Likes idea of buttons on cards. Edit, Load, …etc. See page 4.</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Alignment Philosophy Scores: </a:t>
            </a:r>
          </a:p>
          <a:p>
            <a:pPr marL="742950" lvl="1" indent="-285750" algn="l">
              <a:spcAft>
                <a:spcPts val="600"/>
              </a:spcAft>
              <a:buFont typeface="Courier New" panose="02070309020205020404" pitchFamily="49" charset="0"/>
              <a:buChar char="o"/>
            </a:pPr>
            <a:r>
              <a:rPr lang="en-US" sz="1400" b="0" i="0" dirty="0">
                <a:solidFill>
                  <a:srgbClr val="222222"/>
                </a:solidFill>
                <a:effectLst/>
                <a:latin typeface="Arial" panose="020B0604020202020204" pitchFamily="34" charset="0"/>
              </a:rPr>
              <a:t>Current visuals seem a bit scattered. We would like for the guide to show a clear tendency towards a specific alignment philosophy. </a:t>
            </a:r>
            <a:r>
              <a:rPr lang="en-US" sz="1400" b="0" i="0" dirty="0">
                <a:solidFill>
                  <a:schemeClr val="accent1"/>
                </a:solidFill>
                <a:effectLst/>
                <a:latin typeface="Arial" panose="020B0604020202020204" pitchFamily="34" charset="0"/>
              </a:rPr>
              <a:t>Is there a more intriguing way to display this? If not, it is ok. </a:t>
            </a:r>
          </a:p>
          <a:p>
            <a:pPr marL="742950" lvl="1" indent="-285750" algn="l">
              <a:spcAft>
                <a:spcPts val="600"/>
              </a:spcAft>
              <a:buFont typeface="Courier New" panose="02070309020205020404" pitchFamily="49" charset="0"/>
              <a:buChar char="o"/>
            </a:pPr>
            <a:r>
              <a:rPr lang="en-US" sz="1400" b="0" i="0" dirty="0">
                <a:solidFill>
                  <a:srgbClr val="222222"/>
                </a:solidFill>
                <a:effectLst/>
                <a:latin typeface="Arial" panose="020B0604020202020204" pitchFamily="34" charset="0"/>
              </a:rPr>
              <a:t>Brainstorm alternative visuals – maybe a larger “dot” indicating the direction, not just on hover. </a:t>
            </a:r>
            <a:r>
              <a:rPr lang="en-US" sz="1400" b="0" i="0" dirty="0">
                <a:solidFill>
                  <a:schemeClr val="accent1"/>
                </a:solidFill>
                <a:effectLst/>
                <a:latin typeface="Arial" panose="020B0604020202020204" pitchFamily="34" charset="0"/>
              </a:rPr>
              <a:t>If there is a way to explore other charts, he would like to. This was David’s comment and not his. </a:t>
            </a:r>
          </a:p>
          <a:p>
            <a:pPr marL="171450" indent="-171450" algn="l">
              <a:spcAft>
                <a:spcPts val="600"/>
              </a:spcAft>
              <a:buFont typeface="Arial" panose="020B0604020202020204" pitchFamily="34" charset="0"/>
              <a:buChar char="•"/>
            </a:pPr>
            <a:r>
              <a:rPr lang="en-US" sz="1400" b="0" i="0" dirty="0">
                <a:solidFill>
                  <a:srgbClr val="222222"/>
                </a:solidFill>
                <a:effectLst/>
                <a:highlight>
                  <a:srgbClr val="00FF00"/>
                </a:highlight>
                <a:latin typeface="Arial" panose="020B0604020202020204" pitchFamily="34" charset="0"/>
              </a:rPr>
              <a:t>Color Guidelines: Avoid using orange. Stick with dominant J&amp;J colors — primarily red with supporting tones from the J&amp;J color palette. </a:t>
            </a:r>
            <a:r>
              <a:rPr lang="en-US" sz="1400" b="0" i="0" dirty="0">
                <a:solidFill>
                  <a:schemeClr val="accent1"/>
                </a:solidFill>
                <a:effectLst/>
                <a:latin typeface="Arial" panose="020B0604020202020204" pitchFamily="34" charset="0"/>
              </a:rPr>
              <a:t>Colors are good on page 3. Keep light colors as is on References and Citations page for now. </a:t>
            </a:r>
          </a:p>
          <a:p>
            <a:pPr marL="171450" indent="-171450" algn="l">
              <a:spcAft>
                <a:spcPts val="600"/>
              </a:spcAft>
              <a:buFont typeface="Arial" panose="020B0604020202020204" pitchFamily="34" charset="0"/>
              <a:buChar char="•"/>
            </a:pPr>
            <a:r>
              <a:rPr lang="en-US" sz="1400" b="0" i="0" dirty="0">
                <a:solidFill>
                  <a:srgbClr val="222222"/>
                </a:solidFill>
                <a:effectLst/>
                <a:latin typeface="Arial" panose="020B0604020202020204" pitchFamily="34" charset="0"/>
              </a:rPr>
              <a:t>PDF Layout Improvements: For downloadable PDFs, move alignment philosophy abbreviations (e.g., KA) to the far right for cleaner presentation. </a:t>
            </a:r>
            <a:r>
              <a:rPr lang="en-US" sz="1400" b="0" i="0" dirty="0">
                <a:solidFill>
                  <a:schemeClr val="accent1"/>
                </a:solidFill>
                <a:effectLst/>
                <a:latin typeface="Arial" panose="020B0604020202020204" pitchFamily="34" charset="0"/>
              </a:rPr>
              <a:t>Done. Don’t worry abou</a:t>
            </a:r>
            <a:r>
              <a:rPr lang="en-US" sz="1400" dirty="0">
                <a:solidFill>
                  <a:schemeClr val="accent1"/>
                </a:solidFill>
                <a:latin typeface="Arial" panose="020B0604020202020204" pitchFamily="34" charset="0"/>
              </a:rPr>
              <a:t>t this. You already did it.</a:t>
            </a:r>
            <a:endParaRPr lang="en-US" sz="1400" b="0" i="0" dirty="0">
              <a:solidFill>
                <a:schemeClr val="accent1"/>
              </a:solidFill>
              <a:effectLst/>
              <a:latin typeface="Arial" panose="020B0604020202020204" pitchFamily="34" charset="0"/>
            </a:endParaRPr>
          </a:p>
          <a:p>
            <a:pPr marL="171450" indent="-1714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When creating a new conversation, users currently need to select a “Current Alignment Philosophy.” Could we please add an option for “Unknown” to account for situations where that information isn’t available? </a:t>
            </a:r>
            <a:r>
              <a:rPr lang="en-US" sz="1400" dirty="0">
                <a:solidFill>
                  <a:schemeClr val="accent1"/>
                </a:solidFill>
                <a:latin typeface="Arial" panose="020B0604020202020204" pitchFamily="34" charset="0"/>
                <a:cs typeface="Arial" panose="020B0604020202020204" pitchFamily="34" charset="0"/>
              </a:rPr>
              <a:t>Rob will do.</a:t>
            </a:r>
          </a:p>
          <a:p>
            <a:pPr marL="171450" indent="-1714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We’ll need to update the questions to match those in the attached PowerPoint. The correct scoring is listed in the notes section of each slide. Apologies, I had thought the updated version had already been shared. </a:t>
            </a:r>
            <a:r>
              <a:rPr lang="en-US" sz="1400" dirty="0">
                <a:solidFill>
                  <a:schemeClr val="accent1"/>
                </a:solidFill>
                <a:latin typeface="Arial" panose="020B0604020202020204" pitchFamily="34" charset="0"/>
                <a:cs typeface="Arial" panose="020B0604020202020204" pitchFamily="34" charset="0"/>
              </a:rPr>
              <a:t>James will send final questions. </a:t>
            </a:r>
          </a:p>
          <a:p>
            <a:pPr marL="171450" indent="-1714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Would it be possible for the sales consultant to review all questions and answers at the end of the conversation? This would be helpful for quick reference and reinforcement. </a:t>
            </a:r>
            <a:r>
              <a:rPr lang="en-US" sz="1400" dirty="0">
                <a:solidFill>
                  <a:schemeClr val="accent1"/>
                </a:solidFill>
                <a:latin typeface="Arial" panose="020B0604020202020204" pitchFamily="34" charset="0"/>
                <a:cs typeface="Arial" panose="020B0604020202020204" pitchFamily="34" charset="0"/>
              </a:rPr>
              <a:t>Can they see the questions? After completed, can we review questions? And review it in the pdf? I am not sure where this would go. Is it possible to add the entire conversation in the window that says Edit Notes? The conversation could appear at the top and below is a section to write </a:t>
            </a:r>
            <a:r>
              <a:rPr lang="en-US" sz="1400" dirty="0" err="1">
                <a:solidFill>
                  <a:schemeClr val="accent1"/>
                </a:solidFill>
                <a:latin typeface="Arial" panose="020B0604020202020204" pitchFamily="34" charset="0"/>
                <a:cs typeface="Arial" panose="020B0604020202020204" pitchFamily="34" charset="0"/>
              </a:rPr>
              <a:t>notes?See</a:t>
            </a:r>
            <a:r>
              <a:rPr lang="en-US" sz="1400" dirty="0">
                <a:solidFill>
                  <a:schemeClr val="accent1"/>
                </a:solidFill>
                <a:latin typeface="Arial" panose="020B0604020202020204" pitchFamily="34" charset="0"/>
                <a:cs typeface="Arial" panose="020B0604020202020204" pitchFamily="34" charset="0"/>
              </a:rPr>
              <a:t> page 6.</a:t>
            </a:r>
          </a:p>
          <a:p>
            <a:pPr marL="171450" indent="-1714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Can we add a “Download Conversation” button that would allow the user to export the conversation as a PDF?</a:t>
            </a:r>
            <a:r>
              <a:rPr lang="en-US" sz="1400" dirty="0">
                <a:solidFill>
                  <a:schemeClr val="accent1"/>
                </a:solidFill>
                <a:latin typeface="Arial" panose="020B0604020202020204" pitchFamily="34" charset="0"/>
                <a:cs typeface="Arial" panose="020B0604020202020204" pitchFamily="34" charset="0"/>
              </a:rPr>
              <a:t> </a:t>
            </a:r>
          </a:p>
          <a:p>
            <a:endParaRPr lang="en-US" sz="14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A8B89EF-D93C-277D-931C-CF0E6FE10781}"/>
              </a:ext>
            </a:extLst>
          </p:cNvPr>
          <p:cNvSpPr/>
          <p:nvPr/>
        </p:nvSpPr>
        <p:spPr>
          <a:xfrm>
            <a:off x="-2857500" y="32863"/>
            <a:ext cx="2724150" cy="500667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Notes: I changed items in green on next pages. </a:t>
            </a:r>
          </a:p>
          <a:p>
            <a:endParaRPr lang="en-US" dirty="0">
              <a:solidFill>
                <a:schemeClr val="bg1"/>
              </a:solidFill>
            </a:endParaRPr>
          </a:p>
          <a:p>
            <a:r>
              <a:rPr lang="en-US" dirty="0">
                <a:solidFill>
                  <a:schemeClr val="bg1"/>
                </a:solidFill>
              </a:rPr>
              <a:t> I don’t understand what many of the other changes are. </a:t>
            </a:r>
          </a:p>
          <a:p>
            <a:endParaRPr lang="en-US" dirty="0">
              <a:solidFill>
                <a:schemeClr val="bg1"/>
              </a:solidFill>
            </a:endParaRPr>
          </a:p>
        </p:txBody>
      </p:sp>
      <p:sp>
        <p:nvSpPr>
          <p:cNvPr id="7" name="Rectangle 6">
            <a:extLst>
              <a:ext uri="{FF2B5EF4-FFF2-40B4-BE49-F238E27FC236}">
                <a16:creationId xmlns:a16="http://schemas.microsoft.com/office/drawing/2014/main" id="{51B63F6E-6BCF-42A2-7D0A-70E77EA08A65}"/>
              </a:ext>
            </a:extLst>
          </p:cNvPr>
          <p:cNvSpPr/>
          <p:nvPr/>
        </p:nvSpPr>
        <p:spPr>
          <a:xfrm>
            <a:off x="3924300" y="0"/>
            <a:ext cx="3867150" cy="3290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bg2"/>
                </a:solidFill>
              </a:rPr>
              <a:t>Changes for Pathfinder</a:t>
            </a:r>
          </a:p>
          <a:p>
            <a:pPr algn="ctr"/>
            <a:endParaRPr lang="en-US" dirty="0">
              <a:solidFill>
                <a:schemeClr val="bg2"/>
              </a:solidFill>
            </a:endParaRPr>
          </a:p>
        </p:txBody>
      </p:sp>
    </p:spTree>
    <p:extLst>
      <p:ext uri="{BB962C8B-B14F-4D97-AF65-F5344CB8AC3E}">
        <p14:creationId xmlns:p14="http://schemas.microsoft.com/office/powerpoint/2010/main" val="3411346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DABEB8-FE2F-D252-0A96-E58CBBFF5700}"/>
              </a:ext>
            </a:extLst>
          </p:cNvPr>
          <p:cNvPicPr>
            <a:picLocks noChangeAspect="1"/>
          </p:cNvPicPr>
          <p:nvPr/>
        </p:nvPicPr>
        <p:blipFill>
          <a:blip r:embed="rId3"/>
          <a:srcRect t="-1" b="10796"/>
          <a:stretch>
            <a:fillRect/>
          </a:stretch>
        </p:blipFill>
        <p:spPr>
          <a:xfrm>
            <a:off x="323044" y="32863"/>
            <a:ext cx="11545911" cy="6059018"/>
          </a:xfrm>
          <a:prstGeom prst="rect">
            <a:avLst/>
          </a:prstGeom>
        </p:spPr>
      </p:pic>
      <p:sp>
        <p:nvSpPr>
          <p:cNvPr id="11" name="TextBox 10">
            <a:extLst>
              <a:ext uri="{FF2B5EF4-FFF2-40B4-BE49-F238E27FC236}">
                <a16:creationId xmlns:a16="http://schemas.microsoft.com/office/drawing/2014/main" id="{43C34348-28C9-4788-CB52-D3D2E609C1D8}"/>
              </a:ext>
            </a:extLst>
          </p:cNvPr>
          <p:cNvSpPr txBox="1"/>
          <p:nvPr/>
        </p:nvSpPr>
        <p:spPr>
          <a:xfrm>
            <a:off x="323044" y="18350"/>
            <a:ext cx="8850134" cy="646758"/>
          </a:xfrm>
          <a:prstGeom prst="rect">
            <a:avLst/>
          </a:prstGeom>
          <a:solidFill>
            <a:schemeClr val="accent1"/>
          </a:solidFill>
        </p:spPr>
        <p:txBody>
          <a:bodyPr wrap="square" anchor="ctr">
            <a:noAutofit/>
          </a:bodyPr>
          <a:lstStyle/>
          <a:p>
            <a:r>
              <a:rPr lang="en-US" b="0" i="0" dirty="0">
                <a:solidFill>
                  <a:schemeClr val="bg1"/>
                </a:solidFill>
                <a:effectLst/>
                <a:latin typeface="Johnson Display" panose="00000800000000000000" pitchFamily="50" charset="0"/>
              </a:rPr>
              <a:t>               </a:t>
            </a:r>
            <a:r>
              <a:rPr lang="en-US" sz="2400" b="0" i="0" dirty="0">
                <a:solidFill>
                  <a:schemeClr val="bg1"/>
                </a:solidFill>
                <a:effectLst/>
                <a:latin typeface="Johnson Display" panose="00000800000000000000" pitchFamily="50" charset="0"/>
              </a:rPr>
              <a:t>PATHFINDER Kinematic Restoration Conversation Guide</a:t>
            </a:r>
            <a:endParaRPr lang="en-US" dirty="0">
              <a:solidFill>
                <a:schemeClr val="bg1"/>
              </a:solidFill>
              <a:latin typeface="Johnson Display" panose="00000800000000000000" pitchFamily="50" charset="0"/>
            </a:endParaRPr>
          </a:p>
        </p:txBody>
      </p:sp>
      <p:sp>
        <p:nvSpPr>
          <p:cNvPr id="12" name="Rectangle 11">
            <a:extLst>
              <a:ext uri="{FF2B5EF4-FFF2-40B4-BE49-F238E27FC236}">
                <a16:creationId xmlns:a16="http://schemas.microsoft.com/office/drawing/2014/main" id="{98884CC6-95F6-B75E-2839-BDBBDFB2351C}"/>
              </a:ext>
            </a:extLst>
          </p:cNvPr>
          <p:cNvSpPr/>
          <p:nvPr/>
        </p:nvSpPr>
        <p:spPr>
          <a:xfrm>
            <a:off x="4943907" y="6499465"/>
            <a:ext cx="6992756" cy="178420"/>
          </a:xfrm>
          <a:prstGeom prst="rect">
            <a:avLst/>
          </a:prstGeom>
        </p:spPr>
        <p:txBody>
          <a:bodyPr wrap="none" rIns="0">
            <a:noAutofit/>
          </a:bodyPr>
          <a:lstStyle/>
          <a:p>
            <a:pPr marL="0" marR="0" lvl="0" indent="0" algn="r" defTabSz="511175" rtl="0" eaLnBrk="1" fontAlgn="base" latinLnBrk="0" hangingPunct="1">
              <a:lnSpc>
                <a:spcPct val="100000"/>
              </a:lnSpc>
              <a:spcBef>
                <a:spcPct val="5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Johnson Text"/>
                <a:ea typeface="+mn-ea"/>
                <a:cs typeface="+mn-cs"/>
              </a:rPr>
              <a:t> CONFIDENTIAL. FOR INTERNAL USE ONLY. NOT FOR USE WITH ANY CUSTOER OR FOR EXTERNAL DISTRIBUTION. </a:t>
            </a:r>
          </a:p>
        </p:txBody>
      </p:sp>
      <p:sp>
        <p:nvSpPr>
          <p:cNvPr id="13" name="TextBox 12">
            <a:extLst>
              <a:ext uri="{FF2B5EF4-FFF2-40B4-BE49-F238E27FC236}">
                <a16:creationId xmlns:a16="http://schemas.microsoft.com/office/drawing/2014/main" id="{0AB0547E-E651-D904-7A40-978444CF888C}"/>
              </a:ext>
            </a:extLst>
          </p:cNvPr>
          <p:cNvSpPr txBox="1"/>
          <p:nvPr/>
        </p:nvSpPr>
        <p:spPr>
          <a:xfrm>
            <a:off x="5771158" y="6339016"/>
            <a:ext cx="6222732" cy="215444"/>
          </a:xfrm>
          <a:prstGeom prst="rect">
            <a:avLst/>
          </a:prstGeom>
          <a:noFill/>
        </p:spPr>
        <p:txBody>
          <a:bodyPr wrap="square">
            <a:spAutoFit/>
          </a:bodyPr>
          <a:lstStyle/>
          <a:p>
            <a:pPr algn="r"/>
            <a:r>
              <a:rPr lang="en-US" sz="800" dirty="0">
                <a:solidFill>
                  <a:srgbClr val="1D1C1D"/>
                </a:solidFill>
                <a:latin typeface="Johnson Text" panose="00000500000000000000" pitchFamily="50" charset="0"/>
              </a:rPr>
              <a:t>© Johnson &amp; Johnson and its affiliates. 2024. All rights reserved.</a:t>
            </a:r>
            <a:endParaRPr lang="en-US" sz="1800" dirty="0">
              <a:solidFill>
                <a:prstClr val="black"/>
              </a:solidFill>
              <a:latin typeface="Microsoft Sans Serif" panose="020B0604020202020204" pitchFamily="34" charset="0"/>
            </a:endParaRPr>
          </a:p>
        </p:txBody>
      </p:sp>
      <p:pic>
        <p:nvPicPr>
          <p:cNvPr id="14" name="Picture 13">
            <a:extLst>
              <a:ext uri="{FF2B5EF4-FFF2-40B4-BE49-F238E27FC236}">
                <a16:creationId xmlns:a16="http://schemas.microsoft.com/office/drawing/2014/main" id="{F1F559F9-DD6B-7C80-F4E3-3B63172BEF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676" y="6401321"/>
            <a:ext cx="1172106" cy="146860"/>
          </a:xfrm>
          <a:prstGeom prst="rect">
            <a:avLst/>
          </a:prstGeom>
        </p:spPr>
      </p:pic>
      <p:pic>
        <p:nvPicPr>
          <p:cNvPr id="16" name="Picture 15">
            <a:extLst>
              <a:ext uri="{FF2B5EF4-FFF2-40B4-BE49-F238E27FC236}">
                <a16:creationId xmlns:a16="http://schemas.microsoft.com/office/drawing/2014/main" id="{5D93AEF5-3122-86F6-552F-16A369E16030}"/>
              </a:ext>
            </a:extLst>
          </p:cNvPr>
          <p:cNvPicPr>
            <a:picLocks noChangeAspect="1"/>
          </p:cNvPicPr>
          <p:nvPr/>
        </p:nvPicPr>
        <p:blipFill>
          <a:blip r:embed="rId5">
            <a:extLst>
              <a:ext uri="{28A0092B-C50C-407E-A947-70E740481C1C}">
                <a14:useLocalDpi xmlns:a14="http://schemas.microsoft.com/office/drawing/2010/main" val="0"/>
              </a:ext>
            </a:extLst>
          </a:blip>
          <a:srcRect t="14861" b="14861"/>
          <a:stretch/>
        </p:blipFill>
        <p:spPr>
          <a:xfrm>
            <a:off x="323044" y="679621"/>
            <a:ext cx="11545912" cy="5412260"/>
          </a:xfrm>
          <a:prstGeom prst="rect">
            <a:avLst/>
          </a:prstGeom>
        </p:spPr>
      </p:pic>
      <p:sp>
        <p:nvSpPr>
          <p:cNvPr id="17" name="Rectangle 16">
            <a:extLst>
              <a:ext uri="{FF2B5EF4-FFF2-40B4-BE49-F238E27FC236}">
                <a16:creationId xmlns:a16="http://schemas.microsoft.com/office/drawing/2014/main" id="{F45B7FDC-0BC6-A7EC-0DA5-16ED183CA992}"/>
              </a:ext>
            </a:extLst>
          </p:cNvPr>
          <p:cNvSpPr/>
          <p:nvPr/>
        </p:nvSpPr>
        <p:spPr>
          <a:xfrm>
            <a:off x="3932151" y="739121"/>
            <a:ext cx="3921579" cy="4284264"/>
          </a:xfrm>
          <a:prstGeom prst="rect">
            <a:avLst/>
          </a:prstGeom>
          <a:solidFill>
            <a:schemeClr val="bg1">
              <a:alpha val="5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23295CF-E78C-CAD1-ACCC-907673FFC089}"/>
              </a:ext>
            </a:extLst>
          </p:cNvPr>
          <p:cNvPicPr>
            <a:picLocks noChangeAspect="1"/>
          </p:cNvPicPr>
          <p:nvPr/>
        </p:nvPicPr>
        <p:blipFill>
          <a:blip r:embed="rId6"/>
          <a:stretch>
            <a:fillRect/>
          </a:stretch>
        </p:blipFill>
        <p:spPr>
          <a:xfrm>
            <a:off x="4095953" y="1907755"/>
            <a:ext cx="3572374" cy="2943636"/>
          </a:xfrm>
          <a:prstGeom prst="rect">
            <a:avLst/>
          </a:prstGeom>
        </p:spPr>
      </p:pic>
      <p:sp>
        <p:nvSpPr>
          <p:cNvPr id="8" name="TextBox 7">
            <a:extLst>
              <a:ext uri="{FF2B5EF4-FFF2-40B4-BE49-F238E27FC236}">
                <a16:creationId xmlns:a16="http://schemas.microsoft.com/office/drawing/2014/main" id="{6A0E50C0-DBC4-5640-628F-8E65EFFEA381}"/>
              </a:ext>
            </a:extLst>
          </p:cNvPr>
          <p:cNvSpPr txBox="1"/>
          <p:nvPr/>
        </p:nvSpPr>
        <p:spPr>
          <a:xfrm>
            <a:off x="4095953" y="852048"/>
            <a:ext cx="3572374" cy="954107"/>
          </a:xfrm>
          <a:prstGeom prst="rect">
            <a:avLst/>
          </a:prstGeom>
          <a:noFill/>
        </p:spPr>
        <p:txBody>
          <a:bodyPr wrap="square" rtlCol="0">
            <a:spAutoFit/>
          </a:bodyPr>
          <a:lstStyle/>
          <a:p>
            <a:r>
              <a:rPr lang="en-US" sz="1400" dirty="0">
                <a:latin typeface="Johnson Text" panose="00000500000000000000" pitchFamily="50" charset="0"/>
              </a:rPr>
              <a:t>The Pathfinder Kinematic Restoration Conversation Guide will help you identify your customer’s alignment philosophy in Total Knee Arthroplasty (TKA).</a:t>
            </a:r>
          </a:p>
        </p:txBody>
      </p:sp>
      <p:sp>
        <p:nvSpPr>
          <p:cNvPr id="18" name="Rectangle 17">
            <a:extLst>
              <a:ext uri="{FF2B5EF4-FFF2-40B4-BE49-F238E27FC236}">
                <a16:creationId xmlns:a16="http://schemas.microsoft.com/office/drawing/2014/main" id="{75055723-A35F-2AFC-C662-308A66E59078}"/>
              </a:ext>
            </a:extLst>
          </p:cNvPr>
          <p:cNvSpPr/>
          <p:nvPr/>
        </p:nvSpPr>
        <p:spPr>
          <a:xfrm>
            <a:off x="-2857500" y="32863"/>
            <a:ext cx="2724150" cy="500667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OPTION 1</a:t>
            </a:r>
          </a:p>
          <a:p>
            <a:endParaRPr lang="en-US" dirty="0">
              <a:solidFill>
                <a:schemeClr val="bg1"/>
              </a:solidFill>
            </a:endParaRPr>
          </a:p>
          <a:p>
            <a:r>
              <a:rPr lang="en-US" dirty="0">
                <a:solidFill>
                  <a:schemeClr val="bg1"/>
                </a:solidFill>
              </a:rPr>
              <a:t>Added confidentiality and copyright at bottom.  </a:t>
            </a:r>
          </a:p>
          <a:p>
            <a:endParaRPr lang="en-US" dirty="0">
              <a:solidFill>
                <a:schemeClr val="bg1"/>
              </a:solidFill>
            </a:endParaRPr>
          </a:p>
          <a:p>
            <a:r>
              <a:rPr lang="en-US" dirty="0">
                <a:solidFill>
                  <a:schemeClr val="bg1"/>
                </a:solidFill>
              </a:rPr>
              <a:t>Centered title.</a:t>
            </a:r>
          </a:p>
          <a:p>
            <a:endParaRPr lang="en-US" dirty="0">
              <a:solidFill>
                <a:schemeClr val="bg1"/>
              </a:solidFill>
            </a:endParaRPr>
          </a:p>
          <a:p>
            <a:r>
              <a:rPr lang="en-US" dirty="0">
                <a:solidFill>
                  <a:schemeClr val="bg1"/>
                </a:solidFill>
              </a:rPr>
              <a:t>Added photo behind links but had to move the links so that knee could be seen. </a:t>
            </a:r>
          </a:p>
          <a:p>
            <a:endParaRPr lang="en-US" dirty="0">
              <a:solidFill>
                <a:schemeClr val="bg1"/>
              </a:solidFill>
            </a:endParaRPr>
          </a:p>
          <a:p>
            <a:r>
              <a:rPr lang="en-US" dirty="0">
                <a:solidFill>
                  <a:schemeClr val="bg1"/>
                </a:solidFill>
              </a:rPr>
              <a:t>We could add video and then this appears on top?</a:t>
            </a: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822923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F3D32-192E-8435-3339-F830C312D3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473814-DEAE-1F1A-A812-4F677E2FE2B8}"/>
              </a:ext>
            </a:extLst>
          </p:cNvPr>
          <p:cNvPicPr>
            <a:picLocks noChangeAspect="1"/>
          </p:cNvPicPr>
          <p:nvPr/>
        </p:nvPicPr>
        <p:blipFill>
          <a:blip r:embed="rId3"/>
          <a:srcRect t="-1" b="10796"/>
          <a:stretch>
            <a:fillRect/>
          </a:stretch>
        </p:blipFill>
        <p:spPr>
          <a:xfrm>
            <a:off x="323044" y="32863"/>
            <a:ext cx="11545911" cy="6059018"/>
          </a:xfrm>
          <a:prstGeom prst="rect">
            <a:avLst/>
          </a:prstGeom>
        </p:spPr>
      </p:pic>
      <p:pic>
        <p:nvPicPr>
          <p:cNvPr id="16" name="Picture 15">
            <a:extLst>
              <a:ext uri="{FF2B5EF4-FFF2-40B4-BE49-F238E27FC236}">
                <a16:creationId xmlns:a16="http://schemas.microsoft.com/office/drawing/2014/main" id="{8F595622-1476-7368-F5E5-DF6A5D138D02}"/>
              </a:ext>
            </a:extLst>
          </p:cNvPr>
          <p:cNvPicPr>
            <a:picLocks noChangeAspect="1"/>
          </p:cNvPicPr>
          <p:nvPr/>
        </p:nvPicPr>
        <p:blipFill>
          <a:blip r:embed="rId4">
            <a:alphaModFix/>
            <a:extLst>
              <a:ext uri="{28A0092B-C50C-407E-A947-70E740481C1C}">
                <a14:useLocalDpi xmlns:a14="http://schemas.microsoft.com/office/drawing/2010/main" val="0"/>
              </a:ext>
            </a:extLst>
          </a:blip>
          <a:srcRect t="29309" b="220"/>
          <a:stretch>
            <a:fillRect/>
          </a:stretch>
        </p:blipFill>
        <p:spPr>
          <a:xfrm>
            <a:off x="323044" y="679621"/>
            <a:ext cx="11545912" cy="5412260"/>
          </a:xfrm>
          <a:prstGeom prst="rect">
            <a:avLst/>
          </a:prstGeom>
        </p:spPr>
      </p:pic>
      <p:sp>
        <p:nvSpPr>
          <p:cNvPr id="24" name="Rectangle 23">
            <a:extLst>
              <a:ext uri="{FF2B5EF4-FFF2-40B4-BE49-F238E27FC236}">
                <a16:creationId xmlns:a16="http://schemas.microsoft.com/office/drawing/2014/main" id="{127EA55C-B918-0A33-2E7E-27E77F9DA6EC}"/>
              </a:ext>
            </a:extLst>
          </p:cNvPr>
          <p:cNvSpPr/>
          <p:nvPr/>
        </p:nvSpPr>
        <p:spPr>
          <a:xfrm>
            <a:off x="323045" y="665108"/>
            <a:ext cx="11545910" cy="5426773"/>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8619C545-622E-5256-860F-C6039DD8C091}"/>
              </a:ext>
            </a:extLst>
          </p:cNvPr>
          <p:cNvSpPr/>
          <p:nvPr/>
        </p:nvSpPr>
        <p:spPr>
          <a:xfrm>
            <a:off x="1370940" y="3427656"/>
            <a:ext cx="4652489" cy="2534994"/>
          </a:xfrm>
          <a:prstGeom prst="roundRect">
            <a:avLst>
              <a:gd name="adj" fmla="val 20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B37ED5-3439-A180-AACB-72CC26FEB2D7}"/>
              </a:ext>
            </a:extLst>
          </p:cNvPr>
          <p:cNvSpPr/>
          <p:nvPr/>
        </p:nvSpPr>
        <p:spPr>
          <a:xfrm>
            <a:off x="4943907" y="6499465"/>
            <a:ext cx="6992756" cy="178420"/>
          </a:xfrm>
          <a:prstGeom prst="rect">
            <a:avLst/>
          </a:prstGeom>
        </p:spPr>
        <p:txBody>
          <a:bodyPr wrap="none" rIns="0">
            <a:noAutofit/>
          </a:bodyPr>
          <a:lstStyle/>
          <a:p>
            <a:pPr marL="0" marR="0" lvl="0" indent="0" algn="r" defTabSz="511175" rtl="0" eaLnBrk="1" fontAlgn="base" latinLnBrk="0" hangingPunct="1">
              <a:lnSpc>
                <a:spcPct val="100000"/>
              </a:lnSpc>
              <a:spcBef>
                <a:spcPct val="5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Johnson Text"/>
                <a:ea typeface="+mn-ea"/>
                <a:cs typeface="+mn-cs"/>
              </a:rPr>
              <a:t> CONFIDENTIAL. FOR INTERNAL USE ONLY. NOT FOR USE WITH ANY CUSTOER OR FOR EXTERNAL DISTRIBUTION. </a:t>
            </a:r>
          </a:p>
        </p:txBody>
      </p:sp>
      <p:sp>
        <p:nvSpPr>
          <p:cNvPr id="13" name="TextBox 12">
            <a:extLst>
              <a:ext uri="{FF2B5EF4-FFF2-40B4-BE49-F238E27FC236}">
                <a16:creationId xmlns:a16="http://schemas.microsoft.com/office/drawing/2014/main" id="{D2582E5D-24B1-1736-E4A8-C085B94D077B}"/>
              </a:ext>
            </a:extLst>
          </p:cNvPr>
          <p:cNvSpPr txBox="1"/>
          <p:nvPr/>
        </p:nvSpPr>
        <p:spPr>
          <a:xfrm>
            <a:off x="5771158" y="6339016"/>
            <a:ext cx="6222732" cy="215444"/>
          </a:xfrm>
          <a:prstGeom prst="rect">
            <a:avLst/>
          </a:prstGeom>
          <a:noFill/>
        </p:spPr>
        <p:txBody>
          <a:bodyPr wrap="square">
            <a:spAutoFit/>
          </a:bodyPr>
          <a:lstStyle/>
          <a:p>
            <a:pPr algn="r"/>
            <a:r>
              <a:rPr lang="en-US" sz="800" dirty="0">
                <a:solidFill>
                  <a:srgbClr val="1D1C1D"/>
                </a:solidFill>
                <a:latin typeface="Johnson Text" panose="00000500000000000000" pitchFamily="50" charset="0"/>
              </a:rPr>
              <a:t>© Johnson &amp; Johnson and its affiliates. 2024. All rights reserved.</a:t>
            </a:r>
            <a:endParaRPr lang="en-US" sz="1800" dirty="0">
              <a:solidFill>
                <a:prstClr val="black"/>
              </a:solidFill>
              <a:latin typeface="Microsoft Sans Serif" panose="020B0604020202020204" pitchFamily="34" charset="0"/>
            </a:endParaRPr>
          </a:p>
        </p:txBody>
      </p:sp>
      <p:pic>
        <p:nvPicPr>
          <p:cNvPr id="14" name="Picture 13">
            <a:extLst>
              <a:ext uri="{FF2B5EF4-FFF2-40B4-BE49-F238E27FC236}">
                <a16:creationId xmlns:a16="http://schemas.microsoft.com/office/drawing/2014/main" id="{79576D24-1517-73C0-4BDC-9244F45F58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676" y="6401321"/>
            <a:ext cx="1172106" cy="146860"/>
          </a:xfrm>
          <a:prstGeom prst="rect">
            <a:avLst/>
          </a:prstGeom>
        </p:spPr>
      </p:pic>
      <p:pic>
        <p:nvPicPr>
          <p:cNvPr id="3" name="Picture 2">
            <a:extLst>
              <a:ext uri="{FF2B5EF4-FFF2-40B4-BE49-F238E27FC236}">
                <a16:creationId xmlns:a16="http://schemas.microsoft.com/office/drawing/2014/main" id="{1B76625B-90C9-9BCD-845B-18D5AA615FFB}"/>
              </a:ext>
            </a:extLst>
          </p:cNvPr>
          <p:cNvPicPr>
            <a:picLocks noChangeAspect="1"/>
          </p:cNvPicPr>
          <p:nvPr/>
        </p:nvPicPr>
        <p:blipFill>
          <a:blip r:embed="rId6"/>
          <a:stretch>
            <a:fillRect/>
          </a:stretch>
        </p:blipFill>
        <p:spPr>
          <a:xfrm>
            <a:off x="1370940" y="831040"/>
            <a:ext cx="9450119" cy="1857634"/>
          </a:xfrm>
          <a:prstGeom prst="rect">
            <a:avLst/>
          </a:prstGeom>
        </p:spPr>
      </p:pic>
      <p:pic>
        <p:nvPicPr>
          <p:cNvPr id="10" name="Picture 9">
            <a:extLst>
              <a:ext uri="{FF2B5EF4-FFF2-40B4-BE49-F238E27FC236}">
                <a16:creationId xmlns:a16="http://schemas.microsoft.com/office/drawing/2014/main" id="{BC5A514C-51D6-B32D-208E-A7A4ADF04416}"/>
              </a:ext>
            </a:extLst>
          </p:cNvPr>
          <p:cNvPicPr>
            <a:picLocks noChangeAspect="1"/>
          </p:cNvPicPr>
          <p:nvPr/>
        </p:nvPicPr>
        <p:blipFill>
          <a:blip r:embed="rId7"/>
          <a:stretch>
            <a:fillRect/>
          </a:stretch>
        </p:blipFill>
        <p:spPr>
          <a:xfrm>
            <a:off x="1374570" y="2688674"/>
            <a:ext cx="9450119" cy="476316"/>
          </a:xfrm>
          <a:prstGeom prst="rect">
            <a:avLst/>
          </a:prstGeom>
        </p:spPr>
      </p:pic>
      <p:pic>
        <p:nvPicPr>
          <p:cNvPr id="18" name="Picture 17">
            <a:extLst>
              <a:ext uri="{FF2B5EF4-FFF2-40B4-BE49-F238E27FC236}">
                <a16:creationId xmlns:a16="http://schemas.microsoft.com/office/drawing/2014/main" id="{9785020C-3849-3E5B-9729-B88B15DB3C85}"/>
              </a:ext>
            </a:extLst>
          </p:cNvPr>
          <p:cNvPicPr>
            <a:picLocks noChangeAspect="1"/>
          </p:cNvPicPr>
          <p:nvPr/>
        </p:nvPicPr>
        <p:blipFill>
          <a:blip r:embed="rId8"/>
          <a:stretch>
            <a:fillRect/>
          </a:stretch>
        </p:blipFill>
        <p:spPr>
          <a:xfrm>
            <a:off x="1367310" y="6091881"/>
            <a:ext cx="9431066" cy="4582164"/>
          </a:xfrm>
          <a:prstGeom prst="rect">
            <a:avLst/>
          </a:prstGeom>
        </p:spPr>
      </p:pic>
      <p:sp>
        <p:nvSpPr>
          <p:cNvPr id="21" name="TextBox 20">
            <a:extLst>
              <a:ext uri="{FF2B5EF4-FFF2-40B4-BE49-F238E27FC236}">
                <a16:creationId xmlns:a16="http://schemas.microsoft.com/office/drawing/2014/main" id="{C3D74767-BDF8-C191-1434-14F28EAA6466}"/>
              </a:ext>
            </a:extLst>
          </p:cNvPr>
          <p:cNvSpPr txBox="1"/>
          <p:nvPr/>
        </p:nvSpPr>
        <p:spPr>
          <a:xfrm>
            <a:off x="1539781" y="4017481"/>
            <a:ext cx="4120789" cy="1015663"/>
          </a:xfrm>
          <a:prstGeom prst="rect">
            <a:avLst/>
          </a:prstGeom>
          <a:noFill/>
        </p:spPr>
        <p:txBody>
          <a:bodyPr wrap="square">
            <a:spAutoFit/>
          </a:bodyPr>
          <a:lstStyle/>
          <a:p>
            <a:r>
              <a:rPr lang="en-US" sz="1200" b="0" i="0" dirty="0">
                <a:solidFill>
                  <a:srgbClr val="81766F"/>
                </a:solidFill>
                <a:effectLst/>
                <a:latin typeface="Johnson Text" panose="00000500000000000000" pitchFamily="50" charset="0"/>
              </a:rPr>
              <a:t>Kinematic Alignment (KA) prioritizes restoring the native joint line. The femur is resurfaced first. Next, the tibia is resurfaced. Femoral and tibial resection depths are planned as the implant thickness minus the estimated cartilage and bone wear values.</a:t>
            </a:r>
            <a:endParaRPr lang="en-US" sz="1200" dirty="0"/>
          </a:p>
        </p:txBody>
      </p:sp>
      <p:sp>
        <p:nvSpPr>
          <p:cNvPr id="23" name="Rectangle: Rounded Corners 22">
            <a:extLst>
              <a:ext uri="{FF2B5EF4-FFF2-40B4-BE49-F238E27FC236}">
                <a16:creationId xmlns:a16="http://schemas.microsoft.com/office/drawing/2014/main" id="{3EDB68AF-3B9E-2A35-54F0-E3AF7595E274}"/>
              </a:ext>
            </a:extLst>
          </p:cNvPr>
          <p:cNvSpPr/>
          <p:nvPr/>
        </p:nvSpPr>
        <p:spPr>
          <a:xfrm>
            <a:off x="6168570" y="3427656"/>
            <a:ext cx="4652489" cy="2534994"/>
          </a:xfrm>
          <a:prstGeom prst="roundRect">
            <a:avLst>
              <a:gd name="adj" fmla="val 20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ED9FAB2-A230-BB39-9969-9405D89615F1}"/>
              </a:ext>
            </a:extLst>
          </p:cNvPr>
          <p:cNvSpPr txBox="1"/>
          <p:nvPr/>
        </p:nvSpPr>
        <p:spPr>
          <a:xfrm>
            <a:off x="1539781" y="3595404"/>
            <a:ext cx="4120789" cy="307777"/>
          </a:xfrm>
          <a:prstGeom prst="rect">
            <a:avLst/>
          </a:prstGeom>
          <a:noFill/>
        </p:spPr>
        <p:txBody>
          <a:bodyPr wrap="square">
            <a:spAutoFit/>
          </a:bodyPr>
          <a:lstStyle/>
          <a:p>
            <a:r>
              <a:rPr lang="en-US" sz="1400" b="0" i="0" dirty="0">
                <a:solidFill>
                  <a:srgbClr val="81766F"/>
                </a:solidFill>
                <a:effectLst/>
                <a:latin typeface="Johnson Text" panose="00000500000000000000" pitchFamily="50" charset="0"/>
              </a:rPr>
              <a:t>Your Approach </a:t>
            </a:r>
            <a:r>
              <a:rPr lang="en-US" sz="1400" dirty="0">
                <a:solidFill>
                  <a:srgbClr val="81766F"/>
                </a:solidFill>
                <a:latin typeface="Johnson Text" panose="00000500000000000000" pitchFamily="50" charset="0"/>
              </a:rPr>
              <a:t>S</a:t>
            </a:r>
            <a:r>
              <a:rPr lang="en-US" sz="1400" b="0" i="0" dirty="0">
                <a:solidFill>
                  <a:srgbClr val="81766F"/>
                </a:solidFill>
                <a:effectLst/>
                <a:latin typeface="Johnson Text" panose="00000500000000000000" pitchFamily="50" charset="0"/>
              </a:rPr>
              <a:t>uggests:</a:t>
            </a:r>
            <a:endParaRPr lang="en-US" sz="1400" dirty="0"/>
          </a:p>
        </p:txBody>
      </p:sp>
      <p:sp>
        <p:nvSpPr>
          <p:cNvPr id="26" name="Rectangle 25">
            <a:extLst>
              <a:ext uri="{FF2B5EF4-FFF2-40B4-BE49-F238E27FC236}">
                <a16:creationId xmlns:a16="http://schemas.microsoft.com/office/drawing/2014/main" id="{8BE85F4A-4F0B-15FC-AD5A-BD8E84B81547}"/>
              </a:ext>
            </a:extLst>
          </p:cNvPr>
          <p:cNvSpPr/>
          <p:nvPr/>
        </p:nvSpPr>
        <p:spPr>
          <a:xfrm>
            <a:off x="6168570" y="3427656"/>
            <a:ext cx="4629806" cy="253499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a:t>
            </a:r>
          </a:p>
        </p:txBody>
      </p:sp>
      <p:sp>
        <p:nvSpPr>
          <p:cNvPr id="27" name="Rectangle: Rounded Corners 26">
            <a:extLst>
              <a:ext uri="{FF2B5EF4-FFF2-40B4-BE49-F238E27FC236}">
                <a16:creationId xmlns:a16="http://schemas.microsoft.com/office/drawing/2014/main" id="{6A8C1298-F539-8370-1FDA-7E4BBA1622A6}"/>
              </a:ext>
            </a:extLst>
          </p:cNvPr>
          <p:cNvSpPr/>
          <p:nvPr/>
        </p:nvSpPr>
        <p:spPr>
          <a:xfrm>
            <a:off x="1615982" y="5230727"/>
            <a:ext cx="2524218" cy="42207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Johnson Text" panose="00000500000000000000" pitchFamily="50" charset="0"/>
              </a:rPr>
              <a:t>KINEMATIC ALIGNMENT</a:t>
            </a:r>
          </a:p>
        </p:txBody>
      </p:sp>
      <p:sp>
        <p:nvSpPr>
          <p:cNvPr id="28" name="Rectangle: Rounded Corners 27">
            <a:extLst>
              <a:ext uri="{FF2B5EF4-FFF2-40B4-BE49-F238E27FC236}">
                <a16:creationId xmlns:a16="http://schemas.microsoft.com/office/drawing/2014/main" id="{F19D1971-775A-9C4F-4342-2F7DE8D179D8}"/>
              </a:ext>
            </a:extLst>
          </p:cNvPr>
          <p:cNvSpPr/>
          <p:nvPr/>
        </p:nvSpPr>
        <p:spPr>
          <a:xfrm>
            <a:off x="7572282" y="6805527"/>
            <a:ext cx="797018" cy="422077"/>
          </a:xfrm>
          <a:prstGeom prst="roundRect">
            <a:avLst/>
          </a:prstGeom>
          <a:solidFill>
            <a:srgbClr val="9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8FA612C4-AF15-D68D-713A-AB7D866A5C9F}"/>
              </a:ext>
            </a:extLst>
          </p:cNvPr>
          <p:cNvSpPr/>
          <p:nvPr/>
        </p:nvSpPr>
        <p:spPr>
          <a:xfrm>
            <a:off x="9870982" y="6805527"/>
            <a:ext cx="797018" cy="422077"/>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C32A7953-1BD5-82A2-844C-0B84BA5B134F}"/>
              </a:ext>
            </a:extLst>
          </p:cNvPr>
          <p:cNvSpPr/>
          <p:nvPr/>
        </p:nvSpPr>
        <p:spPr>
          <a:xfrm>
            <a:off x="7572282" y="7885027"/>
            <a:ext cx="797018" cy="4220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Rounded Corners 30">
            <a:extLst>
              <a:ext uri="{FF2B5EF4-FFF2-40B4-BE49-F238E27FC236}">
                <a16:creationId xmlns:a16="http://schemas.microsoft.com/office/drawing/2014/main" id="{7AB3961D-22AC-2449-A3BB-7169EAE837D6}"/>
              </a:ext>
            </a:extLst>
          </p:cNvPr>
          <p:cNvSpPr/>
          <p:nvPr/>
        </p:nvSpPr>
        <p:spPr>
          <a:xfrm>
            <a:off x="9870982" y="7885027"/>
            <a:ext cx="797018" cy="422077"/>
          </a:xfrm>
          <a:prstGeom prst="roundRect">
            <a:avLst/>
          </a:prstGeom>
          <a:solidFill>
            <a:srgbClr val="6E62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Rounded Corners 32">
            <a:extLst>
              <a:ext uri="{FF2B5EF4-FFF2-40B4-BE49-F238E27FC236}">
                <a16:creationId xmlns:a16="http://schemas.microsoft.com/office/drawing/2014/main" id="{AB40CCED-3C52-8D9D-410F-0F888E2D1547}"/>
              </a:ext>
            </a:extLst>
          </p:cNvPr>
          <p:cNvSpPr/>
          <p:nvPr/>
        </p:nvSpPr>
        <p:spPr>
          <a:xfrm>
            <a:off x="1363680" y="2688674"/>
            <a:ext cx="9457379" cy="600626"/>
          </a:xfrm>
          <a:prstGeom prst="roundRect">
            <a:avLst>
              <a:gd name="adj" fmla="val 760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B318084D-5937-E429-BEFB-A21D21C7D249}"/>
              </a:ext>
            </a:extLst>
          </p:cNvPr>
          <p:cNvSpPr/>
          <p:nvPr/>
        </p:nvSpPr>
        <p:spPr>
          <a:xfrm>
            <a:off x="1590581" y="2675974"/>
            <a:ext cx="9077419" cy="476316"/>
          </a:xfrm>
          <a:prstGeom prst="roundRect">
            <a:avLst>
              <a:gd name="adj" fmla="val 15998"/>
            </a:avLst>
          </a:prstGeom>
          <a:solidFill>
            <a:srgbClr val="38A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Johnson Text" panose="00000500000000000000" pitchFamily="50" charset="0"/>
              </a:rPr>
              <a:t>Assessment completed! Your recommended alignment philosophy has been determined.</a:t>
            </a:r>
          </a:p>
        </p:txBody>
      </p:sp>
      <p:pic>
        <p:nvPicPr>
          <p:cNvPr id="35" name="Graphic 34" descr="Checkmark with solid fill">
            <a:extLst>
              <a:ext uri="{FF2B5EF4-FFF2-40B4-BE49-F238E27FC236}">
                <a16:creationId xmlns:a16="http://schemas.microsoft.com/office/drawing/2014/main" id="{0C3ACF63-1684-1F41-6171-8E0EF051427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05000" y="2831064"/>
            <a:ext cx="203200" cy="203200"/>
          </a:xfrm>
          <a:prstGeom prst="rect">
            <a:avLst/>
          </a:prstGeom>
        </p:spPr>
      </p:pic>
      <p:sp>
        <p:nvSpPr>
          <p:cNvPr id="36" name="Rectangle 35">
            <a:extLst>
              <a:ext uri="{FF2B5EF4-FFF2-40B4-BE49-F238E27FC236}">
                <a16:creationId xmlns:a16="http://schemas.microsoft.com/office/drawing/2014/main" id="{9AFF74C6-8BD7-B5CD-8249-B2D77A4A8B76}"/>
              </a:ext>
            </a:extLst>
          </p:cNvPr>
          <p:cNvSpPr/>
          <p:nvPr/>
        </p:nvSpPr>
        <p:spPr>
          <a:xfrm>
            <a:off x="-2857500" y="32863"/>
            <a:ext cx="2724150" cy="5006679"/>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OPTION 1 – page 2</a:t>
            </a:r>
          </a:p>
          <a:p>
            <a:endParaRPr lang="en-US" dirty="0">
              <a:solidFill>
                <a:schemeClr val="bg1"/>
              </a:solidFill>
            </a:endParaRPr>
          </a:p>
          <a:p>
            <a:r>
              <a:rPr lang="en-US" dirty="0">
                <a:solidFill>
                  <a:schemeClr val="bg1"/>
                </a:solidFill>
              </a:rPr>
              <a:t>Left photo behind. </a:t>
            </a:r>
          </a:p>
          <a:p>
            <a:endParaRPr lang="en-US" dirty="0">
              <a:solidFill>
                <a:schemeClr val="bg1"/>
              </a:solidFill>
            </a:endParaRPr>
          </a:p>
          <a:p>
            <a:r>
              <a:rPr lang="en-US" dirty="0">
                <a:solidFill>
                  <a:schemeClr val="bg1"/>
                </a:solidFill>
              </a:rPr>
              <a:t>Moved completion feedback up and changed color to green. </a:t>
            </a:r>
          </a:p>
          <a:p>
            <a:endParaRPr lang="en-US" dirty="0">
              <a:solidFill>
                <a:schemeClr val="bg1"/>
              </a:solidFill>
            </a:endParaRPr>
          </a:p>
          <a:p>
            <a:r>
              <a:rPr lang="en-US" dirty="0">
                <a:solidFill>
                  <a:schemeClr val="bg1"/>
                </a:solidFill>
              </a:rPr>
              <a:t>Moved Approach text to left and added image placeholder. Henry is creating images. </a:t>
            </a:r>
          </a:p>
          <a:p>
            <a:endParaRPr lang="en-US" dirty="0">
              <a:solidFill>
                <a:schemeClr val="bg1"/>
              </a:solidFill>
            </a:endParaRPr>
          </a:p>
          <a:p>
            <a:r>
              <a:rPr lang="en-US" dirty="0">
                <a:solidFill>
                  <a:schemeClr val="bg1"/>
                </a:solidFill>
              </a:rPr>
              <a:t>Changed colors in lower right.</a:t>
            </a:r>
          </a:p>
          <a:p>
            <a:endParaRPr lang="en-US" dirty="0">
              <a:solidFill>
                <a:schemeClr val="bg1"/>
              </a:solidFill>
            </a:endParaRPr>
          </a:p>
        </p:txBody>
      </p:sp>
      <p:sp>
        <p:nvSpPr>
          <p:cNvPr id="37" name="TextBox 36">
            <a:extLst>
              <a:ext uri="{FF2B5EF4-FFF2-40B4-BE49-F238E27FC236}">
                <a16:creationId xmlns:a16="http://schemas.microsoft.com/office/drawing/2014/main" id="{2904C393-E0FE-C993-F88F-DFEA1E85A2CA}"/>
              </a:ext>
            </a:extLst>
          </p:cNvPr>
          <p:cNvSpPr txBox="1"/>
          <p:nvPr/>
        </p:nvSpPr>
        <p:spPr>
          <a:xfrm>
            <a:off x="323044" y="18350"/>
            <a:ext cx="8850134" cy="646758"/>
          </a:xfrm>
          <a:prstGeom prst="rect">
            <a:avLst/>
          </a:prstGeom>
          <a:solidFill>
            <a:schemeClr val="accent1"/>
          </a:solidFill>
        </p:spPr>
        <p:txBody>
          <a:bodyPr wrap="square" anchor="ctr">
            <a:noAutofit/>
          </a:bodyPr>
          <a:lstStyle/>
          <a:p>
            <a:r>
              <a:rPr lang="en-US" b="0" i="0" dirty="0">
                <a:solidFill>
                  <a:schemeClr val="bg1"/>
                </a:solidFill>
                <a:effectLst/>
                <a:latin typeface="Johnson Display" panose="00000800000000000000" pitchFamily="50" charset="0"/>
              </a:rPr>
              <a:t>               </a:t>
            </a:r>
            <a:r>
              <a:rPr lang="en-US" sz="2400" b="0" i="0" dirty="0">
                <a:solidFill>
                  <a:schemeClr val="bg1"/>
                </a:solidFill>
                <a:effectLst/>
                <a:latin typeface="Johnson Display" panose="00000800000000000000" pitchFamily="50" charset="0"/>
              </a:rPr>
              <a:t>PATHFINDER Kinematic Restoration Conversation Guide</a:t>
            </a:r>
            <a:endParaRPr lang="en-US" dirty="0">
              <a:solidFill>
                <a:schemeClr val="bg1"/>
              </a:solidFill>
              <a:latin typeface="Johnson Display" panose="00000800000000000000" pitchFamily="50" charset="0"/>
            </a:endParaRPr>
          </a:p>
        </p:txBody>
      </p:sp>
    </p:spTree>
    <p:extLst>
      <p:ext uri="{BB962C8B-B14F-4D97-AF65-F5344CB8AC3E}">
        <p14:creationId xmlns:p14="http://schemas.microsoft.com/office/powerpoint/2010/main" val="2066713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39B3793-B49E-1E3E-1878-A5AE60678C64}"/>
              </a:ext>
            </a:extLst>
          </p:cNvPr>
          <p:cNvSpPr/>
          <p:nvPr/>
        </p:nvSpPr>
        <p:spPr>
          <a:xfrm>
            <a:off x="2936491" y="163789"/>
            <a:ext cx="5506218" cy="6861125"/>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987C02-506C-CC6C-ABBC-E0EC1542CC46}"/>
              </a:ext>
            </a:extLst>
          </p:cNvPr>
          <p:cNvSpPr/>
          <p:nvPr/>
        </p:nvSpPr>
        <p:spPr>
          <a:xfrm>
            <a:off x="3091543" y="2688266"/>
            <a:ext cx="5036457" cy="519391"/>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831C4F5-BB30-7CF0-2623-F0D1E20AD496}"/>
              </a:ext>
            </a:extLst>
          </p:cNvPr>
          <p:cNvSpPr/>
          <p:nvPr/>
        </p:nvSpPr>
        <p:spPr>
          <a:xfrm>
            <a:off x="5675088" y="2731808"/>
            <a:ext cx="1872341" cy="39188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Johnson Text" panose="00000500000000000000" pitchFamily="50" charset="0"/>
              </a:rPr>
              <a:t>Load Conversation</a:t>
            </a:r>
          </a:p>
        </p:txBody>
      </p:sp>
      <p:sp>
        <p:nvSpPr>
          <p:cNvPr id="17" name="Rectangle 16">
            <a:extLst>
              <a:ext uri="{FF2B5EF4-FFF2-40B4-BE49-F238E27FC236}">
                <a16:creationId xmlns:a16="http://schemas.microsoft.com/office/drawing/2014/main" id="{59848FCF-D227-AB7B-E71C-2BEA900C88E1}"/>
              </a:ext>
            </a:extLst>
          </p:cNvPr>
          <p:cNvSpPr/>
          <p:nvPr/>
        </p:nvSpPr>
        <p:spPr>
          <a:xfrm>
            <a:off x="3091543" y="6338609"/>
            <a:ext cx="5036457" cy="519391"/>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756818C0-74D7-F1DB-AB41-A7F671969611}"/>
              </a:ext>
            </a:extLst>
          </p:cNvPr>
          <p:cNvSpPr/>
          <p:nvPr/>
        </p:nvSpPr>
        <p:spPr>
          <a:xfrm>
            <a:off x="5675088" y="6396665"/>
            <a:ext cx="1872341" cy="39188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Johnson Text" panose="00000500000000000000" pitchFamily="50" charset="0"/>
              </a:rPr>
              <a:t>Load Conversation</a:t>
            </a:r>
          </a:p>
        </p:txBody>
      </p:sp>
      <p:pic>
        <p:nvPicPr>
          <p:cNvPr id="8" name="Picture 7">
            <a:extLst>
              <a:ext uri="{FF2B5EF4-FFF2-40B4-BE49-F238E27FC236}">
                <a16:creationId xmlns:a16="http://schemas.microsoft.com/office/drawing/2014/main" id="{4DCF7F56-E66D-24AE-5B82-FEDB14579C13}"/>
              </a:ext>
            </a:extLst>
          </p:cNvPr>
          <p:cNvPicPr>
            <a:picLocks noChangeAspect="1"/>
          </p:cNvPicPr>
          <p:nvPr/>
        </p:nvPicPr>
        <p:blipFill>
          <a:blip r:embed="rId2"/>
          <a:stretch>
            <a:fillRect/>
          </a:stretch>
        </p:blipFill>
        <p:spPr>
          <a:xfrm>
            <a:off x="2936491" y="178303"/>
            <a:ext cx="5506218" cy="2524477"/>
          </a:xfrm>
          <a:prstGeom prst="rect">
            <a:avLst/>
          </a:prstGeom>
        </p:spPr>
      </p:pic>
      <p:pic>
        <p:nvPicPr>
          <p:cNvPr id="14" name="Picture 13">
            <a:extLst>
              <a:ext uri="{FF2B5EF4-FFF2-40B4-BE49-F238E27FC236}">
                <a16:creationId xmlns:a16="http://schemas.microsoft.com/office/drawing/2014/main" id="{EF9CD8B2-A5E9-B33E-7BD4-82CB732AF558}"/>
              </a:ext>
            </a:extLst>
          </p:cNvPr>
          <p:cNvPicPr>
            <a:picLocks noChangeAspect="1"/>
          </p:cNvPicPr>
          <p:nvPr/>
        </p:nvPicPr>
        <p:blipFill>
          <a:blip r:embed="rId3"/>
          <a:srcRect b="2753"/>
          <a:stretch>
            <a:fillRect/>
          </a:stretch>
        </p:blipFill>
        <p:spPr>
          <a:xfrm>
            <a:off x="3004459" y="3355924"/>
            <a:ext cx="5438250" cy="3017520"/>
          </a:xfrm>
          <a:prstGeom prst="rect">
            <a:avLst/>
          </a:prstGeom>
        </p:spPr>
      </p:pic>
      <p:sp>
        <p:nvSpPr>
          <p:cNvPr id="12" name="Rectangle: Rounded Corners 11">
            <a:extLst>
              <a:ext uri="{FF2B5EF4-FFF2-40B4-BE49-F238E27FC236}">
                <a16:creationId xmlns:a16="http://schemas.microsoft.com/office/drawing/2014/main" id="{002B1171-A317-9984-22A7-7E9237E661B2}"/>
              </a:ext>
            </a:extLst>
          </p:cNvPr>
          <p:cNvSpPr/>
          <p:nvPr/>
        </p:nvSpPr>
        <p:spPr>
          <a:xfrm>
            <a:off x="3788229" y="6387958"/>
            <a:ext cx="1741410" cy="39188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Johnson Text" panose="00000500000000000000" pitchFamily="50" charset="0"/>
              </a:rPr>
              <a:t>Edit Conversation</a:t>
            </a:r>
          </a:p>
        </p:txBody>
      </p:sp>
    </p:spTree>
    <p:extLst>
      <p:ext uri="{BB962C8B-B14F-4D97-AF65-F5344CB8AC3E}">
        <p14:creationId xmlns:p14="http://schemas.microsoft.com/office/powerpoint/2010/main" val="1979244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59930-6521-E669-5AED-9A86ADF4A52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D17C76-09B8-DA45-4A54-1A16FE0E2483}"/>
              </a:ext>
            </a:extLst>
          </p:cNvPr>
          <p:cNvPicPr>
            <a:picLocks noChangeAspect="1"/>
          </p:cNvPicPr>
          <p:nvPr/>
        </p:nvPicPr>
        <p:blipFill>
          <a:blip r:embed="rId2"/>
          <a:stretch>
            <a:fillRect/>
          </a:stretch>
        </p:blipFill>
        <p:spPr>
          <a:xfrm>
            <a:off x="3352417" y="351995"/>
            <a:ext cx="5487166" cy="6154009"/>
          </a:xfrm>
          <a:prstGeom prst="rect">
            <a:avLst/>
          </a:prstGeom>
        </p:spPr>
      </p:pic>
      <p:pic>
        <p:nvPicPr>
          <p:cNvPr id="6" name="Picture 5">
            <a:extLst>
              <a:ext uri="{FF2B5EF4-FFF2-40B4-BE49-F238E27FC236}">
                <a16:creationId xmlns:a16="http://schemas.microsoft.com/office/drawing/2014/main" id="{F1A6693C-1185-ACC6-7582-351C82DC3936}"/>
              </a:ext>
            </a:extLst>
          </p:cNvPr>
          <p:cNvPicPr>
            <a:picLocks noChangeAspect="1"/>
          </p:cNvPicPr>
          <p:nvPr/>
        </p:nvPicPr>
        <p:blipFill>
          <a:blip r:embed="rId3"/>
          <a:stretch>
            <a:fillRect/>
          </a:stretch>
        </p:blipFill>
        <p:spPr>
          <a:xfrm>
            <a:off x="7717918" y="1810186"/>
            <a:ext cx="762106" cy="247685"/>
          </a:xfrm>
          <a:prstGeom prst="rect">
            <a:avLst/>
          </a:prstGeom>
        </p:spPr>
      </p:pic>
      <p:sp>
        <p:nvSpPr>
          <p:cNvPr id="7" name="Rectangle 6">
            <a:extLst>
              <a:ext uri="{FF2B5EF4-FFF2-40B4-BE49-F238E27FC236}">
                <a16:creationId xmlns:a16="http://schemas.microsoft.com/office/drawing/2014/main" id="{FD1A76D2-FA5A-8487-B7D9-3C1ED210BF11}"/>
              </a:ext>
            </a:extLst>
          </p:cNvPr>
          <p:cNvSpPr/>
          <p:nvPr/>
        </p:nvSpPr>
        <p:spPr>
          <a:xfrm>
            <a:off x="3585029" y="2177143"/>
            <a:ext cx="899885" cy="24674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6A373921-B83A-13AB-CDB2-5CB16DAB87F0}"/>
              </a:ext>
            </a:extLst>
          </p:cNvPr>
          <p:cNvSpPr/>
          <p:nvPr/>
        </p:nvSpPr>
        <p:spPr>
          <a:xfrm flipH="1">
            <a:off x="8577944" y="1649894"/>
            <a:ext cx="783771" cy="583729"/>
          </a:xfrm>
          <a:prstGeom prst="rightArrow">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011D691-7A1A-7E7A-7550-5C0E0AE158CC}"/>
              </a:ext>
            </a:extLst>
          </p:cNvPr>
          <p:cNvSpPr/>
          <p:nvPr/>
        </p:nvSpPr>
        <p:spPr>
          <a:xfrm>
            <a:off x="9085943" y="1384064"/>
            <a:ext cx="2724150" cy="1586157"/>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bg1"/>
                </a:solidFill>
              </a:rPr>
              <a:t>Move light blue text to the upper right of each definition. </a:t>
            </a:r>
          </a:p>
          <a:p>
            <a:endParaRPr lang="en-US" dirty="0">
              <a:solidFill>
                <a:schemeClr val="bg1"/>
              </a:solidFill>
            </a:endParaRPr>
          </a:p>
        </p:txBody>
      </p:sp>
    </p:spTree>
    <p:extLst>
      <p:ext uri="{BB962C8B-B14F-4D97-AF65-F5344CB8AC3E}">
        <p14:creationId xmlns:p14="http://schemas.microsoft.com/office/powerpoint/2010/main" val="813106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03D52-656F-DB5E-5781-79DB9BD5C4B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B8E2D88-5BFF-DE1A-3739-333DE3ED5AED}"/>
              </a:ext>
            </a:extLst>
          </p:cNvPr>
          <p:cNvPicPr>
            <a:picLocks noChangeAspect="1"/>
          </p:cNvPicPr>
          <p:nvPr/>
        </p:nvPicPr>
        <p:blipFill>
          <a:blip r:embed="rId3"/>
          <a:srcRect t="-1" b="10796"/>
          <a:stretch>
            <a:fillRect/>
          </a:stretch>
        </p:blipFill>
        <p:spPr>
          <a:xfrm>
            <a:off x="323044" y="32863"/>
            <a:ext cx="11545911" cy="6059018"/>
          </a:xfrm>
          <a:prstGeom prst="rect">
            <a:avLst/>
          </a:prstGeom>
        </p:spPr>
      </p:pic>
      <p:pic>
        <p:nvPicPr>
          <p:cNvPr id="16" name="Picture 15">
            <a:extLst>
              <a:ext uri="{FF2B5EF4-FFF2-40B4-BE49-F238E27FC236}">
                <a16:creationId xmlns:a16="http://schemas.microsoft.com/office/drawing/2014/main" id="{7DC4F064-3CBB-335F-A9DD-36674DD1613E}"/>
              </a:ext>
            </a:extLst>
          </p:cNvPr>
          <p:cNvPicPr>
            <a:picLocks noChangeAspect="1"/>
          </p:cNvPicPr>
          <p:nvPr/>
        </p:nvPicPr>
        <p:blipFill>
          <a:blip r:embed="rId4">
            <a:alphaModFix/>
            <a:extLst>
              <a:ext uri="{28A0092B-C50C-407E-A947-70E740481C1C}">
                <a14:useLocalDpi xmlns:a14="http://schemas.microsoft.com/office/drawing/2010/main" val="0"/>
              </a:ext>
            </a:extLst>
          </a:blip>
          <a:srcRect t="29309" b="220"/>
          <a:stretch>
            <a:fillRect/>
          </a:stretch>
        </p:blipFill>
        <p:spPr>
          <a:xfrm>
            <a:off x="323044" y="679621"/>
            <a:ext cx="11545912" cy="5412260"/>
          </a:xfrm>
          <a:prstGeom prst="rect">
            <a:avLst/>
          </a:prstGeom>
        </p:spPr>
      </p:pic>
      <p:sp>
        <p:nvSpPr>
          <p:cNvPr id="24" name="Rectangle 23">
            <a:extLst>
              <a:ext uri="{FF2B5EF4-FFF2-40B4-BE49-F238E27FC236}">
                <a16:creationId xmlns:a16="http://schemas.microsoft.com/office/drawing/2014/main" id="{588658EE-303A-435D-5BB0-813BFB7B0620}"/>
              </a:ext>
            </a:extLst>
          </p:cNvPr>
          <p:cNvSpPr/>
          <p:nvPr/>
        </p:nvSpPr>
        <p:spPr>
          <a:xfrm>
            <a:off x="323045" y="665108"/>
            <a:ext cx="11545910" cy="5426773"/>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294BFACB-2B21-01D9-C2CE-9ABE0C5B421F}"/>
              </a:ext>
            </a:extLst>
          </p:cNvPr>
          <p:cNvSpPr/>
          <p:nvPr/>
        </p:nvSpPr>
        <p:spPr>
          <a:xfrm>
            <a:off x="1370940" y="3427656"/>
            <a:ext cx="4652489" cy="2534994"/>
          </a:xfrm>
          <a:prstGeom prst="roundRect">
            <a:avLst>
              <a:gd name="adj" fmla="val 20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8D70FD-03C2-40AB-03D6-C7AF6B0FCD55}"/>
              </a:ext>
            </a:extLst>
          </p:cNvPr>
          <p:cNvSpPr/>
          <p:nvPr/>
        </p:nvSpPr>
        <p:spPr>
          <a:xfrm>
            <a:off x="4943907" y="6499465"/>
            <a:ext cx="6992756" cy="178420"/>
          </a:xfrm>
          <a:prstGeom prst="rect">
            <a:avLst/>
          </a:prstGeom>
        </p:spPr>
        <p:txBody>
          <a:bodyPr wrap="none" rIns="0">
            <a:noAutofit/>
          </a:bodyPr>
          <a:lstStyle/>
          <a:p>
            <a:pPr marL="0" marR="0" lvl="0" indent="0" algn="r" defTabSz="511175" rtl="0" eaLnBrk="1" fontAlgn="base" latinLnBrk="0" hangingPunct="1">
              <a:lnSpc>
                <a:spcPct val="100000"/>
              </a:lnSpc>
              <a:spcBef>
                <a:spcPct val="5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Johnson Text"/>
                <a:ea typeface="+mn-ea"/>
                <a:cs typeface="+mn-cs"/>
              </a:rPr>
              <a:t> CONFIDENTIAL. FOR INTERNAL USE ONLY. NOT FOR USE WITH ANY CUSTOER OR FOR EXTERNAL DISTRIBUTION. </a:t>
            </a:r>
          </a:p>
        </p:txBody>
      </p:sp>
      <p:sp>
        <p:nvSpPr>
          <p:cNvPr id="13" name="TextBox 12">
            <a:extLst>
              <a:ext uri="{FF2B5EF4-FFF2-40B4-BE49-F238E27FC236}">
                <a16:creationId xmlns:a16="http://schemas.microsoft.com/office/drawing/2014/main" id="{3615748A-F900-2931-499D-30970B7EC26E}"/>
              </a:ext>
            </a:extLst>
          </p:cNvPr>
          <p:cNvSpPr txBox="1"/>
          <p:nvPr/>
        </p:nvSpPr>
        <p:spPr>
          <a:xfrm>
            <a:off x="5771158" y="6339016"/>
            <a:ext cx="6222732" cy="215444"/>
          </a:xfrm>
          <a:prstGeom prst="rect">
            <a:avLst/>
          </a:prstGeom>
          <a:noFill/>
        </p:spPr>
        <p:txBody>
          <a:bodyPr wrap="square">
            <a:spAutoFit/>
          </a:bodyPr>
          <a:lstStyle/>
          <a:p>
            <a:pPr algn="r"/>
            <a:r>
              <a:rPr lang="en-US" sz="800" dirty="0">
                <a:solidFill>
                  <a:srgbClr val="1D1C1D"/>
                </a:solidFill>
                <a:latin typeface="Johnson Text" panose="00000500000000000000" pitchFamily="50" charset="0"/>
              </a:rPr>
              <a:t>© Johnson &amp; Johnson and its affiliates. 2024. All rights reserved.</a:t>
            </a:r>
            <a:endParaRPr lang="en-US" sz="1800" dirty="0">
              <a:solidFill>
                <a:prstClr val="black"/>
              </a:solidFill>
              <a:latin typeface="Microsoft Sans Serif" panose="020B0604020202020204" pitchFamily="34" charset="0"/>
            </a:endParaRPr>
          </a:p>
        </p:txBody>
      </p:sp>
      <p:pic>
        <p:nvPicPr>
          <p:cNvPr id="14" name="Picture 13">
            <a:extLst>
              <a:ext uri="{FF2B5EF4-FFF2-40B4-BE49-F238E27FC236}">
                <a16:creationId xmlns:a16="http://schemas.microsoft.com/office/drawing/2014/main" id="{AA5C251C-0DA1-2964-DD9F-BD30F05D72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676" y="6401321"/>
            <a:ext cx="1172106" cy="146860"/>
          </a:xfrm>
          <a:prstGeom prst="rect">
            <a:avLst/>
          </a:prstGeom>
        </p:spPr>
      </p:pic>
      <p:pic>
        <p:nvPicPr>
          <p:cNvPr id="3" name="Picture 2">
            <a:extLst>
              <a:ext uri="{FF2B5EF4-FFF2-40B4-BE49-F238E27FC236}">
                <a16:creationId xmlns:a16="http://schemas.microsoft.com/office/drawing/2014/main" id="{DF96E15E-6E56-3664-3B9E-0E6BDD9A705B}"/>
              </a:ext>
            </a:extLst>
          </p:cNvPr>
          <p:cNvPicPr>
            <a:picLocks noChangeAspect="1"/>
          </p:cNvPicPr>
          <p:nvPr/>
        </p:nvPicPr>
        <p:blipFill>
          <a:blip r:embed="rId6"/>
          <a:stretch>
            <a:fillRect/>
          </a:stretch>
        </p:blipFill>
        <p:spPr>
          <a:xfrm>
            <a:off x="1370940" y="831040"/>
            <a:ext cx="9450119" cy="1857634"/>
          </a:xfrm>
          <a:prstGeom prst="rect">
            <a:avLst/>
          </a:prstGeom>
        </p:spPr>
      </p:pic>
      <p:pic>
        <p:nvPicPr>
          <p:cNvPr id="10" name="Picture 9">
            <a:extLst>
              <a:ext uri="{FF2B5EF4-FFF2-40B4-BE49-F238E27FC236}">
                <a16:creationId xmlns:a16="http://schemas.microsoft.com/office/drawing/2014/main" id="{55E8F4C9-43C6-03E9-C9B1-892B8C6FA144}"/>
              </a:ext>
            </a:extLst>
          </p:cNvPr>
          <p:cNvPicPr>
            <a:picLocks noChangeAspect="1"/>
          </p:cNvPicPr>
          <p:nvPr/>
        </p:nvPicPr>
        <p:blipFill>
          <a:blip r:embed="rId7"/>
          <a:stretch>
            <a:fillRect/>
          </a:stretch>
        </p:blipFill>
        <p:spPr>
          <a:xfrm>
            <a:off x="1374570" y="2688674"/>
            <a:ext cx="9450119" cy="476316"/>
          </a:xfrm>
          <a:prstGeom prst="rect">
            <a:avLst/>
          </a:prstGeom>
        </p:spPr>
      </p:pic>
      <p:pic>
        <p:nvPicPr>
          <p:cNvPr id="18" name="Picture 17">
            <a:extLst>
              <a:ext uri="{FF2B5EF4-FFF2-40B4-BE49-F238E27FC236}">
                <a16:creationId xmlns:a16="http://schemas.microsoft.com/office/drawing/2014/main" id="{319B6F26-B090-5D6E-1C43-83C03BB0D31E}"/>
              </a:ext>
            </a:extLst>
          </p:cNvPr>
          <p:cNvPicPr>
            <a:picLocks noChangeAspect="1"/>
          </p:cNvPicPr>
          <p:nvPr/>
        </p:nvPicPr>
        <p:blipFill>
          <a:blip r:embed="rId8"/>
          <a:stretch>
            <a:fillRect/>
          </a:stretch>
        </p:blipFill>
        <p:spPr>
          <a:xfrm>
            <a:off x="1367310" y="6091881"/>
            <a:ext cx="9431066" cy="4582164"/>
          </a:xfrm>
          <a:prstGeom prst="rect">
            <a:avLst/>
          </a:prstGeom>
        </p:spPr>
      </p:pic>
      <p:sp>
        <p:nvSpPr>
          <p:cNvPr id="21" name="TextBox 20">
            <a:extLst>
              <a:ext uri="{FF2B5EF4-FFF2-40B4-BE49-F238E27FC236}">
                <a16:creationId xmlns:a16="http://schemas.microsoft.com/office/drawing/2014/main" id="{D81C2ED4-3DD6-4C4C-63C8-5062EBC3CC00}"/>
              </a:ext>
            </a:extLst>
          </p:cNvPr>
          <p:cNvSpPr txBox="1"/>
          <p:nvPr/>
        </p:nvSpPr>
        <p:spPr>
          <a:xfrm>
            <a:off x="1539781" y="4017481"/>
            <a:ext cx="4120789" cy="1015663"/>
          </a:xfrm>
          <a:prstGeom prst="rect">
            <a:avLst/>
          </a:prstGeom>
          <a:noFill/>
        </p:spPr>
        <p:txBody>
          <a:bodyPr wrap="square">
            <a:spAutoFit/>
          </a:bodyPr>
          <a:lstStyle/>
          <a:p>
            <a:r>
              <a:rPr lang="en-US" sz="1200" b="0" i="0" dirty="0">
                <a:solidFill>
                  <a:srgbClr val="81766F"/>
                </a:solidFill>
                <a:effectLst/>
                <a:latin typeface="Johnson Text" panose="00000500000000000000" pitchFamily="50" charset="0"/>
              </a:rPr>
              <a:t>Kinematic Alignment (KA) prioritizes restoring the native joint line. The femur is resurfaced first. Next, the tibia is resurfaced. Femoral and tibial resection depths are planned as the implant thickness minus the estimated cartilage and bone wear values.</a:t>
            </a:r>
            <a:endParaRPr lang="en-US" sz="1200" dirty="0"/>
          </a:p>
        </p:txBody>
      </p:sp>
      <p:sp>
        <p:nvSpPr>
          <p:cNvPr id="23" name="Rectangle: Rounded Corners 22">
            <a:extLst>
              <a:ext uri="{FF2B5EF4-FFF2-40B4-BE49-F238E27FC236}">
                <a16:creationId xmlns:a16="http://schemas.microsoft.com/office/drawing/2014/main" id="{D0CE6C7F-FEBC-BA99-F92F-E85EBE7E951E}"/>
              </a:ext>
            </a:extLst>
          </p:cNvPr>
          <p:cNvSpPr/>
          <p:nvPr/>
        </p:nvSpPr>
        <p:spPr>
          <a:xfrm>
            <a:off x="6168570" y="3427656"/>
            <a:ext cx="4652489" cy="2534994"/>
          </a:xfrm>
          <a:prstGeom prst="roundRect">
            <a:avLst>
              <a:gd name="adj" fmla="val 20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F5B90AB-7232-C223-40A7-99EC219592FA}"/>
              </a:ext>
            </a:extLst>
          </p:cNvPr>
          <p:cNvSpPr txBox="1"/>
          <p:nvPr/>
        </p:nvSpPr>
        <p:spPr>
          <a:xfrm>
            <a:off x="1539781" y="3595404"/>
            <a:ext cx="4120789" cy="307777"/>
          </a:xfrm>
          <a:prstGeom prst="rect">
            <a:avLst/>
          </a:prstGeom>
          <a:noFill/>
        </p:spPr>
        <p:txBody>
          <a:bodyPr wrap="square">
            <a:spAutoFit/>
          </a:bodyPr>
          <a:lstStyle/>
          <a:p>
            <a:r>
              <a:rPr lang="en-US" sz="1400" b="0" i="0" dirty="0">
                <a:solidFill>
                  <a:srgbClr val="81766F"/>
                </a:solidFill>
                <a:effectLst/>
                <a:latin typeface="Johnson Text" panose="00000500000000000000" pitchFamily="50" charset="0"/>
              </a:rPr>
              <a:t>Your Approach </a:t>
            </a:r>
            <a:r>
              <a:rPr lang="en-US" sz="1400" dirty="0">
                <a:solidFill>
                  <a:srgbClr val="81766F"/>
                </a:solidFill>
                <a:latin typeface="Johnson Text" panose="00000500000000000000" pitchFamily="50" charset="0"/>
              </a:rPr>
              <a:t>S</a:t>
            </a:r>
            <a:r>
              <a:rPr lang="en-US" sz="1400" b="0" i="0" dirty="0">
                <a:solidFill>
                  <a:srgbClr val="81766F"/>
                </a:solidFill>
                <a:effectLst/>
                <a:latin typeface="Johnson Text" panose="00000500000000000000" pitchFamily="50" charset="0"/>
              </a:rPr>
              <a:t>uggests:</a:t>
            </a:r>
            <a:endParaRPr lang="en-US" sz="1400" dirty="0"/>
          </a:p>
        </p:txBody>
      </p:sp>
      <p:sp>
        <p:nvSpPr>
          <p:cNvPr id="26" name="Rectangle 25">
            <a:extLst>
              <a:ext uri="{FF2B5EF4-FFF2-40B4-BE49-F238E27FC236}">
                <a16:creationId xmlns:a16="http://schemas.microsoft.com/office/drawing/2014/main" id="{7D8C3036-E5B8-446A-4B77-4DD1FD8BB9BF}"/>
              </a:ext>
            </a:extLst>
          </p:cNvPr>
          <p:cNvSpPr/>
          <p:nvPr/>
        </p:nvSpPr>
        <p:spPr>
          <a:xfrm>
            <a:off x="6168570" y="3427656"/>
            <a:ext cx="4629806" cy="253499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a:t>
            </a:r>
          </a:p>
        </p:txBody>
      </p:sp>
      <p:sp>
        <p:nvSpPr>
          <p:cNvPr id="27" name="Rectangle: Rounded Corners 26">
            <a:extLst>
              <a:ext uri="{FF2B5EF4-FFF2-40B4-BE49-F238E27FC236}">
                <a16:creationId xmlns:a16="http://schemas.microsoft.com/office/drawing/2014/main" id="{720641C6-A6B4-0B32-80B8-24537B9055CE}"/>
              </a:ext>
            </a:extLst>
          </p:cNvPr>
          <p:cNvSpPr/>
          <p:nvPr/>
        </p:nvSpPr>
        <p:spPr>
          <a:xfrm>
            <a:off x="1615982" y="5230727"/>
            <a:ext cx="2524218" cy="42207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Johnson Text" panose="00000500000000000000" pitchFamily="50" charset="0"/>
              </a:rPr>
              <a:t>KINEMATIC ALIGNMENT</a:t>
            </a:r>
          </a:p>
        </p:txBody>
      </p:sp>
      <p:sp>
        <p:nvSpPr>
          <p:cNvPr id="28" name="Rectangle: Rounded Corners 27">
            <a:extLst>
              <a:ext uri="{FF2B5EF4-FFF2-40B4-BE49-F238E27FC236}">
                <a16:creationId xmlns:a16="http://schemas.microsoft.com/office/drawing/2014/main" id="{1C07F12A-90E3-3124-6766-60728FD97A32}"/>
              </a:ext>
            </a:extLst>
          </p:cNvPr>
          <p:cNvSpPr/>
          <p:nvPr/>
        </p:nvSpPr>
        <p:spPr>
          <a:xfrm>
            <a:off x="7572282" y="6805527"/>
            <a:ext cx="797018" cy="422077"/>
          </a:xfrm>
          <a:prstGeom prst="roundRect">
            <a:avLst/>
          </a:prstGeom>
          <a:solidFill>
            <a:srgbClr val="9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58C4E4A9-F3B7-265C-E3D4-09573441D751}"/>
              </a:ext>
            </a:extLst>
          </p:cNvPr>
          <p:cNvSpPr/>
          <p:nvPr/>
        </p:nvSpPr>
        <p:spPr>
          <a:xfrm>
            <a:off x="9870982" y="6805527"/>
            <a:ext cx="797018" cy="422077"/>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6DFA7CBA-BDDC-4E45-ACA0-0C69EF7B6768}"/>
              </a:ext>
            </a:extLst>
          </p:cNvPr>
          <p:cNvSpPr/>
          <p:nvPr/>
        </p:nvSpPr>
        <p:spPr>
          <a:xfrm>
            <a:off x="7572282" y="7885027"/>
            <a:ext cx="797018" cy="4220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Rounded Corners 30">
            <a:extLst>
              <a:ext uri="{FF2B5EF4-FFF2-40B4-BE49-F238E27FC236}">
                <a16:creationId xmlns:a16="http://schemas.microsoft.com/office/drawing/2014/main" id="{AF8F674E-BDBC-9000-A33C-E9B62109EFFF}"/>
              </a:ext>
            </a:extLst>
          </p:cNvPr>
          <p:cNvSpPr/>
          <p:nvPr/>
        </p:nvSpPr>
        <p:spPr>
          <a:xfrm>
            <a:off x="9870982" y="7885027"/>
            <a:ext cx="797018" cy="422077"/>
          </a:xfrm>
          <a:prstGeom prst="roundRect">
            <a:avLst/>
          </a:prstGeom>
          <a:solidFill>
            <a:srgbClr val="6E62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Rounded Corners 32">
            <a:extLst>
              <a:ext uri="{FF2B5EF4-FFF2-40B4-BE49-F238E27FC236}">
                <a16:creationId xmlns:a16="http://schemas.microsoft.com/office/drawing/2014/main" id="{B2766213-41FE-A1B5-4F86-869F66FB1DC5}"/>
              </a:ext>
            </a:extLst>
          </p:cNvPr>
          <p:cNvSpPr/>
          <p:nvPr/>
        </p:nvSpPr>
        <p:spPr>
          <a:xfrm>
            <a:off x="1363680" y="2688674"/>
            <a:ext cx="9457379" cy="600626"/>
          </a:xfrm>
          <a:prstGeom prst="roundRect">
            <a:avLst>
              <a:gd name="adj" fmla="val 760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D3920921-4556-CF10-15FA-6E38BAFB0769}"/>
              </a:ext>
            </a:extLst>
          </p:cNvPr>
          <p:cNvSpPr/>
          <p:nvPr/>
        </p:nvSpPr>
        <p:spPr>
          <a:xfrm>
            <a:off x="1590581" y="2675974"/>
            <a:ext cx="9077419" cy="476316"/>
          </a:xfrm>
          <a:prstGeom prst="roundRect">
            <a:avLst>
              <a:gd name="adj" fmla="val 15998"/>
            </a:avLst>
          </a:prstGeom>
          <a:solidFill>
            <a:srgbClr val="38A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Johnson Text" panose="00000500000000000000" pitchFamily="50" charset="0"/>
              </a:rPr>
              <a:t>Assessment completed! Your recommended alignment philosophy has been determined.</a:t>
            </a:r>
          </a:p>
        </p:txBody>
      </p:sp>
      <p:pic>
        <p:nvPicPr>
          <p:cNvPr id="35" name="Graphic 34" descr="Checkmark with solid fill">
            <a:extLst>
              <a:ext uri="{FF2B5EF4-FFF2-40B4-BE49-F238E27FC236}">
                <a16:creationId xmlns:a16="http://schemas.microsoft.com/office/drawing/2014/main" id="{E3965B52-4A97-00D9-AFD5-7D8D880E196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05000" y="2831064"/>
            <a:ext cx="203200" cy="203200"/>
          </a:xfrm>
          <a:prstGeom prst="rect">
            <a:avLst/>
          </a:prstGeom>
        </p:spPr>
      </p:pic>
      <p:sp>
        <p:nvSpPr>
          <p:cNvPr id="37" name="TextBox 36">
            <a:extLst>
              <a:ext uri="{FF2B5EF4-FFF2-40B4-BE49-F238E27FC236}">
                <a16:creationId xmlns:a16="http://schemas.microsoft.com/office/drawing/2014/main" id="{4C8C05D0-F258-A51B-BEE2-E5146B288988}"/>
              </a:ext>
            </a:extLst>
          </p:cNvPr>
          <p:cNvSpPr txBox="1"/>
          <p:nvPr/>
        </p:nvSpPr>
        <p:spPr>
          <a:xfrm>
            <a:off x="323044" y="18350"/>
            <a:ext cx="8850134" cy="646758"/>
          </a:xfrm>
          <a:prstGeom prst="rect">
            <a:avLst/>
          </a:prstGeom>
          <a:solidFill>
            <a:schemeClr val="accent1"/>
          </a:solidFill>
        </p:spPr>
        <p:txBody>
          <a:bodyPr wrap="square" anchor="ctr">
            <a:noAutofit/>
          </a:bodyPr>
          <a:lstStyle/>
          <a:p>
            <a:r>
              <a:rPr lang="en-US" b="0" i="0" dirty="0">
                <a:solidFill>
                  <a:schemeClr val="bg1"/>
                </a:solidFill>
                <a:effectLst/>
                <a:latin typeface="Johnson Display" panose="00000800000000000000" pitchFamily="50" charset="0"/>
              </a:rPr>
              <a:t>               </a:t>
            </a:r>
            <a:r>
              <a:rPr lang="en-US" sz="2400" b="0" i="0" dirty="0">
                <a:solidFill>
                  <a:schemeClr val="bg1"/>
                </a:solidFill>
                <a:effectLst/>
                <a:latin typeface="Johnson Display" panose="00000800000000000000" pitchFamily="50" charset="0"/>
              </a:rPr>
              <a:t>PATHFINDER Kinematic Restoration Conversation Guide</a:t>
            </a:r>
            <a:endParaRPr lang="en-US" dirty="0">
              <a:solidFill>
                <a:schemeClr val="bg1"/>
              </a:solidFill>
              <a:latin typeface="Johnson Display" panose="00000800000000000000" pitchFamily="50" charset="0"/>
            </a:endParaRPr>
          </a:p>
        </p:txBody>
      </p:sp>
      <p:sp>
        <p:nvSpPr>
          <p:cNvPr id="2" name="Rectangle: Rounded Corners 1">
            <a:extLst>
              <a:ext uri="{FF2B5EF4-FFF2-40B4-BE49-F238E27FC236}">
                <a16:creationId xmlns:a16="http://schemas.microsoft.com/office/drawing/2014/main" id="{1C2870D8-014A-CA90-B8D1-948FE5634005}"/>
              </a:ext>
            </a:extLst>
          </p:cNvPr>
          <p:cNvSpPr/>
          <p:nvPr/>
        </p:nvSpPr>
        <p:spPr>
          <a:xfrm>
            <a:off x="9017000" y="1003300"/>
            <a:ext cx="1651000" cy="330200"/>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accent1"/>
                </a:solidFill>
              </a:rPr>
              <a:t>Review Conversation</a:t>
            </a:r>
          </a:p>
        </p:txBody>
      </p:sp>
    </p:spTree>
    <p:extLst>
      <p:ext uri="{BB962C8B-B14F-4D97-AF65-F5344CB8AC3E}">
        <p14:creationId xmlns:p14="http://schemas.microsoft.com/office/powerpoint/2010/main" val="154787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A2068-E34B-4AD5-0C87-2EF598694D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818A714-C2AF-809F-1F60-B8505157D7DF}"/>
              </a:ext>
            </a:extLst>
          </p:cNvPr>
          <p:cNvPicPr>
            <a:picLocks noChangeAspect="1"/>
          </p:cNvPicPr>
          <p:nvPr/>
        </p:nvPicPr>
        <p:blipFill>
          <a:blip r:embed="rId3"/>
          <a:srcRect t="-1" b="10796"/>
          <a:stretch>
            <a:fillRect/>
          </a:stretch>
        </p:blipFill>
        <p:spPr>
          <a:xfrm>
            <a:off x="323044" y="32863"/>
            <a:ext cx="11545911" cy="6059018"/>
          </a:xfrm>
          <a:prstGeom prst="rect">
            <a:avLst/>
          </a:prstGeom>
        </p:spPr>
      </p:pic>
      <p:pic>
        <p:nvPicPr>
          <p:cNvPr id="16" name="Picture 15">
            <a:extLst>
              <a:ext uri="{FF2B5EF4-FFF2-40B4-BE49-F238E27FC236}">
                <a16:creationId xmlns:a16="http://schemas.microsoft.com/office/drawing/2014/main" id="{6700235C-AD63-0480-1674-DEB75CF5AD7D}"/>
              </a:ext>
            </a:extLst>
          </p:cNvPr>
          <p:cNvPicPr>
            <a:picLocks noChangeAspect="1"/>
          </p:cNvPicPr>
          <p:nvPr/>
        </p:nvPicPr>
        <p:blipFill>
          <a:blip r:embed="rId4">
            <a:alphaModFix/>
            <a:extLst>
              <a:ext uri="{28A0092B-C50C-407E-A947-70E740481C1C}">
                <a14:useLocalDpi xmlns:a14="http://schemas.microsoft.com/office/drawing/2010/main" val="0"/>
              </a:ext>
            </a:extLst>
          </a:blip>
          <a:srcRect t="29309" b="220"/>
          <a:stretch>
            <a:fillRect/>
          </a:stretch>
        </p:blipFill>
        <p:spPr>
          <a:xfrm>
            <a:off x="323044" y="679621"/>
            <a:ext cx="11545912" cy="5412260"/>
          </a:xfrm>
          <a:prstGeom prst="rect">
            <a:avLst/>
          </a:prstGeom>
        </p:spPr>
      </p:pic>
      <p:sp>
        <p:nvSpPr>
          <p:cNvPr id="24" name="Rectangle 23">
            <a:extLst>
              <a:ext uri="{FF2B5EF4-FFF2-40B4-BE49-F238E27FC236}">
                <a16:creationId xmlns:a16="http://schemas.microsoft.com/office/drawing/2014/main" id="{09AAB90D-11F0-248B-2197-DEFAA957A9B8}"/>
              </a:ext>
            </a:extLst>
          </p:cNvPr>
          <p:cNvSpPr/>
          <p:nvPr/>
        </p:nvSpPr>
        <p:spPr>
          <a:xfrm>
            <a:off x="323045" y="665108"/>
            <a:ext cx="11545910" cy="5426773"/>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73C48B4B-4A61-EA4C-31A4-2D9F9D7FE75D}"/>
              </a:ext>
            </a:extLst>
          </p:cNvPr>
          <p:cNvSpPr/>
          <p:nvPr/>
        </p:nvSpPr>
        <p:spPr>
          <a:xfrm>
            <a:off x="1370940" y="3427656"/>
            <a:ext cx="4652489" cy="2534994"/>
          </a:xfrm>
          <a:prstGeom prst="roundRect">
            <a:avLst>
              <a:gd name="adj" fmla="val 20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CF8A243-0E13-FAE2-DB30-6BA10BCBAB13}"/>
              </a:ext>
            </a:extLst>
          </p:cNvPr>
          <p:cNvSpPr/>
          <p:nvPr/>
        </p:nvSpPr>
        <p:spPr>
          <a:xfrm>
            <a:off x="4943907" y="6499465"/>
            <a:ext cx="6992756" cy="178420"/>
          </a:xfrm>
          <a:prstGeom prst="rect">
            <a:avLst/>
          </a:prstGeom>
        </p:spPr>
        <p:txBody>
          <a:bodyPr wrap="none" rIns="0">
            <a:noAutofit/>
          </a:bodyPr>
          <a:lstStyle/>
          <a:p>
            <a:pPr marL="0" marR="0" lvl="0" indent="0" algn="r" defTabSz="511175" rtl="0" eaLnBrk="1" fontAlgn="base" latinLnBrk="0" hangingPunct="1">
              <a:lnSpc>
                <a:spcPct val="100000"/>
              </a:lnSpc>
              <a:spcBef>
                <a:spcPct val="50000"/>
              </a:spcBef>
              <a:spcAft>
                <a:spcPct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Johnson Text"/>
                <a:ea typeface="+mn-ea"/>
                <a:cs typeface="+mn-cs"/>
              </a:rPr>
              <a:t> CONFIDENTIAL. FOR INTERNAL USE ONLY. NOT FOR USE WITH ANY CUSTOER OR FOR EXTERNAL DISTRIBUTION. </a:t>
            </a:r>
          </a:p>
        </p:txBody>
      </p:sp>
      <p:sp>
        <p:nvSpPr>
          <p:cNvPr id="13" name="TextBox 12">
            <a:extLst>
              <a:ext uri="{FF2B5EF4-FFF2-40B4-BE49-F238E27FC236}">
                <a16:creationId xmlns:a16="http://schemas.microsoft.com/office/drawing/2014/main" id="{898207B9-587C-6E30-F995-E22B2D386717}"/>
              </a:ext>
            </a:extLst>
          </p:cNvPr>
          <p:cNvSpPr txBox="1"/>
          <p:nvPr/>
        </p:nvSpPr>
        <p:spPr>
          <a:xfrm>
            <a:off x="5771158" y="6339016"/>
            <a:ext cx="6222732" cy="215444"/>
          </a:xfrm>
          <a:prstGeom prst="rect">
            <a:avLst/>
          </a:prstGeom>
          <a:noFill/>
        </p:spPr>
        <p:txBody>
          <a:bodyPr wrap="square">
            <a:spAutoFit/>
          </a:bodyPr>
          <a:lstStyle/>
          <a:p>
            <a:pPr algn="r"/>
            <a:r>
              <a:rPr lang="en-US" sz="800" dirty="0">
                <a:solidFill>
                  <a:srgbClr val="1D1C1D"/>
                </a:solidFill>
                <a:latin typeface="Johnson Text" panose="00000500000000000000" pitchFamily="50" charset="0"/>
              </a:rPr>
              <a:t>© Johnson &amp; Johnson and its affiliates. 2024. All rights reserved.</a:t>
            </a:r>
            <a:endParaRPr lang="en-US" sz="1800" dirty="0">
              <a:solidFill>
                <a:prstClr val="black"/>
              </a:solidFill>
              <a:latin typeface="Microsoft Sans Serif" panose="020B0604020202020204" pitchFamily="34" charset="0"/>
            </a:endParaRPr>
          </a:p>
        </p:txBody>
      </p:sp>
      <p:pic>
        <p:nvPicPr>
          <p:cNvPr id="14" name="Picture 13">
            <a:extLst>
              <a:ext uri="{FF2B5EF4-FFF2-40B4-BE49-F238E27FC236}">
                <a16:creationId xmlns:a16="http://schemas.microsoft.com/office/drawing/2014/main" id="{9ECFC6E9-D833-0CC0-9B16-6BE53D4FE2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7676" y="6401321"/>
            <a:ext cx="1172106" cy="146860"/>
          </a:xfrm>
          <a:prstGeom prst="rect">
            <a:avLst/>
          </a:prstGeom>
        </p:spPr>
      </p:pic>
      <p:pic>
        <p:nvPicPr>
          <p:cNvPr id="3" name="Picture 2">
            <a:extLst>
              <a:ext uri="{FF2B5EF4-FFF2-40B4-BE49-F238E27FC236}">
                <a16:creationId xmlns:a16="http://schemas.microsoft.com/office/drawing/2014/main" id="{AEE639BD-9419-0267-613C-0D927B3584C2}"/>
              </a:ext>
            </a:extLst>
          </p:cNvPr>
          <p:cNvPicPr>
            <a:picLocks noChangeAspect="1"/>
          </p:cNvPicPr>
          <p:nvPr/>
        </p:nvPicPr>
        <p:blipFill>
          <a:blip r:embed="rId6"/>
          <a:stretch>
            <a:fillRect/>
          </a:stretch>
        </p:blipFill>
        <p:spPr>
          <a:xfrm>
            <a:off x="1370940" y="831040"/>
            <a:ext cx="9450119" cy="1857634"/>
          </a:xfrm>
          <a:prstGeom prst="rect">
            <a:avLst/>
          </a:prstGeom>
        </p:spPr>
      </p:pic>
      <p:pic>
        <p:nvPicPr>
          <p:cNvPr id="10" name="Picture 9">
            <a:extLst>
              <a:ext uri="{FF2B5EF4-FFF2-40B4-BE49-F238E27FC236}">
                <a16:creationId xmlns:a16="http://schemas.microsoft.com/office/drawing/2014/main" id="{DF846B49-0409-DD6B-0BBF-ECB292101E6B}"/>
              </a:ext>
            </a:extLst>
          </p:cNvPr>
          <p:cNvPicPr>
            <a:picLocks noChangeAspect="1"/>
          </p:cNvPicPr>
          <p:nvPr/>
        </p:nvPicPr>
        <p:blipFill>
          <a:blip r:embed="rId7"/>
          <a:stretch>
            <a:fillRect/>
          </a:stretch>
        </p:blipFill>
        <p:spPr>
          <a:xfrm>
            <a:off x="1374570" y="2688674"/>
            <a:ext cx="9450119" cy="476316"/>
          </a:xfrm>
          <a:prstGeom prst="rect">
            <a:avLst/>
          </a:prstGeom>
        </p:spPr>
      </p:pic>
      <p:pic>
        <p:nvPicPr>
          <p:cNvPr id="18" name="Picture 17">
            <a:extLst>
              <a:ext uri="{FF2B5EF4-FFF2-40B4-BE49-F238E27FC236}">
                <a16:creationId xmlns:a16="http://schemas.microsoft.com/office/drawing/2014/main" id="{D99FAA8F-C942-E5C2-8C24-15454CD88B87}"/>
              </a:ext>
            </a:extLst>
          </p:cNvPr>
          <p:cNvPicPr>
            <a:picLocks noChangeAspect="1"/>
          </p:cNvPicPr>
          <p:nvPr/>
        </p:nvPicPr>
        <p:blipFill>
          <a:blip r:embed="rId8"/>
          <a:stretch>
            <a:fillRect/>
          </a:stretch>
        </p:blipFill>
        <p:spPr>
          <a:xfrm>
            <a:off x="1367310" y="6091881"/>
            <a:ext cx="9431066" cy="4582164"/>
          </a:xfrm>
          <a:prstGeom prst="rect">
            <a:avLst/>
          </a:prstGeom>
        </p:spPr>
      </p:pic>
      <p:sp>
        <p:nvSpPr>
          <p:cNvPr id="21" name="TextBox 20">
            <a:extLst>
              <a:ext uri="{FF2B5EF4-FFF2-40B4-BE49-F238E27FC236}">
                <a16:creationId xmlns:a16="http://schemas.microsoft.com/office/drawing/2014/main" id="{36FCE000-8D0B-25F1-0483-FD3BDAA12271}"/>
              </a:ext>
            </a:extLst>
          </p:cNvPr>
          <p:cNvSpPr txBox="1"/>
          <p:nvPr/>
        </p:nvSpPr>
        <p:spPr>
          <a:xfrm>
            <a:off x="1539781" y="4017481"/>
            <a:ext cx="4120789" cy="1015663"/>
          </a:xfrm>
          <a:prstGeom prst="rect">
            <a:avLst/>
          </a:prstGeom>
          <a:noFill/>
        </p:spPr>
        <p:txBody>
          <a:bodyPr wrap="square">
            <a:spAutoFit/>
          </a:bodyPr>
          <a:lstStyle/>
          <a:p>
            <a:r>
              <a:rPr lang="en-US" sz="1200" b="0" i="0" dirty="0">
                <a:solidFill>
                  <a:srgbClr val="81766F"/>
                </a:solidFill>
                <a:effectLst/>
                <a:latin typeface="Johnson Text" panose="00000500000000000000" pitchFamily="50" charset="0"/>
              </a:rPr>
              <a:t>Kinematic Alignment (KA) prioritizes restoring the native joint line. The femur is resurfaced first. Next, the tibia is resurfaced. Femoral and tibial resection depths are planned as the implant thickness minus the estimated cartilage and bone wear values.</a:t>
            </a:r>
            <a:endParaRPr lang="en-US" sz="1200" dirty="0"/>
          </a:p>
        </p:txBody>
      </p:sp>
      <p:sp>
        <p:nvSpPr>
          <p:cNvPr id="23" name="Rectangle: Rounded Corners 22">
            <a:extLst>
              <a:ext uri="{FF2B5EF4-FFF2-40B4-BE49-F238E27FC236}">
                <a16:creationId xmlns:a16="http://schemas.microsoft.com/office/drawing/2014/main" id="{3543FAFC-B9C5-D17D-C119-5134855F0CF2}"/>
              </a:ext>
            </a:extLst>
          </p:cNvPr>
          <p:cNvSpPr/>
          <p:nvPr/>
        </p:nvSpPr>
        <p:spPr>
          <a:xfrm>
            <a:off x="6168570" y="3427656"/>
            <a:ext cx="4652489" cy="2534994"/>
          </a:xfrm>
          <a:prstGeom prst="roundRect">
            <a:avLst>
              <a:gd name="adj" fmla="val 20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D84B5DC-A505-4EDF-DC63-113AEF76738C}"/>
              </a:ext>
            </a:extLst>
          </p:cNvPr>
          <p:cNvSpPr txBox="1"/>
          <p:nvPr/>
        </p:nvSpPr>
        <p:spPr>
          <a:xfrm>
            <a:off x="1539781" y="3595404"/>
            <a:ext cx="4120789" cy="307777"/>
          </a:xfrm>
          <a:prstGeom prst="rect">
            <a:avLst/>
          </a:prstGeom>
          <a:noFill/>
        </p:spPr>
        <p:txBody>
          <a:bodyPr wrap="square">
            <a:spAutoFit/>
          </a:bodyPr>
          <a:lstStyle/>
          <a:p>
            <a:r>
              <a:rPr lang="en-US" sz="1400" b="0" i="0" dirty="0">
                <a:solidFill>
                  <a:srgbClr val="81766F"/>
                </a:solidFill>
                <a:effectLst/>
                <a:latin typeface="Johnson Text" panose="00000500000000000000" pitchFamily="50" charset="0"/>
              </a:rPr>
              <a:t>Your Approach </a:t>
            </a:r>
            <a:r>
              <a:rPr lang="en-US" sz="1400" dirty="0">
                <a:solidFill>
                  <a:srgbClr val="81766F"/>
                </a:solidFill>
                <a:latin typeface="Johnson Text" panose="00000500000000000000" pitchFamily="50" charset="0"/>
              </a:rPr>
              <a:t>S</a:t>
            </a:r>
            <a:r>
              <a:rPr lang="en-US" sz="1400" b="0" i="0" dirty="0">
                <a:solidFill>
                  <a:srgbClr val="81766F"/>
                </a:solidFill>
                <a:effectLst/>
                <a:latin typeface="Johnson Text" panose="00000500000000000000" pitchFamily="50" charset="0"/>
              </a:rPr>
              <a:t>uggests:</a:t>
            </a:r>
            <a:endParaRPr lang="en-US" sz="1400" dirty="0"/>
          </a:p>
        </p:txBody>
      </p:sp>
      <p:sp>
        <p:nvSpPr>
          <p:cNvPr id="26" name="Rectangle 25">
            <a:extLst>
              <a:ext uri="{FF2B5EF4-FFF2-40B4-BE49-F238E27FC236}">
                <a16:creationId xmlns:a16="http://schemas.microsoft.com/office/drawing/2014/main" id="{AA0FAD8A-CEA7-5A06-8616-0617E200ED9C}"/>
              </a:ext>
            </a:extLst>
          </p:cNvPr>
          <p:cNvSpPr/>
          <p:nvPr/>
        </p:nvSpPr>
        <p:spPr>
          <a:xfrm>
            <a:off x="6168570" y="3427656"/>
            <a:ext cx="4629806" cy="253499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a:t>
            </a:r>
          </a:p>
        </p:txBody>
      </p:sp>
      <p:sp>
        <p:nvSpPr>
          <p:cNvPr id="27" name="Rectangle: Rounded Corners 26">
            <a:extLst>
              <a:ext uri="{FF2B5EF4-FFF2-40B4-BE49-F238E27FC236}">
                <a16:creationId xmlns:a16="http://schemas.microsoft.com/office/drawing/2014/main" id="{BEC6387D-9050-A546-54F3-935BA7408EBA}"/>
              </a:ext>
            </a:extLst>
          </p:cNvPr>
          <p:cNvSpPr/>
          <p:nvPr/>
        </p:nvSpPr>
        <p:spPr>
          <a:xfrm>
            <a:off x="1615982" y="5230727"/>
            <a:ext cx="2524218" cy="42207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Johnson Text" panose="00000500000000000000" pitchFamily="50" charset="0"/>
              </a:rPr>
              <a:t>KINEMATIC ALIGNMENT</a:t>
            </a:r>
          </a:p>
        </p:txBody>
      </p:sp>
      <p:sp>
        <p:nvSpPr>
          <p:cNvPr id="28" name="Rectangle: Rounded Corners 27">
            <a:extLst>
              <a:ext uri="{FF2B5EF4-FFF2-40B4-BE49-F238E27FC236}">
                <a16:creationId xmlns:a16="http://schemas.microsoft.com/office/drawing/2014/main" id="{2E3CE6CF-5DBB-171B-AD8C-BEEC22151AF6}"/>
              </a:ext>
            </a:extLst>
          </p:cNvPr>
          <p:cNvSpPr/>
          <p:nvPr/>
        </p:nvSpPr>
        <p:spPr>
          <a:xfrm>
            <a:off x="7572282" y="6805527"/>
            <a:ext cx="797018" cy="422077"/>
          </a:xfrm>
          <a:prstGeom prst="roundRect">
            <a:avLst/>
          </a:prstGeom>
          <a:solidFill>
            <a:srgbClr val="9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C4C4FFA8-2889-DF82-8E54-FCBA17159F63}"/>
              </a:ext>
            </a:extLst>
          </p:cNvPr>
          <p:cNvSpPr/>
          <p:nvPr/>
        </p:nvSpPr>
        <p:spPr>
          <a:xfrm>
            <a:off x="9870982" y="6805527"/>
            <a:ext cx="797018" cy="422077"/>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015DE344-8F09-8000-AADF-FBEA8E80A452}"/>
              </a:ext>
            </a:extLst>
          </p:cNvPr>
          <p:cNvSpPr/>
          <p:nvPr/>
        </p:nvSpPr>
        <p:spPr>
          <a:xfrm>
            <a:off x="7572282" y="7885027"/>
            <a:ext cx="797018" cy="4220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Rounded Corners 30">
            <a:extLst>
              <a:ext uri="{FF2B5EF4-FFF2-40B4-BE49-F238E27FC236}">
                <a16:creationId xmlns:a16="http://schemas.microsoft.com/office/drawing/2014/main" id="{0D67A9E6-A609-4ED4-FAD0-A3973DF7B0BC}"/>
              </a:ext>
            </a:extLst>
          </p:cNvPr>
          <p:cNvSpPr/>
          <p:nvPr/>
        </p:nvSpPr>
        <p:spPr>
          <a:xfrm>
            <a:off x="9870982" y="7885027"/>
            <a:ext cx="797018" cy="422077"/>
          </a:xfrm>
          <a:prstGeom prst="roundRect">
            <a:avLst/>
          </a:prstGeom>
          <a:solidFill>
            <a:srgbClr val="6E62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Rounded Corners 32">
            <a:extLst>
              <a:ext uri="{FF2B5EF4-FFF2-40B4-BE49-F238E27FC236}">
                <a16:creationId xmlns:a16="http://schemas.microsoft.com/office/drawing/2014/main" id="{9C26C542-D5F9-BCB4-3658-97FCF97B3D4D}"/>
              </a:ext>
            </a:extLst>
          </p:cNvPr>
          <p:cNvSpPr/>
          <p:nvPr/>
        </p:nvSpPr>
        <p:spPr>
          <a:xfrm>
            <a:off x="1363680" y="2688674"/>
            <a:ext cx="9457379" cy="600626"/>
          </a:xfrm>
          <a:prstGeom prst="roundRect">
            <a:avLst>
              <a:gd name="adj" fmla="val 760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7B8E214D-4EE5-45A2-DC15-D8940460B6F6}"/>
              </a:ext>
            </a:extLst>
          </p:cNvPr>
          <p:cNvSpPr/>
          <p:nvPr/>
        </p:nvSpPr>
        <p:spPr>
          <a:xfrm>
            <a:off x="1590581" y="2675974"/>
            <a:ext cx="9077419" cy="476316"/>
          </a:xfrm>
          <a:prstGeom prst="roundRect">
            <a:avLst>
              <a:gd name="adj" fmla="val 15998"/>
            </a:avLst>
          </a:prstGeom>
          <a:solidFill>
            <a:srgbClr val="38A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atin typeface="Johnson Text" panose="00000500000000000000" pitchFamily="50" charset="0"/>
              </a:rPr>
              <a:t>Assessment completed! Your recommended alignment philosophy has been determined.</a:t>
            </a:r>
          </a:p>
        </p:txBody>
      </p:sp>
      <p:pic>
        <p:nvPicPr>
          <p:cNvPr id="35" name="Graphic 34" descr="Checkmark with solid fill">
            <a:extLst>
              <a:ext uri="{FF2B5EF4-FFF2-40B4-BE49-F238E27FC236}">
                <a16:creationId xmlns:a16="http://schemas.microsoft.com/office/drawing/2014/main" id="{F95AA38F-D098-6507-C204-4520E2EA6C8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05000" y="2831064"/>
            <a:ext cx="203200" cy="203200"/>
          </a:xfrm>
          <a:prstGeom prst="rect">
            <a:avLst/>
          </a:prstGeom>
        </p:spPr>
      </p:pic>
      <p:sp>
        <p:nvSpPr>
          <p:cNvPr id="37" name="TextBox 36">
            <a:extLst>
              <a:ext uri="{FF2B5EF4-FFF2-40B4-BE49-F238E27FC236}">
                <a16:creationId xmlns:a16="http://schemas.microsoft.com/office/drawing/2014/main" id="{C6321E5B-CC8C-AA73-F114-294EA82EBD33}"/>
              </a:ext>
            </a:extLst>
          </p:cNvPr>
          <p:cNvSpPr txBox="1"/>
          <p:nvPr/>
        </p:nvSpPr>
        <p:spPr>
          <a:xfrm>
            <a:off x="323044" y="18350"/>
            <a:ext cx="8850134" cy="646758"/>
          </a:xfrm>
          <a:prstGeom prst="rect">
            <a:avLst/>
          </a:prstGeom>
          <a:solidFill>
            <a:schemeClr val="accent1"/>
          </a:solidFill>
        </p:spPr>
        <p:txBody>
          <a:bodyPr wrap="square" anchor="ctr">
            <a:noAutofit/>
          </a:bodyPr>
          <a:lstStyle/>
          <a:p>
            <a:r>
              <a:rPr lang="en-US" b="0" i="0" dirty="0">
                <a:solidFill>
                  <a:schemeClr val="bg1"/>
                </a:solidFill>
                <a:effectLst/>
                <a:latin typeface="Johnson Display" panose="00000800000000000000" pitchFamily="50" charset="0"/>
              </a:rPr>
              <a:t>               </a:t>
            </a:r>
            <a:r>
              <a:rPr lang="en-US" sz="2400" b="0" i="0" dirty="0">
                <a:solidFill>
                  <a:schemeClr val="bg1"/>
                </a:solidFill>
                <a:effectLst/>
                <a:latin typeface="Johnson Display" panose="00000800000000000000" pitchFamily="50" charset="0"/>
              </a:rPr>
              <a:t>PATHFINDER Kinematic Restoration Conversation Guide</a:t>
            </a:r>
            <a:endParaRPr lang="en-US" dirty="0">
              <a:solidFill>
                <a:schemeClr val="bg1"/>
              </a:solidFill>
              <a:latin typeface="Johnson Display" panose="00000800000000000000" pitchFamily="50" charset="0"/>
            </a:endParaRPr>
          </a:p>
        </p:txBody>
      </p:sp>
      <p:sp>
        <p:nvSpPr>
          <p:cNvPr id="2" name="Rectangle: Rounded Corners 1">
            <a:extLst>
              <a:ext uri="{FF2B5EF4-FFF2-40B4-BE49-F238E27FC236}">
                <a16:creationId xmlns:a16="http://schemas.microsoft.com/office/drawing/2014/main" id="{14BD838C-099F-85C0-0F96-7F4850F897F6}"/>
              </a:ext>
            </a:extLst>
          </p:cNvPr>
          <p:cNvSpPr/>
          <p:nvPr/>
        </p:nvSpPr>
        <p:spPr>
          <a:xfrm>
            <a:off x="9017000" y="1003300"/>
            <a:ext cx="1651000" cy="330200"/>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accent1"/>
                </a:solidFill>
              </a:rPr>
              <a:t>Review Conversation</a:t>
            </a:r>
          </a:p>
        </p:txBody>
      </p:sp>
      <p:pic>
        <p:nvPicPr>
          <p:cNvPr id="6" name="Picture 5">
            <a:extLst>
              <a:ext uri="{FF2B5EF4-FFF2-40B4-BE49-F238E27FC236}">
                <a16:creationId xmlns:a16="http://schemas.microsoft.com/office/drawing/2014/main" id="{2188752E-1491-C825-D3A5-B46EAE06106C}"/>
              </a:ext>
            </a:extLst>
          </p:cNvPr>
          <p:cNvPicPr>
            <a:picLocks noChangeAspect="1"/>
          </p:cNvPicPr>
          <p:nvPr/>
        </p:nvPicPr>
        <p:blipFill>
          <a:blip r:embed="rId11"/>
          <a:stretch>
            <a:fillRect/>
          </a:stretch>
        </p:blipFill>
        <p:spPr>
          <a:xfrm>
            <a:off x="3439276" y="652681"/>
            <a:ext cx="5458587" cy="4763165"/>
          </a:xfrm>
          <a:prstGeom prst="rect">
            <a:avLst/>
          </a:prstGeom>
        </p:spPr>
      </p:pic>
      <p:sp>
        <p:nvSpPr>
          <p:cNvPr id="7" name="TextBox 6">
            <a:extLst>
              <a:ext uri="{FF2B5EF4-FFF2-40B4-BE49-F238E27FC236}">
                <a16:creationId xmlns:a16="http://schemas.microsoft.com/office/drawing/2014/main" id="{F8EC5EEC-F092-2C83-5F64-536A295AD0ED}"/>
              </a:ext>
            </a:extLst>
          </p:cNvPr>
          <p:cNvSpPr txBox="1"/>
          <p:nvPr/>
        </p:nvSpPr>
        <p:spPr>
          <a:xfrm>
            <a:off x="3606800" y="831040"/>
            <a:ext cx="4267200" cy="369332"/>
          </a:xfrm>
          <a:prstGeom prst="rect">
            <a:avLst/>
          </a:prstGeom>
          <a:solidFill>
            <a:schemeClr val="bg1"/>
          </a:solidFill>
        </p:spPr>
        <p:txBody>
          <a:bodyPr wrap="square" rtlCol="0">
            <a:spAutoFit/>
          </a:bodyPr>
          <a:lstStyle/>
          <a:p>
            <a:r>
              <a:rPr lang="en-US" dirty="0">
                <a:latin typeface="Johnson Text" panose="00000500000000000000" pitchFamily="50" charset="0"/>
              </a:rPr>
              <a:t>Review Conversation with Asas</a:t>
            </a:r>
          </a:p>
        </p:txBody>
      </p:sp>
      <p:sp>
        <p:nvSpPr>
          <p:cNvPr id="9" name="Rectangle 8">
            <a:extLst>
              <a:ext uri="{FF2B5EF4-FFF2-40B4-BE49-F238E27FC236}">
                <a16:creationId xmlns:a16="http://schemas.microsoft.com/office/drawing/2014/main" id="{0E8F2060-375D-666F-16E5-DCD9D47B69A8}"/>
              </a:ext>
            </a:extLst>
          </p:cNvPr>
          <p:cNvSpPr/>
          <p:nvPr/>
        </p:nvSpPr>
        <p:spPr>
          <a:xfrm>
            <a:off x="3531806" y="1200372"/>
            <a:ext cx="5458587" cy="77404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90A78B8-D9A7-C8EB-E1EA-FAEC1E2BDA6E}"/>
              </a:ext>
            </a:extLst>
          </p:cNvPr>
          <p:cNvSpPr txBox="1"/>
          <p:nvPr/>
        </p:nvSpPr>
        <p:spPr>
          <a:xfrm>
            <a:off x="3606800" y="1308100"/>
            <a:ext cx="5003800" cy="4616648"/>
          </a:xfrm>
          <a:prstGeom prst="rect">
            <a:avLst/>
          </a:prstGeom>
          <a:noFill/>
        </p:spPr>
        <p:txBody>
          <a:bodyPr wrap="square" rtlCol="0">
            <a:spAutoFit/>
          </a:bodyPr>
          <a:lstStyle/>
          <a:p>
            <a:pPr marL="342900" indent="-342900">
              <a:buAutoNum type="arabicPeriod"/>
            </a:pPr>
            <a:r>
              <a:rPr lang="en-US" sz="1400" dirty="0"/>
              <a:t>Are you willing to deviate from mechanical axis (0 HKA)?</a:t>
            </a:r>
            <a:br>
              <a:rPr lang="en-US" sz="1400" dirty="0"/>
            </a:br>
            <a:r>
              <a:rPr lang="en-US" sz="1400" dirty="0">
                <a:solidFill>
                  <a:schemeClr val="accent1"/>
                </a:solidFill>
              </a:rPr>
              <a:t>Yes</a:t>
            </a:r>
          </a:p>
          <a:p>
            <a:pPr marL="342900" indent="-342900">
              <a:buAutoNum type="arabicPeriod"/>
            </a:pPr>
            <a:endParaRPr lang="en-US" sz="1400" dirty="0"/>
          </a:p>
          <a:p>
            <a:pPr marL="342900" indent="-342900">
              <a:buAutoNum type="arabicPeriod"/>
            </a:pPr>
            <a:r>
              <a:rPr lang="en-US" sz="1400" dirty="0"/>
              <a:t>What is your primary goal….</a:t>
            </a:r>
            <a:br>
              <a:rPr lang="en-US" sz="1400" dirty="0">
                <a:solidFill>
                  <a:schemeClr val="accent1"/>
                </a:solidFill>
              </a:rPr>
            </a:br>
            <a:r>
              <a:rPr lang="en-US" sz="1400" dirty="0">
                <a:solidFill>
                  <a:schemeClr val="accent1"/>
                </a:solidFill>
              </a:rPr>
              <a:t>Answer</a:t>
            </a:r>
            <a:br>
              <a:rPr lang="en-US" sz="1400" dirty="0">
                <a:solidFill>
                  <a:schemeClr val="accent1"/>
                </a:solidFill>
              </a:rPr>
            </a:br>
            <a:endParaRPr lang="en-US" sz="1400" dirty="0">
              <a:solidFill>
                <a:schemeClr val="accent1"/>
              </a:solidFill>
            </a:endParaRPr>
          </a:p>
          <a:p>
            <a:pPr marL="342900" indent="-342900">
              <a:buAutoNum type="arabicPeriod"/>
            </a:pPr>
            <a:r>
              <a:rPr lang="en-US" sz="1400" dirty="0"/>
              <a:t>Question</a:t>
            </a:r>
            <a:br>
              <a:rPr lang="en-US" sz="1400" dirty="0"/>
            </a:br>
            <a:r>
              <a:rPr lang="en-US" sz="1400" dirty="0">
                <a:solidFill>
                  <a:schemeClr val="accent1"/>
                </a:solidFill>
              </a:rPr>
              <a:t>Yes</a:t>
            </a:r>
          </a:p>
          <a:p>
            <a:pPr marL="342900" indent="-342900">
              <a:buAutoNum type="arabicPeriod"/>
            </a:pPr>
            <a:endParaRPr lang="en-US" sz="1400" dirty="0"/>
          </a:p>
          <a:p>
            <a:pPr marL="342900" indent="-342900">
              <a:buAutoNum type="arabicPeriod"/>
            </a:pPr>
            <a:r>
              <a:rPr lang="en-US" sz="1400" dirty="0"/>
              <a:t>Question</a:t>
            </a:r>
            <a:br>
              <a:rPr lang="en-US" sz="1400" dirty="0">
                <a:solidFill>
                  <a:schemeClr val="accent1"/>
                </a:solidFill>
              </a:rPr>
            </a:br>
            <a:r>
              <a:rPr lang="en-US" sz="1400" dirty="0">
                <a:solidFill>
                  <a:schemeClr val="accent1"/>
                </a:solidFill>
              </a:rPr>
              <a:t>Answer</a:t>
            </a:r>
            <a:br>
              <a:rPr lang="en-US" sz="1400" dirty="0">
                <a:solidFill>
                  <a:schemeClr val="accent1"/>
                </a:solidFill>
              </a:rPr>
            </a:br>
            <a:endParaRPr lang="en-US" sz="1400" dirty="0">
              <a:solidFill>
                <a:schemeClr val="accent1"/>
              </a:solidFill>
            </a:endParaRPr>
          </a:p>
          <a:p>
            <a:pPr marL="342900" indent="-342900">
              <a:buAutoNum type="arabicPeriod"/>
            </a:pPr>
            <a:r>
              <a:rPr lang="en-US" sz="1400" dirty="0"/>
              <a:t>Question</a:t>
            </a:r>
            <a:br>
              <a:rPr lang="en-US" sz="1400" dirty="0"/>
            </a:br>
            <a:r>
              <a:rPr lang="en-US" sz="1400" dirty="0">
                <a:solidFill>
                  <a:schemeClr val="accent1"/>
                </a:solidFill>
              </a:rPr>
              <a:t>Yes</a:t>
            </a:r>
          </a:p>
          <a:p>
            <a:pPr marL="342900" indent="-342900">
              <a:buAutoNum type="arabicPeriod"/>
            </a:pPr>
            <a:endParaRPr lang="en-US" sz="1400" dirty="0"/>
          </a:p>
          <a:p>
            <a:pPr marL="342900" indent="-342900">
              <a:buAutoNum type="arabicPeriod"/>
            </a:pPr>
            <a:r>
              <a:rPr lang="en-US" sz="1400" dirty="0"/>
              <a:t>Question</a:t>
            </a:r>
            <a:br>
              <a:rPr lang="en-US" sz="1400" dirty="0">
                <a:solidFill>
                  <a:schemeClr val="accent1"/>
                </a:solidFill>
              </a:rPr>
            </a:br>
            <a:r>
              <a:rPr lang="en-US" sz="1400" dirty="0">
                <a:solidFill>
                  <a:schemeClr val="accent1"/>
                </a:solidFill>
              </a:rPr>
              <a:t>Answer</a:t>
            </a:r>
          </a:p>
          <a:p>
            <a:pPr marL="342900" indent="-342900">
              <a:buAutoNum type="arabicPeriod"/>
            </a:pPr>
            <a:endParaRPr lang="en-US" sz="1400" dirty="0">
              <a:solidFill>
                <a:schemeClr val="accent1"/>
              </a:solidFill>
            </a:endParaRPr>
          </a:p>
          <a:p>
            <a:endParaRPr lang="en-US" sz="1400" dirty="0">
              <a:solidFill>
                <a:schemeClr val="accent1"/>
              </a:solidFill>
            </a:endParaRPr>
          </a:p>
          <a:p>
            <a:br>
              <a:rPr lang="en-US" sz="1400" dirty="0">
                <a:solidFill>
                  <a:schemeClr val="accent1"/>
                </a:solidFill>
              </a:rPr>
            </a:br>
            <a:endParaRPr lang="en-US" sz="1400" dirty="0">
              <a:solidFill>
                <a:schemeClr val="accent1"/>
              </a:solidFill>
            </a:endParaRPr>
          </a:p>
        </p:txBody>
      </p:sp>
      <p:pic>
        <p:nvPicPr>
          <p:cNvPr id="8" name="Picture 7">
            <a:extLst>
              <a:ext uri="{FF2B5EF4-FFF2-40B4-BE49-F238E27FC236}">
                <a16:creationId xmlns:a16="http://schemas.microsoft.com/office/drawing/2014/main" id="{9079F955-B79B-D31D-DEAB-952FEA56C14F}"/>
              </a:ext>
            </a:extLst>
          </p:cNvPr>
          <p:cNvPicPr>
            <a:picLocks noChangeAspect="1"/>
          </p:cNvPicPr>
          <p:nvPr/>
        </p:nvPicPr>
        <p:blipFill>
          <a:blip r:embed="rId11"/>
          <a:srcRect t="3887"/>
          <a:stretch>
            <a:fillRect/>
          </a:stretch>
        </p:blipFill>
        <p:spPr>
          <a:xfrm>
            <a:off x="3439276" y="5415846"/>
            <a:ext cx="5458587" cy="4578046"/>
          </a:xfrm>
          <a:prstGeom prst="rect">
            <a:avLst/>
          </a:prstGeom>
        </p:spPr>
      </p:pic>
      <p:sp>
        <p:nvSpPr>
          <p:cNvPr id="39" name="TextBox 38">
            <a:extLst>
              <a:ext uri="{FF2B5EF4-FFF2-40B4-BE49-F238E27FC236}">
                <a16:creationId xmlns:a16="http://schemas.microsoft.com/office/drawing/2014/main" id="{68F2FC4D-2E60-DF33-7309-F7AE3489AD10}"/>
              </a:ext>
            </a:extLst>
          </p:cNvPr>
          <p:cNvSpPr txBox="1"/>
          <p:nvPr/>
        </p:nvSpPr>
        <p:spPr>
          <a:xfrm>
            <a:off x="3606800" y="5415846"/>
            <a:ext cx="5152887" cy="369332"/>
          </a:xfrm>
          <a:prstGeom prst="rect">
            <a:avLst/>
          </a:prstGeom>
          <a:solidFill>
            <a:schemeClr val="bg1"/>
          </a:solidFill>
        </p:spPr>
        <p:txBody>
          <a:bodyPr wrap="square" rtlCol="0">
            <a:spAutoFit/>
          </a:bodyPr>
          <a:lstStyle/>
          <a:p>
            <a:r>
              <a:rPr lang="en-US" dirty="0">
                <a:latin typeface="Johnson Text" panose="00000500000000000000" pitchFamily="50" charset="0"/>
              </a:rPr>
              <a:t>Add additional notes about the conversation.</a:t>
            </a:r>
          </a:p>
        </p:txBody>
      </p:sp>
    </p:spTree>
    <p:extLst>
      <p:ext uri="{BB962C8B-B14F-4D97-AF65-F5344CB8AC3E}">
        <p14:creationId xmlns:p14="http://schemas.microsoft.com/office/powerpoint/2010/main" val="2238589529"/>
      </p:ext>
    </p:extLst>
  </p:cSld>
  <p:clrMapOvr>
    <a:masterClrMapping/>
  </p:clrMapOvr>
</p:sld>
</file>

<file path=ppt/theme/theme1.xml><?xml version="1.0" encoding="utf-8"?>
<a:theme xmlns:a="http://schemas.openxmlformats.org/drawingml/2006/main" name="Office Theme">
  <a:themeElements>
    <a:clrScheme name="J&amp;J Branding">
      <a:dk1>
        <a:srgbClr val="000000"/>
      </a:dk1>
      <a:lt1>
        <a:srgbClr val="FFFFFF"/>
      </a:lt1>
      <a:dk2>
        <a:srgbClr val="F9F7F6"/>
      </a:dk2>
      <a:lt2>
        <a:srgbClr val="564C47"/>
      </a:lt2>
      <a:accent1>
        <a:srgbClr val="EB1700"/>
      </a:accent1>
      <a:accent2>
        <a:srgbClr val="000000"/>
      </a:accent2>
      <a:accent3>
        <a:srgbClr val="C1BBB3"/>
      </a:accent3>
      <a:accent4>
        <a:srgbClr val="004685"/>
      </a:accent4>
      <a:accent5>
        <a:srgbClr val="69D0FF"/>
      </a:accent5>
      <a:accent6>
        <a:srgbClr val="541980"/>
      </a:accent6>
      <a:hlink>
        <a:srgbClr val="000000"/>
      </a:hlink>
      <a:folHlink>
        <a:srgbClr val="000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5085</TotalTime>
  <Words>1123</Words>
  <Application>Microsoft Office PowerPoint</Application>
  <PresentationFormat>Widescreen</PresentationFormat>
  <Paragraphs>93</Paragraphs>
  <Slides>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Aptos</vt:lpstr>
      <vt:lpstr>Aptos Display</vt:lpstr>
      <vt:lpstr>Arial</vt:lpstr>
      <vt:lpstr>Courier New</vt:lpstr>
      <vt:lpstr>Johnson Display</vt:lpstr>
      <vt:lpstr>Johnson Text</vt:lpstr>
      <vt:lpstr>Microsoft Sans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Julie Apley</dc:creator>
  <cp:lastModifiedBy>Julie Apley</cp:lastModifiedBy>
  <cp:revision>8</cp:revision>
  <dcterms:created xsi:type="dcterms:W3CDTF">2025-07-21T01:02:13Z</dcterms:created>
  <dcterms:modified xsi:type="dcterms:W3CDTF">2025-07-24T13:48:01Z</dcterms:modified>
</cp:coreProperties>
</file>